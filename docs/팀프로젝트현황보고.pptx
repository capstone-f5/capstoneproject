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x="18288000" cy="10287000"/>
  <p:notesSz cx="6858000" cy="9144000"/>
  <p:embeddedFontLst>
    <p:embeddedFont>
      <p:font typeface="네모고딕" charset="1" panose="020B0500000000000000"/>
      <p:regular r:id="rId42"/>
    </p:embeddedFont>
    <p:embeddedFont>
      <p:font typeface="Poppins" charset="1" panose="00000500000000000000"/>
      <p:regular r:id="rId43"/>
    </p:embeddedFont>
    <p:embeddedFont>
      <p:font typeface="네모고딕 Medium" charset="1" panose="020B0500000000000000"/>
      <p:regular r:id="rId44"/>
    </p:embeddedFont>
    <p:embeddedFont>
      <p:font typeface="Poppins Semi-Bold" charset="1" panose="00000700000000000000"/>
      <p:regular r:id="rId45"/>
    </p:embeddedFont>
    <p:embeddedFont>
      <p:font typeface="Poppins Medium" charset="1" panose="00000600000000000000"/>
      <p:regular r:id="rId46"/>
    </p:embeddedFont>
    <p:embeddedFont>
      <p:font typeface="Poppins Bold" charset="1" panose="00000800000000000000"/>
      <p:regular r:id="rId4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1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2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2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25.pn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jpeg" Type="http://schemas.openxmlformats.org/officeDocument/2006/relationships/image"/><Relationship Id="rId11" Target="../media/VAHUOJCg40s.mp4" Type="http://schemas.openxmlformats.org/officeDocument/2006/relationships/video"/><Relationship Id="rId12" Target="../media/VAHUOJCg40s.mp4" Type="http://schemas.microsoft.com/office/2007/relationships/media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29.jpeg" Type="http://schemas.openxmlformats.org/officeDocument/2006/relationships/image"/><Relationship Id="rId8" Target="../media/VAHUOIA_-sw.mp4" Type="http://schemas.openxmlformats.org/officeDocument/2006/relationships/video"/><Relationship Id="rId9" Target="../media/VAHUOIA_-sw.mp4" Type="http://schemas.microsoft.com/office/2007/relationships/media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31.jpeg" Type="http://schemas.openxmlformats.org/officeDocument/2006/relationships/image"/><Relationship Id="rId8" Target="../media/VAHUOGAQt4M.mp4" Type="http://schemas.openxmlformats.org/officeDocument/2006/relationships/video"/><Relationship Id="rId9" Target="../media/VAHUOGAQt4M.mp4" Type="http://schemas.microsoft.com/office/2007/relationships/media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35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png" Type="http://schemas.openxmlformats.org/officeDocument/2006/relationships/image"/><Relationship Id="rId11" Target="../media/image45.png" Type="http://schemas.openxmlformats.org/officeDocument/2006/relationships/image"/><Relationship Id="rId12" Target="../media/image46.png" Type="http://schemas.openxmlformats.org/officeDocument/2006/relationships/image"/><Relationship Id="rId13" Target="../media/image47.png" Type="http://schemas.openxmlformats.org/officeDocument/2006/relationships/image"/><Relationship Id="rId14" Target="../media/image48.png" Type="http://schemas.openxmlformats.org/officeDocument/2006/relationships/image"/><Relationship Id="rId15" Target="../media/image49.png" Type="http://schemas.openxmlformats.org/officeDocument/2006/relationships/image"/><Relationship Id="rId16" Target="../media/image50.png" Type="http://schemas.openxmlformats.org/officeDocument/2006/relationships/image"/><Relationship Id="rId17" Target="../media/image51.png" Type="http://schemas.openxmlformats.org/officeDocument/2006/relationships/image"/><Relationship Id="rId18" Target="../media/image52.png" Type="http://schemas.openxmlformats.org/officeDocument/2006/relationships/image"/><Relationship Id="rId19" Target="../media/image53.png" Type="http://schemas.openxmlformats.org/officeDocument/2006/relationships/image"/><Relationship Id="rId2" Target="../media/image36.png" Type="http://schemas.openxmlformats.org/officeDocument/2006/relationships/image"/><Relationship Id="rId20" Target="../media/image54.png" Type="http://schemas.openxmlformats.org/officeDocument/2006/relationships/image"/><Relationship Id="rId21" Target="../media/image55.png" Type="http://schemas.openxmlformats.org/officeDocument/2006/relationships/image"/><Relationship Id="rId22" Target="../media/image56.png" Type="http://schemas.openxmlformats.org/officeDocument/2006/relationships/image"/><Relationship Id="rId3" Target="../media/image37.png" Type="http://schemas.openxmlformats.org/officeDocument/2006/relationships/image"/><Relationship Id="rId4" Target="../media/image38.png" Type="http://schemas.openxmlformats.org/officeDocument/2006/relationships/image"/><Relationship Id="rId5" Target="../media/image39.png" Type="http://schemas.openxmlformats.org/officeDocument/2006/relationships/image"/><Relationship Id="rId6" Target="../media/image40.png" Type="http://schemas.openxmlformats.org/officeDocument/2006/relationships/image"/><Relationship Id="rId7" Target="../media/image41.png" Type="http://schemas.openxmlformats.org/officeDocument/2006/relationships/image"/><Relationship Id="rId8" Target="../media/image42.png" Type="http://schemas.openxmlformats.org/officeDocument/2006/relationships/image"/><Relationship Id="rId9" Target="../media/image4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3938" y="875741"/>
            <a:ext cx="20335875" cy="10287000"/>
            <a:chOff x="0" y="0"/>
            <a:chExt cx="271145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600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39850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6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651231" y="612360"/>
            <a:ext cx="271148" cy="286173"/>
          </a:xfrm>
          <a:custGeom>
            <a:avLst/>
            <a:gdLst/>
            <a:ahLst/>
            <a:cxnLst/>
            <a:rect r="r" b="b" t="t" l="l"/>
            <a:pathLst>
              <a:path h="286173" w="271148">
                <a:moveTo>
                  <a:pt x="0" y="0"/>
                </a:moveTo>
                <a:lnTo>
                  <a:pt x="271148" y="0"/>
                </a:lnTo>
                <a:lnTo>
                  <a:pt x="271148" y="286172"/>
                </a:lnTo>
                <a:lnTo>
                  <a:pt x="0" y="286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663689"/>
            <a:ext cx="2871173" cy="212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9"/>
              </a:lnSpc>
            </a:pPr>
            <a:r>
              <a:rPr lang="en-US" sz="1599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F5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4512338" y="616360"/>
            <a:ext cx="3124432" cy="456813"/>
            <a:chOff x="0" y="0"/>
            <a:chExt cx="822896" cy="12031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22896" cy="120313"/>
            </a:xfrm>
            <a:custGeom>
              <a:avLst/>
              <a:gdLst/>
              <a:ahLst/>
              <a:cxnLst/>
              <a:rect r="r" b="b" t="t" l="l"/>
              <a:pathLst>
                <a:path h="120313" w="822896">
                  <a:moveTo>
                    <a:pt x="60156" y="0"/>
                  </a:moveTo>
                  <a:lnTo>
                    <a:pt x="762739" y="0"/>
                  </a:lnTo>
                  <a:cubicBezTo>
                    <a:pt x="795963" y="0"/>
                    <a:pt x="822896" y="26933"/>
                    <a:pt x="822896" y="60156"/>
                  </a:cubicBezTo>
                  <a:lnTo>
                    <a:pt x="822896" y="60156"/>
                  </a:lnTo>
                  <a:cubicBezTo>
                    <a:pt x="822896" y="93380"/>
                    <a:pt x="795963" y="120313"/>
                    <a:pt x="762739" y="120313"/>
                  </a:cubicBezTo>
                  <a:lnTo>
                    <a:pt x="60156" y="120313"/>
                  </a:lnTo>
                  <a:cubicBezTo>
                    <a:pt x="26933" y="120313"/>
                    <a:pt x="0" y="93380"/>
                    <a:pt x="0" y="60156"/>
                  </a:cubicBezTo>
                  <a:lnTo>
                    <a:pt x="0" y="60156"/>
                  </a:lnTo>
                  <a:cubicBezTo>
                    <a:pt x="0" y="26933"/>
                    <a:pt x="26933" y="0"/>
                    <a:pt x="60156" y="0"/>
                  </a:cubicBezTo>
                  <a:close/>
                </a:path>
              </a:pathLst>
            </a:custGeom>
            <a:solidFill>
              <a:srgbClr val="15161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822896" cy="167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4760046" y="762870"/>
            <a:ext cx="2629015" cy="173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sz="1200">
                <a:solidFill>
                  <a:srgbClr val="F3F4F3"/>
                </a:solidFill>
                <a:latin typeface="Poppins"/>
                <a:ea typeface="Poppins"/>
                <a:cs typeface="Poppins"/>
                <a:sym typeface="Poppins"/>
              </a:rPr>
              <a:t>https://github.com/Capstone-F5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731087" y="1957759"/>
            <a:ext cx="4548667" cy="5968711"/>
            <a:chOff x="0" y="0"/>
            <a:chExt cx="704708" cy="9247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4708" cy="924710"/>
            </a:xfrm>
            <a:custGeom>
              <a:avLst/>
              <a:gdLst/>
              <a:ahLst/>
              <a:cxnLst/>
              <a:rect r="r" b="b" t="t" l="l"/>
              <a:pathLst>
                <a:path h="924710" w="704708">
                  <a:moveTo>
                    <a:pt x="39146" y="0"/>
                  </a:moveTo>
                  <a:lnTo>
                    <a:pt x="665561" y="0"/>
                  </a:lnTo>
                  <a:cubicBezTo>
                    <a:pt x="687181" y="0"/>
                    <a:pt x="704708" y="17526"/>
                    <a:pt x="704708" y="39146"/>
                  </a:cubicBezTo>
                  <a:lnTo>
                    <a:pt x="704708" y="885563"/>
                  </a:lnTo>
                  <a:cubicBezTo>
                    <a:pt x="704708" y="907183"/>
                    <a:pt x="687181" y="924710"/>
                    <a:pt x="665561" y="924710"/>
                  </a:cubicBezTo>
                  <a:lnTo>
                    <a:pt x="39146" y="924710"/>
                  </a:lnTo>
                  <a:cubicBezTo>
                    <a:pt x="17526" y="924710"/>
                    <a:pt x="0" y="907183"/>
                    <a:pt x="0" y="885563"/>
                  </a:cubicBezTo>
                  <a:lnTo>
                    <a:pt x="0" y="39146"/>
                  </a:lnTo>
                  <a:cubicBezTo>
                    <a:pt x="0" y="17526"/>
                    <a:pt x="17526" y="0"/>
                    <a:pt x="39146" y="0"/>
                  </a:cubicBezTo>
                  <a:close/>
                </a:path>
              </a:pathLst>
            </a:custGeom>
            <a:blipFill>
              <a:blip r:embed="rId5"/>
              <a:stretch>
                <a:fillRect l="-59349" t="0" r="-59349" b="0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6563014" y="1957759"/>
            <a:ext cx="631771" cy="635745"/>
          </a:xfrm>
          <a:custGeom>
            <a:avLst/>
            <a:gdLst/>
            <a:ahLst/>
            <a:cxnLst/>
            <a:rect r="r" b="b" t="t" l="l"/>
            <a:pathLst>
              <a:path h="635745" w="631771">
                <a:moveTo>
                  <a:pt x="0" y="0"/>
                </a:moveTo>
                <a:lnTo>
                  <a:pt x="631772" y="0"/>
                </a:lnTo>
                <a:lnTo>
                  <a:pt x="631772" y="635745"/>
                </a:lnTo>
                <a:lnTo>
                  <a:pt x="0" y="6357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563014" y="9133151"/>
            <a:ext cx="760800" cy="554433"/>
          </a:xfrm>
          <a:custGeom>
            <a:avLst/>
            <a:gdLst/>
            <a:ahLst/>
            <a:cxnLst/>
            <a:rect r="r" b="b" t="t" l="l"/>
            <a:pathLst>
              <a:path h="554433" w="760800">
                <a:moveTo>
                  <a:pt x="0" y="0"/>
                </a:moveTo>
                <a:lnTo>
                  <a:pt x="760800" y="0"/>
                </a:lnTo>
                <a:lnTo>
                  <a:pt x="760800" y="554433"/>
                </a:lnTo>
                <a:lnTo>
                  <a:pt x="0" y="5544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008246" y="6982476"/>
            <a:ext cx="9162660" cy="1245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00"/>
              </a:lnSpc>
            </a:pPr>
            <a:r>
              <a:rPr lang="en-US" sz="9300" b="true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프로젝트</a:t>
            </a:r>
            <a:r>
              <a:rPr lang="en-US" sz="9300" b="true">
                <a:solidFill>
                  <a:srgbClr val="E8A30C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현황보고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46346" y="6369103"/>
            <a:ext cx="8696886" cy="327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2399" spc="223" b="true">
                <a:solidFill>
                  <a:srgbClr val="151615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2026 인공지능종합설계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08246" y="8463477"/>
            <a:ext cx="8696886" cy="308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2399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디지털 약자를 위한</a:t>
            </a:r>
            <a:r>
              <a:rPr lang="en-US" sz="2399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 음성 및 제스처 중심의 배리어프리 키오스크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731087" y="8320602"/>
            <a:ext cx="928981" cy="261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 b="true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팀원.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696776" y="8320602"/>
            <a:ext cx="3582977" cy="261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조예성 / 김명서 / 김성원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696776" y="8668467"/>
            <a:ext cx="3582977" cy="261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임지연 / 서유민 / 진수민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8625" y="428625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101003" y="3717681"/>
            <a:ext cx="9224847" cy="1425819"/>
            <a:chOff x="0" y="0"/>
            <a:chExt cx="2429589" cy="37552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29589" cy="375524"/>
            </a:xfrm>
            <a:custGeom>
              <a:avLst/>
              <a:gdLst/>
              <a:ahLst/>
              <a:cxnLst/>
              <a:rect r="r" b="b" t="t" l="l"/>
              <a:pathLst>
                <a:path h="375524" w="2429589">
                  <a:moveTo>
                    <a:pt x="28534" y="0"/>
                  </a:moveTo>
                  <a:lnTo>
                    <a:pt x="2401055" y="0"/>
                  </a:lnTo>
                  <a:cubicBezTo>
                    <a:pt x="2408623" y="0"/>
                    <a:pt x="2415881" y="3006"/>
                    <a:pt x="2421232" y="8358"/>
                  </a:cubicBezTo>
                  <a:cubicBezTo>
                    <a:pt x="2426583" y="13709"/>
                    <a:pt x="2429589" y="20967"/>
                    <a:pt x="2429589" y="28534"/>
                  </a:cubicBezTo>
                  <a:lnTo>
                    <a:pt x="2429589" y="346990"/>
                  </a:lnTo>
                  <a:cubicBezTo>
                    <a:pt x="2429589" y="362749"/>
                    <a:pt x="2416814" y="375524"/>
                    <a:pt x="2401055" y="375524"/>
                  </a:cubicBezTo>
                  <a:lnTo>
                    <a:pt x="28534" y="375524"/>
                  </a:lnTo>
                  <a:cubicBezTo>
                    <a:pt x="20967" y="375524"/>
                    <a:pt x="13709" y="372518"/>
                    <a:pt x="8358" y="367167"/>
                  </a:cubicBezTo>
                  <a:cubicBezTo>
                    <a:pt x="3006" y="361816"/>
                    <a:pt x="0" y="354558"/>
                    <a:pt x="0" y="346990"/>
                  </a:cubicBezTo>
                  <a:lnTo>
                    <a:pt x="0" y="28534"/>
                  </a:lnTo>
                  <a:cubicBezTo>
                    <a:pt x="0" y="12775"/>
                    <a:pt x="12775" y="0"/>
                    <a:pt x="28534" y="0"/>
                  </a:cubicBezTo>
                  <a:close/>
                </a:path>
              </a:pathLst>
            </a:custGeom>
            <a:solidFill>
              <a:srgbClr val="151615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429589" cy="4231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1740896" y="7037204"/>
            <a:ext cx="3657600" cy="306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9758" indent="-194879" lvl="1">
              <a:lnSpc>
                <a:spcPts val="2527"/>
              </a:lnSpc>
              <a:buFont typeface="Arial"/>
              <a:buChar char="•"/>
            </a:pPr>
            <a:r>
              <a:rPr lang="en-US" sz="1805">
                <a:solidFill>
                  <a:srgbClr val="191919"/>
                </a:solidFill>
                <a:latin typeface="네모고딕"/>
                <a:ea typeface="네모고딕"/>
                <a:cs typeface="네모고딕"/>
                <a:sym typeface="네모고딕"/>
              </a:rPr>
              <a:t>진수민 - Design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101003" y="5320806"/>
            <a:ext cx="9224847" cy="2296205"/>
            <a:chOff x="0" y="0"/>
            <a:chExt cx="2429589" cy="6047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29589" cy="604762"/>
            </a:xfrm>
            <a:custGeom>
              <a:avLst/>
              <a:gdLst/>
              <a:ahLst/>
              <a:cxnLst/>
              <a:rect r="r" b="b" t="t" l="l"/>
              <a:pathLst>
                <a:path h="604762" w="2429589">
                  <a:moveTo>
                    <a:pt x="28534" y="0"/>
                  </a:moveTo>
                  <a:lnTo>
                    <a:pt x="2401055" y="0"/>
                  </a:lnTo>
                  <a:cubicBezTo>
                    <a:pt x="2408623" y="0"/>
                    <a:pt x="2415881" y="3006"/>
                    <a:pt x="2421232" y="8358"/>
                  </a:cubicBezTo>
                  <a:cubicBezTo>
                    <a:pt x="2426583" y="13709"/>
                    <a:pt x="2429589" y="20967"/>
                    <a:pt x="2429589" y="28534"/>
                  </a:cubicBezTo>
                  <a:lnTo>
                    <a:pt x="2429589" y="576228"/>
                  </a:lnTo>
                  <a:cubicBezTo>
                    <a:pt x="2429589" y="591987"/>
                    <a:pt x="2416814" y="604762"/>
                    <a:pt x="2401055" y="604762"/>
                  </a:cubicBezTo>
                  <a:lnTo>
                    <a:pt x="28534" y="604762"/>
                  </a:lnTo>
                  <a:cubicBezTo>
                    <a:pt x="12775" y="604762"/>
                    <a:pt x="0" y="591987"/>
                    <a:pt x="0" y="576228"/>
                  </a:cubicBezTo>
                  <a:lnTo>
                    <a:pt x="0" y="28534"/>
                  </a:lnTo>
                  <a:cubicBezTo>
                    <a:pt x="0" y="12775"/>
                    <a:pt x="12775" y="0"/>
                    <a:pt x="28534" y="0"/>
                  </a:cubicBezTo>
                  <a:close/>
                </a:path>
              </a:pathLst>
            </a:custGeom>
            <a:solidFill>
              <a:srgbClr val="EFEEE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429589" cy="6523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01003" y="7823228"/>
            <a:ext cx="8247337" cy="1886022"/>
            <a:chOff x="0" y="0"/>
            <a:chExt cx="2172138" cy="49673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72138" cy="496730"/>
            </a:xfrm>
            <a:custGeom>
              <a:avLst/>
              <a:gdLst/>
              <a:ahLst/>
              <a:cxnLst/>
              <a:rect r="r" b="b" t="t" l="l"/>
              <a:pathLst>
                <a:path h="496730" w="2172138">
                  <a:moveTo>
                    <a:pt x="31916" y="0"/>
                  </a:moveTo>
                  <a:lnTo>
                    <a:pt x="2140221" y="0"/>
                  </a:lnTo>
                  <a:cubicBezTo>
                    <a:pt x="2148686" y="0"/>
                    <a:pt x="2156804" y="3363"/>
                    <a:pt x="2162790" y="9348"/>
                  </a:cubicBezTo>
                  <a:cubicBezTo>
                    <a:pt x="2168775" y="15334"/>
                    <a:pt x="2172138" y="23452"/>
                    <a:pt x="2172138" y="31916"/>
                  </a:cubicBezTo>
                  <a:lnTo>
                    <a:pt x="2172138" y="464814"/>
                  </a:lnTo>
                  <a:cubicBezTo>
                    <a:pt x="2172138" y="473278"/>
                    <a:pt x="2168775" y="481397"/>
                    <a:pt x="2162790" y="487382"/>
                  </a:cubicBezTo>
                  <a:cubicBezTo>
                    <a:pt x="2156804" y="493367"/>
                    <a:pt x="2148686" y="496730"/>
                    <a:pt x="2140221" y="496730"/>
                  </a:cubicBezTo>
                  <a:lnTo>
                    <a:pt x="31916" y="496730"/>
                  </a:lnTo>
                  <a:cubicBezTo>
                    <a:pt x="23452" y="496730"/>
                    <a:pt x="15334" y="493367"/>
                    <a:pt x="9348" y="487382"/>
                  </a:cubicBezTo>
                  <a:cubicBezTo>
                    <a:pt x="3363" y="481397"/>
                    <a:pt x="0" y="473278"/>
                    <a:pt x="0" y="464814"/>
                  </a:cubicBezTo>
                  <a:lnTo>
                    <a:pt x="0" y="31916"/>
                  </a:lnTo>
                  <a:cubicBezTo>
                    <a:pt x="0" y="23452"/>
                    <a:pt x="3363" y="15334"/>
                    <a:pt x="9348" y="9348"/>
                  </a:cubicBezTo>
                  <a:cubicBezTo>
                    <a:pt x="15334" y="3363"/>
                    <a:pt x="23452" y="0"/>
                    <a:pt x="31916" y="0"/>
                  </a:cubicBezTo>
                  <a:close/>
                </a:path>
              </a:pathLst>
            </a:custGeom>
            <a:solidFill>
              <a:srgbClr val="89857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172138" cy="544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372709" y="8536988"/>
            <a:ext cx="1755648" cy="928273"/>
            <a:chOff x="0" y="0"/>
            <a:chExt cx="462393" cy="24448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62393" cy="244483"/>
            </a:xfrm>
            <a:custGeom>
              <a:avLst/>
              <a:gdLst/>
              <a:ahLst/>
              <a:cxnLst/>
              <a:rect r="r" b="b" t="t" l="l"/>
              <a:pathLst>
                <a:path h="244483" w="462393">
                  <a:moveTo>
                    <a:pt x="74965" y="0"/>
                  </a:moveTo>
                  <a:lnTo>
                    <a:pt x="387428" y="0"/>
                  </a:lnTo>
                  <a:cubicBezTo>
                    <a:pt x="428830" y="0"/>
                    <a:pt x="462393" y="33563"/>
                    <a:pt x="462393" y="74965"/>
                  </a:cubicBezTo>
                  <a:lnTo>
                    <a:pt x="462393" y="169518"/>
                  </a:lnTo>
                  <a:cubicBezTo>
                    <a:pt x="462393" y="189400"/>
                    <a:pt x="454495" y="208468"/>
                    <a:pt x="440436" y="222527"/>
                  </a:cubicBezTo>
                  <a:cubicBezTo>
                    <a:pt x="426377" y="236585"/>
                    <a:pt x="407310" y="244483"/>
                    <a:pt x="387428" y="244483"/>
                  </a:cubicBezTo>
                  <a:lnTo>
                    <a:pt x="74965" y="244483"/>
                  </a:lnTo>
                  <a:cubicBezTo>
                    <a:pt x="33563" y="244483"/>
                    <a:pt x="0" y="210920"/>
                    <a:pt x="0" y="169518"/>
                  </a:cubicBezTo>
                  <a:lnTo>
                    <a:pt x="0" y="74965"/>
                  </a:lnTo>
                  <a:cubicBezTo>
                    <a:pt x="0" y="33563"/>
                    <a:pt x="33563" y="0"/>
                    <a:pt x="74965" y="0"/>
                  </a:cubicBezTo>
                  <a:close/>
                </a:path>
              </a:pathLst>
            </a:custGeom>
            <a:solidFill>
              <a:srgbClr val="CACACA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462393" cy="292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357065" y="8536988"/>
            <a:ext cx="1755648" cy="928273"/>
            <a:chOff x="0" y="0"/>
            <a:chExt cx="462393" cy="24448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62393" cy="244483"/>
            </a:xfrm>
            <a:custGeom>
              <a:avLst/>
              <a:gdLst/>
              <a:ahLst/>
              <a:cxnLst/>
              <a:rect r="r" b="b" t="t" l="l"/>
              <a:pathLst>
                <a:path h="244483" w="462393">
                  <a:moveTo>
                    <a:pt x="74965" y="0"/>
                  </a:moveTo>
                  <a:lnTo>
                    <a:pt x="387428" y="0"/>
                  </a:lnTo>
                  <a:cubicBezTo>
                    <a:pt x="428830" y="0"/>
                    <a:pt x="462393" y="33563"/>
                    <a:pt x="462393" y="74965"/>
                  </a:cubicBezTo>
                  <a:lnTo>
                    <a:pt x="462393" y="169518"/>
                  </a:lnTo>
                  <a:cubicBezTo>
                    <a:pt x="462393" y="189400"/>
                    <a:pt x="454495" y="208468"/>
                    <a:pt x="440436" y="222527"/>
                  </a:cubicBezTo>
                  <a:cubicBezTo>
                    <a:pt x="426377" y="236585"/>
                    <a:pt x="407310" y="244483"/>
                    <a:pt x="387428" y="244483"/>
                  </a:cubicBezTo>
                  <a:lnTo>
                    <a:pt x="74965" y="244483"/>
                  </a:lnTo>
                  <a:cubicBezTo>
                    <a:pt x="33563" y="244483"/>
                    <a:pt x="0" y="210920"/>
                    <a:pt x="0" y="169518"/>
                  </a:cubicBezTo>
                  <a:lnTo>
                    <a:pt x="0" y="74965"/>
                  </a:lnTo>
                  <a:cubicBezTo>
                    <a:pt x="0" y="33563"/>
                    <a:pt x="33563" y="0"/>
                    <a:pt x="74965" y="0"/>
                  </a:cubicBezTo>
                  <a:close/>
                </a:path>
              </a:pathLst>
            </a:custGeom>
            <a:solidFill>
              <a:srgbClr val="CACACA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462393" cy="292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341422" y="8536988"/>
            <a:ext cx="1755648" cy="928273"/>
            <a:chOff x="0" y="0"/>
            <a:chExt cx="462393" cy="24448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62393" cy="244483"/>
            </a:xfrm>
            <a:custGeom>
              <a:avLst/>
              <a:gdLst/>
              <a:ahLst/>
              <a:cxnLst/>
              <a:rect r="r" b="b" t="t" l="l"/>
              <a:pathLst>
                <a:path h="244483" w="462393">
                  <a:moveTo>
                    <a:pt x="74965" y="0"/>
                  </a:moveTo>
                  <a:lnTo>
                    <a:pt x="387428" y="0"/>
                  </a:lnTo>
                  <a:cubicBezTo>
                    <a:pt x="428830" y="0"/>
                    <a:pt x="462393" y="33563"/>
                    <a:pt x="462393" y="74965"/>
                  </a:cubicBezTo>
                  <a:lnTo>
                    <a:pt x="462393" y="169518"/>
                  </a:lnTo>
                  <a:cubicBezTo>
                    <a:pt x="462393" y="189400"/>
                    <a:pt x="454495" y="208468"/>
                    <a:pt x="440436" y="222527"/>
                  </a:cubicBezTo>
                  <a:cubicBezTo>
                    <a:pt x="426377" y="236585"/>
                    <a:pt x="407310" y="244483"/>
                    <a:pt x="387428" y="244483"/>
                  </a:cubicBezTo>
                  <a:lnTo>
                    <a:pt x="74965" y="244483"/>
                  </a:lnTo>
                  <a:cubicBezTo>
                    <a:pt x="33563" y="244483"/>
                    <a:pt x="0" y="210920"/>
                    <a:pt x="0" y="169518"/>
                  </a:cubicBezTo>
                  <a:lnTo>
                    <a:pt x="0" y="74965"/>
                  </a:lnTo>
                  <a:cubicBezTo>
                    <a:pt x="0" y="33563"/>
                    <a:pt x="33563" y="0"/>
                    <a:pt x="74965" y="0"/>
                  </a:cubicBezTo>
                  <a:close/>
                </a:path>
              </a:pathLst>
            </a:custGeom>
            <a:solidFill>
              <a:srgbClr val="CACACA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462393" cy="292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388352" y="8536988"/>
            <a:ext cx="1755648" cy="928273"/>
            <a:chOff x="0" y="0"/>
            <a:chExt cx="462393" cy="24448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62393" cy="244483"/>
            </a:xfrm>
            <a:custGeom>
              <a:avLst/>
              <a:gdLst/>
              <a:ahLst/>
              <a:cxnLst/>
              <a:rect r="r" b="b" t="t" l="l"/>
              <a:pathLst>
                <a:path h="244483" w="462393">
                  <a:moveTo>
                    <a:pt x="74965" y="0"/>
                  </a:moveTo>
                  <a:lnTo>
                    <a:pt x="387428" y="0"/>
                  </a:lnTo>
                  <a:cubicBezTo>
                    <a:pt x="428830" y="0"/>
                    <a:pt x="462393" y="33563"/>
                    <a:pt x="462393" y="74965"/>
                  </a:cubicBezTo>
                  <a:lnTo>
                    <a:pt x="462393" y="169518"/>
                  </a:lnTo>
                  <a:cubicBezTo>
                    <a:pt x="462393" y="189400"/>
                    <a:pt x="454495" y="208468"/>
                    <a:pt x="440436" y="222527"/>
                  </a:cubicBezTo>
                  <a:cubicBezTo>
                    <a:pt x="426377" y="236585"/>
                    <a:pt x="407310" y="244483"/>
                    <a:pt x="387428" y="244483"/>
                  </a:cubicBezTo>
                  <a:lnTo>
                    <a:pt x="74965" y="244483"/>
                  </a:lnTo>
                  <a:cubicBezTo>
                    <a:pt x="33563" y="244483"/>
                    <a:pt x="0" y="210920"/>
                    <a:pt x="0" y="169518"/>
                  </a:cubicBezTo>
                  <a:lnTo>
                    <a:pt x="0" y="74965"/>
                  </a:lnTo>
                  <a:cubicBezTo>
                    <a:pt x="0" y="33563"/>
                    <a:pt x="33563" y="0"/>
                    <a:pt x="74965" y="0"/>
                  </a:cubicBezTo>
                  <a:close/>
                </a:path>
              </a:pathLst>
            </a:custGeom>
            <a:solidFill>
              <a:srgbClr val="CACACA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462393" cy="292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5647982" y="9092495"/>
            <a:ext cx="631771" cy="635745"/>
          </a:xfrm>
          <a:custGeom>
            <a:avLst/>
            <a:gdLst/>
            <a:ahLst/>
            <a:cxnLst/>
            <a:rect r="r" b="b" t="t" l="l"/>
            <a:pathLst>
              <a:path h="635745" w="631771">
                <a:moveTo>
                  <a:pt x="0" y="0"/>
                </a:moveTo>
                <a:lnTo>
                  <a:pt x="631772" y="0"/>
                </a:lnTo>
                <a:lnTo>
                  <a:pt x="631772" y="635745"/>
                </a:lnTo>
                <a:lnTo>
                  <a:pt x="0" y="6357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6498500" y="9133151"/>
            <a:ext cx="760800" cy="554433"/>
          </a:xfrm>
          <a:custGeom>
            <a:avLst/>
            <a:gdLst/>
            <a:ahLst/>
            <a:cxnLst/>
            <a:rect r="r" b="b" t="t" l="l"/>
            <a:pathLst>
              <a:path h="554433" w="760800">
                <a:moveTo>
                  <a:pt x="0" y="0"/>
                </a:moveTo>
                <a:lnTo>
                  <a:pt x="760800" y="0"/>
                </a:lnTo>
                <a:lnTo>
                  <a:pt x="760800" y="554433"/>
                </a:lnTo>
                <a:lnTo>
                  <a:pt x="0" y="5544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2008246" y="1957759"/>
            <a:ext cx="3933185" cy="7452608"/>
            <a:chOff x="0" y="0"/>
            <a:chExt cx="609353" cy="115460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09353" cy="1154604"/>
            </a:xfrm>
            <a:custGeom>
              <a:avLst/>
              <a:gdLst/>
              <a:ahLst/>
              <a:cxnLst/>
              <a:rect r="r" b="b" t="t" l="l"/>
              <a:pathLst>
                <a:path h="1154604" w="609353">
                  <a:moveTo>
                    <a:pt x="45272" y="0"/>
                  </a:moveTo>
                  <a:lnTo>
                    <a:pt x="564081" y="0"/>
                  </a:lnTo>
                  <a:cubicBezTo>
                    <a:pt x="576088" y="0"/>
                    <a:pt x="587603" y="4770"/>
                    <a:pt x="596093" y="13260"/>
                  </a:cubicBezTo>
                  <a:cubicBezTo>
                    <a:pt x="604583" y="21750"/>
                    <a:pt x="609353" y="33265"/>
                    <a:pt x="609353" y="45272"/>
                  </a:cubicBezTo>
                  <a:lnTo>
                    <a:pt x="609353" y="1109332"/>
                  </a:lnTo>
                  <a:cubicBezTo>
                    <a:pt x="609353" y="1121339"/>
                    <a:pt x="604583" y="1132854"/>
                    <a:pt x="596093" y="1141344"/>
                  </a:cubicBezTo>
                  <a:cubicBezTo>
                    <a:pt x="587603" y="1149834"/>
                    <a:pt x="576088" y="1154604"/>
                    <a:pt x="564081" y="1154604"/>
                  </a:cubicBezTo>
                  <a:lnTo>
                    <a:pt x="45272" y="1154604"/>
                  </a:lnTo>
                  <a:cubicBezTo>
                    <a:pt x="33265" y="1154604"/>
                    <a:pt x="21750" y="1149834"/>
                    <a:pt x="13260" y="1141344"/>
                  </a:cubicBezTo>
                  <a:cubicBezTo>
                    <a:pt x="4770" y="1132854"/>
                    <a:pt x="0" y="1121339"/>
                    <a:pt x="0" y="1109332"/>
                  </a:cubicBezTo>
                  <a:lnTo>
                    <a:pt x="0" y="45272"/>
                  </a:lnTo>
                  <a:cubicBezTo>
                    <a:pt x="0" y="33265"/>
                    <a:pt x="4770" y="21750"/>
                    <a:pt x="13260" y="13260"/>
                  </a:cubicBezTo>
                  <a:cubicBezTo>
                    <a:pt x="21750" y="4770"/>
                    <a:pt x="33265" y="0"/>
                    <a:pt x="45272" y="0"/>
                  </a:cubicBezTo>
                  <a:close/>
                </a:path>
              </a:pathLst>
            </a:custGeom>
            <a:blipFill>
              <a:blip r:embed="rId8"/>
              <a:stretch>
                <a:fillRect l="-3291" t="0" r="-3291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4512338" y="616360"/>
            <a:ext cx="3124432" cy="456813"/>
            <a:chOff x="0" y="0"/>
            <a:chExt cx="4165909" cy="609084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4165909" cy="609084"/>
              <a:chOff x="0" y="0"/>
              <a:chExt cx="822896" cy="120313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22896" cy="120313"/>
              </a:xfrm>
              <a:custGeom>
                <a:avLst/>
                <a:gdLst/>
                <a:ahLst/>
                <a:cxnLst/>
                <a:rect r="r" b="b" t="t" l="l"/>
                <a:pathLst>
                  <a:path h="120313" w="822896">
                    <a:moveTo>
                      <a:pt x="60156" y="0"/>
                    </a:moveTo>
                    <a:lnTo>
                      <a:pt x="762739" y="0"/>
                    </a:lnTo>
                    <a:cubicBezTo>
                      <a:pt x="795963" y="0"/>
                      <a:pt x="822896" y="26933"/>
                      <a:pt x="822896" y="60156"/>
                    </a:cubicBezTo>
                    <a:lnTo>
                      <a:pt x="822896" y="60156"/>
                    </a:lnTo>
                    <a:cubicBezTo>
                      <a:pt x="822896" y="93380"/>
                      <a:pt x="795963" y="120313"/>
                      <a:pt x="762739" y="120313"/>
                    </a:cubicBezTo>
                    <a:lnTo>
                      <a:pt x="60156" y="120313"/>
                    </a:lnTo>
                    <a:cubicBezTo>
                      <a:pt x="26933" y="120313"/>
                      <a:pt x="0" y="93380"/>
                      <a:pt x="0" y="60156"/>
                    </a:cubicBezTo>
                    <a:lnTo>
                      <a:pt x="0" y="60156"/>
                    </a:lnTo>
                    <a:cubicBezTo>
                      <a:pt x="0" y="26933"/>
                      <a:pt x="26933" y="0"/>
                      <a:pt x="60156" y="0"/>
                    </a:cubicBezTo>
                    <a:close/>
                  </a:path>
                </a:pathLst>
              </a:custGeom>
              <a:solidFill>
                <a:srgbClr val="151615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47625"/>
                <a:ext cx="822896" cy="1679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330136" y="188472"/>
              <a:ext cx="3505353" cy="2343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00"/>
                </a:lnSpc>
              </a:pPr>
              <a:r>
                <a:rPr lang="en-US" sz="1200">
                  <a:solidFill>
                    <a:srgbClr val="F3F4F3"/>
                  </a:solidFill>
                  <a:latin typeface="Poppins"/>
                  <a:ea typeface="Poppins"/>
                  <a:cs typeface="Poppins"/>
                  <a:sym typeface="Poppins"/>
                </a:rPr>
                <a:t>https://github.com/Capstone-F5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7388352" y="7997499"/>
            <a:ext cx="2395728" cy="365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124" b="true">
                <a:solidFill>
                  <a:srgbClr val="FFFFFF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팀별 담당 개발 영역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076375" y="9107968"/>
            <a:ext cx="2395728" cy="216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4"/>
              </a:lnSpc>
            </a:pPr>
            <a:r>
              <a:rPr lang="en-US" sz="1224">
                <a:solidFill>
                  <a:srgbClr val="FFFFFF"/>
                </a:solidFill>
                <a:latin typeface="네모고딕"/>
                <a:ea typeface="네모고딕"/>
                <a:cs typeface="네모고딕"/>
                <a:sym typeface="네모고딕"/>
              </a:rPr>
              <a:t>※AI로 생성한 이미지입니다.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114032" y="1745202"/>
            <a:ext cx="2816352" cy="435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1"/>
              </a:lnSpc>
            </a:pPr>
            <a:r>
              <a:rPr lang="en-US" sz="2372" spc="118" b="true">
                <a:solidFill>
                  <a:srgbClr val="19191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Project Overview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114032" y="2229231"/>
            <a:ext cx="5047488" cy="952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8"/>
              </a:lnSpc>
            </a:pPr>
            <a:r>
              <a:rPr lang="en-US" sz="6307" b="true">
                <a:solidFill>
                  <a:srgbClr val="191919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프로젝트 개요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388352" y="3865916"/>
            <a:ext cx="1078992" cy="290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8"/>
              </a:lnSpc>
            </a:pPr>
            <a:r>
              <a:rPr lang="en-US" sz="1698">
                <a:solidFill>
                  <a:srgbClr val="FFFFFF"/>
                </a:solidFill>
                <a:latin typeface="네모고딕"/>
                <a:ea typeface="네모고딕"/>
                <a:cs typeface="네모고딕"/>
                <a:sym typeface="네모고딕"/>
              </a:rPr>
              <a:t>프로젝트명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388352" y="4422839"/>
            <a:ext cx="8577072" cy="362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4"/>
              </a:lnSpc>
            </a:pPr>
            <a:r>
              <a:rPr lang="en-US" sz="2337" b="true">
                <a:solidFill>
                  <a:srgbClr val="FFFFFF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디지털 약자를 위한 음성 및 제스처 중심의 배리어 프리 키오스크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468484" y="8598838"/>
            <a:ext cx="1504175" cy="626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222222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팀장/풀스택</a:t>
            </a: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222222"/>
                </a:solidFill>
                <a:latin typeface="네모고딕"/>
                <a:ea typeface="네모고딕"/>
                <a:cs typeface="네모고딕"/>
                <a:sym typeface="네모고딕"/>
              </a:rPr>
              <a:t>일정 관리/배포/통합</a:t>
            </a: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222222"/>
                </a:solidFill>
                <a:latin typeface="네모고딕"/>
                <a:ea typeface="네모고딕"/>
                <a:cs typeface="네모고딕"/>
                <a:sym typeface="네모고딕"/>
              </a:rPr>
              <a:t>테스트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468842" y="8598838"/>
            <a:ext cx="1563381" cy="626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222222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디자인</a:t>
            </a: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222222"/>
                </a:solidFill>
                <a:latin typeface="네모고딕"/>
                <a:ea typeface="네모고딕"/>
                <a:cs typeface="네모고딕"/>
                <a:sym typeface="네모고딕"/>
              </a:rPr>
              <a:t>키오스크 디자인</a:t>
            </a: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222222"/>
                </a:solidFill>
                <a:latin typeface="네모고딕"/>
                <a:ea typeface="네모고딕"/>
                <a:cs typeface="네모고딕"/>
                <a:sym typeface="네모고딕"/>
              </a:rPr>
              <a:t>관리자 대시보드 디자인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452207" y="8598838"/>
            <a:ext cx="1567126" cy="626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222222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백앤드</a:t>
            </a: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222222"/>
                </a:solidFill>
                <a:latin typeface="네모고딕"/>
                <a:ea typeface="네모고딕"/>
                <a:cs typeface="네모고딕"/>
                <a:sym typeface="네모고딕"/>
              </a:rPr>
              <a:t>결제/회원 관리/쿠폰/</a:t>
            </a: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222222"/>
                </a:solidFill>
                <a:latin typeface="네모고딕"/>
                <a:ea typeface="네모고딕"/>
                <a:cs typeface="네모고딕"/>
                <a:sym typeface="네모고딕"/>
              </a:rPr>
              <a:t>적립 등 로직 설계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436563" y="8598838"/>
            <a:ext cx="1581141" cy="626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222222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데이터베이스</a:t>
            </a: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222222"/>
                </a:solidFill>
                <a:latin typeface="네모고딕"/>
                <a:ea typeface="네모고딕"/>
                <a:cs typeface="네모고딕"/>
                <a:sym typeface="네모고딕"/>
              </a:rPr>
              <a:t>DB 스키마 설계/</a:t>
            </a: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222222"/>
                </a:solidFill>
                <a:latin typeface="네모고딕"/>
                <a:ea typeface="네모고딕"/>
                <a:cs typeface="네모고딕"/>
                <a:sym typeface="네모고딕"/>
              </a:rPr>
              <a:t>API 제작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357616" y="589214"/>
            <a:ext cx="1572768" cy="31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7"/>
              </a:lnSpc>
            </a:pPr>
            <a:r>
              <a:rPr lang="en-US" sz="1769" spc="17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2026/09/08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388352" y="5497758"/>
            <a:ext cx="2468880" cy="365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124" b="true">
                <a:solidFill>
                  <a:srgbClr val="191919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팀원 및 역할 분담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7388352" y="6111374"/>
            <a:ext cx="3657600" cy="306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9758" indent="-194879" lvl="1">
              <a:lnSpc>
                <a:spcPts val="2527"/>
              </a:lnSpc>
              <a:buFont typeface="Arial"/>
              <a:buChar char="•"/>
            </a:pPr>
            <a:r>
              <a:rPr lang="en-US" sz="1805">
                <a:solidFill>
                  <a:srgbClr val="191919"/>
                </a:solidFill>
                <a:latin typeface="네모고딕"/>
                <a:ea typeface="네모고딕"/>
                <a:cs typeface="네모고딕"/>
                <a:sym typeface="네모고딕"/>
              </a:rPr>
              <a:t>조예성 - PM/Full Stack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388352" y="6574289"/>
            <a:ext cx="3657600" cy="306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9758" indent="-194879" lvl="1">
              <a:lnSpc>
                <a:spcPts val="2527"/>
              </a:lnSpc>
              <a:buFont typeface="Arial"/>
              <a:buChar char="•"/>
            </a:pPr>
            <a:r>
              <a:rPr lang="en-US" sz="1805">
                <a:solidFill>
                  <a:srgbClr val="191919"/>
                </a:solidFill>
                <a:latin typeface="네모고딕"/>
                <a:ea typeface="네모고딕"/>
                <a:cs typeface="네모고딕"/>
                <a:sym typeface="네모고딕"/>
              </a:rPr>
              <a:t>김명서 - Design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1740896" y="7033260"/>
            <a:ext cx="3657600" cy="306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9758" indent="-194879" lvl="1">
              <a:lnSpc>
                <a:spcPts val="2527"/>
              </a:lnSpc>
              <a:buFont typeface="Arial"/>
              <a:buChar char="•"/>
            </a:pPr>
            <a:r>
              <a:rPr lang="en-US" sz="1805">
                <a:solidFill>
                  <a:srgbClr val="191919"/>
                </a:solidFill>
                <a:latin typeface="네모고딕"/>
                <a:ea typeface="네모고딕"/>
                <a:cs typeface="네모고딕"/>
                <a:sym typeface="네모고딕"/>
              </a:rPr>
              <a:t>진수민 - Design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388352" y="7037204"/>
            <a:ext cx="3657600" cy="306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9758" indent="-194879" lvl="1">
              <a:lnSpc>
                <a:spcPts val="2527"/>
              </a:lnSpc>
              <a:buFont typeface="Arial"/>
              <a:buChar char="•"/>
            </a:pPr>
            <a:r>
              <a:rPr lang="en-US" sz="1805">
                <a:solidFill>
                  <a:srgbClr val="191919"/>
                </a:solidFill>
                <a:latin typeface="네모고딕"/>
                <a:ea typeface="네모고딕"/>
                <a:cs typeface="네모고딕"/>
                <a:sym typeface="네모고딕"/>
              </a:rPr>
              <a:t>김성원 - Backend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1740896" y="6111374"/>
            <a:ext cx="3657600" cy="306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9758" indent="-194879" lvl="1">
              <a:lnSpc>
                <a:spcPts val="2527"/>
              </a:lnSpc>
              <a:buFont typeface="Arial"/>
              <a:buChar char="•"/>
            </a:pPr>
            <a:r>
              <a:rPr lang="en-US" sz="1805">
                <a:solidFill>
                  <a:srgbClr val="191919"/>
                </a:solidFill>
                <a:latin typeface="네모고딕"/>
                <a:ea typeface="네모고딕"/>
                <a:cs typeface="네모고딕"/>
                <a:sym typeface="네모고딕"/>
              </a:rPr>
              <a:t>서유민 - Database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1740896" y="6574289"/>
            <a:ext cx="3657600" cy="306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9758" indent="-194879" lvl="1">
              <a:lnSpc>
                <a:spcPts val="2527"/>
              </a:lnSpc>
              <a:buFont typeface="Arial"/>
              <a:buChar char="•"/>
            </a:pPr>
            <a:r>
              <a:rPr lang="en-US" sz="1805">
                <a:solidFill>
                  <a:srgbClr val="191919"/>
                </a:solidFill>
                <a:latin typeface="네모고딕"/>
                <a:ea typeface="네모고딕"/>
                <a:cs typeface="네모고딕"/>
                <a:sym typeface="네모고딕"/>
              </a:rPr>
              <a:t>임지연 - Backend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028700" y="696005"/>
            <a:ext cx="5329013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1599"/>
              </a:lnSpc>
              <a:buAutoNum type="arabicPeriod" startAt="1"/>
            </a:pPr>
            <a:r>
              <a:rPr lang="en-US" sz="1599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 프로젝트 개요 및 목표 재확인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3938" y="0"/>
            <a:ext cx="20335875" cy="10287000"/>
            <a:chOff x="0" y="0"/>
            <a:chExt cx="271145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600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39850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6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2003648" y="3884423"/>
            <a:ext cx="6975196" cy="2688950"/>
            <a:chOff x="0" y="0"/>
            <a:chExt cx="1837089" cy="70820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37089" cy="708201"/>
            </a:xfrm>
            <a:custGeom>
              <a:avLst/>
              <a:gdLst/>
              <a:ahLst/>
              <a:cxnLst/>
              <a:rect r="r" b="b" t="t" l="l"/>
              <a:pathLst>
                <a:path h="708201" w="1837089">
                  <a:moveTo>
                    <a:pt x="33298" y="0"/>
                  </a:moveTo>
                  <a:lnTo>
                    <a:pt x="1803791" y="0"/>
                  </a:lnTo>
                  <a:cubicBezTo>
                    <a:pt x="1812622" y="0"/>
                    <a:pt x="1821092" y="3508"/>
                    <a:pt x="1827336" y="9753"/>
                  </a:cubicBezTo>
                  <a:cubicBezTo>
                    <a:pt x="1833581" y="15997"/>
                    <a:pt x="1837089" y="24467"/>
                    <a:pt x="1837089" y="33298"/>
                  </a:cubicBezTo>
                  <a:lnTo>
                    <a:pt x="1837089" y="674903"/>
                  </a:lnTo>
                  <a:cubicBezTo>
                    <a:pt x="1837089" y="683734"/>
                    <a:pt x="1833581" y="692204"/>
                    <a:pt x="1827336" y="698448"/>
                  </a:cubicBezTo>
                  <a:cubicBezTo>
                    <a:pt x="1821092" y="704693"/>
                    <a:pt x="1812622" y="708201"/>
                    <a:pt x="1803791" y="708201"/>
                  </a:cubicBezTo>
                  <a:lnTo>
                    <a:pt x="33298" y="708201"/>
                  </a:lnTo>
                  <a:cubicBezTo>
                    <a:pt x="14908" y="708201"/>
                    <a:pt x="0" y="693293"/>
                    <a:pt x="0" y="674903"/>
                  </a:cubicBezTo>
                  <a:lnTo>
                    <a:pt x="0" y="33298"/>
                  </a:lnTo>
                  <a:cubicBezTo>
                    <a:pt x="0" y="24467"/>
                    <a:pt x="3508" y="15997"/>
                    <a:pt x="9753" y="9753"/>
                  </a:cubicBezTo>
                  <a:cubicBezTo>
                    <a:pt x="15997" y="3508"/>
                    <a:pt x="24467" y="0"/>
                    <a:pt x="33298" y="0"/>
                  </a:cubicBezTo>
                  <a:close/>
                </a:path>
              </a:pathLst>
            </a:custGeom>
            <a:solidFill>
              <a:srgbClr val="FCFCFC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66675"/>
              <a:ext cx="1837089" cy="6415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49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309156" y="3884423"/>
            <a:ext cx="6975196" cy="2688950"/>
            <a:chOff x="0" y="0"/>
            <a:chExt cx="1837089" cy="70820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37089" cy="708201"/>
            </a:xfrm>
            <a:custGeom>
              <a:avLst/>
              <a:gdLst/>
              <a:ahLst/>
              <a:cxnLst/>
              <a:rect r="r" b="b" t="t" l="l"/>
              <a:pathLst>
                <a:path h="708201" w="1837089">
                  <a:moveTo>
                    <a:pt x="33298" y="0"/>
                  </a:moveTo>
                  <a:lnTo>
                    <a:pt x="1803791" y="0"/>
                  </a:lnTo>
                  <a:cubicBezTo>
                    <a:pt x="1812622" y="0"/>
                    <a:pt x="1821092" y="3508"/>
                    <a:pt x="1827336" y="9753"/>
                  </a:cubicBezTo>
                  <a:cubicBezTo>
                    <a:pt x="1833581" y="15997"/>
                    <a:pt x="1837089" y="24467"/>
                    <a:pt x="1837089" y="33298"/>
                  </a:cubicBezTo>
                  <a:lnTo>
                    <a:pt x="1837089" y="674903"/>
                  </a:lnTo>
                  <a:cubicBezTo>
                    <a:pt x="1837089" y="683734"/>
                    <a:pt x="1833581" y="692204"/>
                    <a:pt x="1827336" y="698448"/>
                  </a:cubicBezTo>
                  <a:cubicBezTo>
                    <a:pt x="1821092" y="704693"/>
                    <a:pt x="1812622" y="708201"/>
                    <a:pt x="1803791" y="708201"/>
                  </a:cubicBezTo>
                  <a:lnTo>
                    <a:pt x="33298" y="708201"/>
                  </a:lnTo>
                  <a:cubicBezTo>
                    <a:pt x="14908" y="708201"/>
                    <a:pt x="0" y="693293"/>
                    <a:pt x="0" y="674903"/>
                  </a:cubicBezTo>
                  <a:lnTo>
                    <a:pt x="0" y="33298"/>
                  </a:lnTo>
                  <a:cubicBezTo>
                    <a:pt x="0" y="24467"/>
                    <a:pt x="3508" y="15997"/>
                    <a:pt x="9753" y="9753"/>
                  </a:cubicBezTo>
                  <a:cubicBezTo>
                    <a:pt x="15997" y="3508"/>
                    <a:pt x="24467" y="0"/>
                    <a:pt x="33298" y="0"/>
                  </a:cubicBezTo>
                  <a:close/>
                </a:path>
              </a:pathLst>
            </a:custGeom>
            <a:solidFill>
              <a:srgbClr val="FCFCFC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66675"/>
              <a:ext cx="1837089" cy="6415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49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10800000">
            <a:off x="2003648" y="6754348"/>
            <a:ext cx="14285302" cy="2656020"/>
            <a:chOff x="0" y="0"/>
            <a:chExt cx="3332163" cy="61953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32163" cy="619538"/>
            </a:xfrm>
            <a:custGeom>
              <a:avLst/>
              <a:gdLst/>
              <a:ahLst/>
              <a:cxnLst/>
              <a:rect r="r" b="b" t="t" l="l"/>
              <a:pathLst>
                <a:path h="619538" w="3332163">
                  <a:moveTo>
                    <a:pt x="3255963" y="0"/>
                  </a:moveTo>
                  <a:cubicBezTo>
                    <a:pt x="3294063" y="0"/>
                    <a:pt x="3332163" y="25400"/>
                    <a:pt x="3332163" y="63500"/>
                  </a:cubicBezTo>
                  <a:lnTo>
                    <a:pt x="3332163" y="416338"/>
                  </a:lnTo>
                  <a:cubicBezTo>
                    <a:pt x="3332163" y="454438"/>
                    <a:pt x="3294063" y="492538"/>
                    <a:pt x="3255963" y="492538"/>
                  </a:cubicBezTo>
                  <a:lnTo>
                    <a:pt x="266700" y="492538"/>
                  </a:lnTo>
                  <a:lnTo>
                    <a:pt x="127000" y="619538"/>
                  </a:lnTo>
                  <a:lnTo>
                    <a:pt x="127000" y="492538"/>
                  </a:lnTo>
                  <a:lnTo>
                    <a:pt x="76200" y="492538"/>
                  </a:lnTo>
                  <a:cubicBezTo>
                    <a:pt x="38100" y="492538"/>
                    <a:pt x="0" y="454438"/>
                    <a:pt x="0" y="416338"/>
                  </a:cubicBezTo>
                  <a:lnTo>
                    <a:pt x="0" y="63500"/>
                  </a:lnTo>
                  <a:cubicBezTo>
                    <a:pt x="0" y="25400"/>
                    <a:pt x="38100" y="0"/>
                    <a:pt x="76200" y="0"/>
                  </a:cubicBezTo>
                  <a:lnTo>
                    <a:pt x="3255963" y="0"/>
                  </a:lnTo>
                  <a:close/>
                </a:path>
              </a:pathLst>
            </a:custGeom>
            <a:solidFill>
              <a:srgbClr val="CACACA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63500" y="130175"/>
              <a:ext cx="3205163" cy="2988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494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651231" y="612360"/>
            <a:ext cx="271148" cy="286173"/>
          </a:xfrm>
          <a:custGeom>
            <a:avLst/>
            <a:gdLst/>
            <a:ahLst/>
            <a:cxnLst/>
            <a:rect r="r" b="b" t="t" l="l"/>
            <a:pathLst>
              <a:path h="286173" w="271148">
                <a:moveTo>
                  <a:pt x="0" y="0"/>
                </a:moveTo>
                <a:lnTo>
                  <a:pt x="271148" y="0"/>
                </a:lnTo>
                <a:lnTo>
                  <a:pt x="271148" y="286172"/>
                </a:lnTo>
                <a:lnTo>
                  <a:pt x="0" y="286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7748364" y="621885"/>
            <a:ext cx="2791271" cy="231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b="true" sz="1600" spc="259">
                <a:solidFill>
                  <a:srgbClr val="15161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2026/09/08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6498500" y="9133151"/>
            <a:ext cx="760800" cy="554433"/>
          </a:xfrm>
          <a:custGeom>
            <a:avLst/>
            <a:gdLst/>
            <a:ahLst/>
            <a:cxnLst/>
            <a:rect r="r" b="b" t="t" l="l"/>
            <a:pathLst>
              <a:path h="554433" w="760800">
                <a:moveTo>
                  <a:pt x="0" y="0"/>
                </a:moveTo>
                <a:lnTo>
                  <a:pt x="760800" y="0"/>
                </a:lnTo>
                <a:lnTo>
                  <a:pt x="760800" y="554433"/>
                </a:lnTo>
                <a:lnTo>
                  <a:pt x="0" y="5544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563014" y="1957759"/>
            <a:ext cx="631771" cy="635745"/>
          </a:xfrm>
          <a:custGeom>
            <a:avLst/>
            <a:gdLst/>
            <a:ahLst/>
            <a:cxnLst/>
            <a:rect r="r" b="b" t="t" l="l"/>
            <a:pathLst>
              <a:path h="635745" w="631771">
                <a:moveTo>
                  <a:pt x="0" y="0"/>
                </a:moveTo>
                <a:lnTo>
                  <a:pt x="631772" y="0"/>
                </a:lnTo>
                <a:lnTo>
                  <a:pt x="631772" y="635745"/>
                </a:lnTo>
                <a:lnTo>
                  <a:pt x="0" y="63574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2439446" y="4500072"/>
            <a:ext cx="1457652" cy="1457652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1615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742180" y="4500072"/>
            <a:ext cx="1457652" cy="1457652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1615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2008246" y="2598104"/>
            <a:ext cx="9147698" cy="860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6500" b="true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프로젝트 최종 목표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008246" y="1986334"/>
            <a:ext cx="4023889" cy="303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2199" spc="204" b="true">
                <a:solidFill>
                  <a:srgbClr val="151615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Project Goals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438445" y="4982456"/>
            <a:ext cx="1435586" cy="533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3F4F3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목표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764246" y="4982381"/>
            <a:ext cx="1435586" cy="533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3F4F3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기능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246051" y="4613261"/>
            <a:ext cx="4271739" cy="1281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0"/>
              </a:lnSpc>
            </a:pPr>
            <a:r>
              <a:rPr lang="en-US" sz="16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컴퓨터비전 및 음성인식, LLM 등 다양한 AI 기술을 융합하여 장애인/고령자 등 디지털 취약 계층이 편리하게 사용할 수 있는 베리어프리 키오스크를 개발하는 것을 목표로 합니다.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590357" y="4555164"/>
            <a:ext cx="4271739" cy="1281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0"/>
              </a:lnSpc>
            </a:pPr>
            <a:r>
              <a:rPr lang="en-US" sz="16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LLM및 STT 기술을 활용하여 자연스럽게 대화 형식으로 메뉴 주문이 가능하게 합니다.</a:t>
            </a:r>
          </a:p>
          <a:p>
            <a:pPr algn="l">
              <a:lnSpc>
                <a:spcPts val="2560"/>
              </a:lnSpc>
            </a:pPr>
            <a:r>
              <a:rPr lang="en-US" sz="16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또한, 손이 닿지 않는 곳에 있어도 제스처 기능을 통하여 쉽게 주문이 가능하도록 구현합니다.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5138594" y="7735423"/>
            <a:ext cx="8341125" cy="1381137"/>
            <a:chOff x="0" y="0"/>
            <a:chExt cx="11121500" cy="1841516"/>
          </a:xfrm>
        </p:grpSpPr>
        <p:sp>
          <p:nvSpPr>
            <p:cNvPr name="TextBox 31" id="31"/>
            <p:cNvSpPr txBox="true"/>
            <p:nvPr/>
          </p:nvSpPr>
          <p:spPr>
            <a:xfrm rot="0">
              <a:off x="0" y="533669"/>
              <a:ext cx="9705207" cy="7075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479"/>
                </a:lnSpc>
                <a:spcBef>
                  <a:spcPct val="0"/>
                </a:spcBef>
              </a:pPr>
              <a:r>
                <a:rPr lang="en-US" b="true" sz="3199">
                  <a:solidFill>
                    <a:srgbClr val="151615"/>
                  </a:solidFill>
                  <a:latin typeface="네모고딕 Medium"/>
                  <a:ea typeface="네모고딕 Medium"/>
                  <a:cs typeface="네모고딕 Medium"/>
                  <a:sym typeface="네모고딕 Medium"/>
                </a:rPr>
                <a:t>음성 및 제스처 인식이 가능한 키오스크</a:t>
              </a:r>
            </a:p>
          </p:txBody>
        </p:sp>
        <p:sp>
          <p:nvSpPr>
            <p:cNvPr name="Freeform 32" id="32"/>
            <p:cNvSpPr/>
            <p:nvPr/>
          </p:nvSpPr>
          <p:spPr>
            <a:xfrm flipH="false" flipV="false" rot="0">
              <a:off x="9705207" y="0"/>
              <a:ext cx="1416293" cy="1841516"/>
            </a:xfrm>
            <a:custGeom>
              <a:avLst/>
              <a:gdLst/>
              <a:ahLst/>
              <a:cxnLst/>
              <a:rect r="r" b="b" t="t" l="l"/>
              <a:pathLst>
                <a:path h="1841516" w="1416293">
                  <a:moveTo>
                    <a:pt x="0" y="0"/>
                  </a:moveTo>
                  <a:lnTo>
                    <a:pt x="1416293" y="0"/>
                  </a:lnTo>
                  <a:lnTo>
                    <a:pt x="1416293" y="1841516"/>
                  </a:lnTo>
                  <a:lnTo>
                    <a:pt x="0" y="18415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028700" y="696005"/>
            <a:ext cx="5329013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1599"/>
              </a:lnSpc>
              <a:buAutoNum type="arabicPeriod" startAt="1"/>
            </a:pPr>
            <a:r>
              <a:rPr lang="en-US" sz="1599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 프로젝트 개요 및 목표 재확인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4512338" y="616360"/>
            <a:ext cx="3124432" cy="456813"/>
            <a:chOff x="0" y="0"/>
            <a:chExt cx="4165909" cy="609084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4165909" cy="609084"/>
              <a:chOff x="0" y="0"/>
              <a:chExt cx="822896" cy="120313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22896" cy="120313"/>
              </a:xfrm>
              <a:custGeom>
                <a:avLst/>
                <a:gdLst/>
                <a:ahLst/>
                <a:cxnLst/>
                <a:rect r="r" b="b" t="t" l="l"/>
                <a:pathLst>
                  <a:path h="120313" w="822896">
                    <a:moveTo>
                      <a:pt x="60156" y="0"/>
                    </a:moveTo>
                    <a:lnTo>
                      <a:pt x="762739" y="0"/>
                    </a:lnTo>
                    <a:cubicBezTo>
                      <a:pt x="795963" y="0"/>
                      <a:pt x="822896" y="26933"/>
                      <a:pt x="822896" y="60156"/>
                    </a:cubicBezTo>
                    <a:lnTo>
                      <a:pt x="822896" y="60156"/>
                    </a:lnTo>
                    <a:cubicBezTo>
                      <a:pt x="822896" y="93380"/>
                      <a:pt x="795963" y="120313"/>
                      <a:pt x="762739" y="120313"/>
                    </a:cubicBezTo>
                    <a:lnTo>
                      <a:pt x="60156" y="120313"/>
                    </a:lnTo>
                    <a:cubicBezTo>
                      <a:pt x="26933" y="120313"/>
                      <a:pt x="0" y="93380"/>
                      <a:pt x="0" y="60156"/>
                    </a:cubicBezTo>
                    <a:lnTo>
                      <a:pt x="0" y="60156"/>
                    </a:lnTo>
                    <a:cubicBezTo>
                      <a:pt x="0" y="26933"/>
                      <a:pt x="26933" y="0"/>
                      <a:pt x="60156" y="0"/>
                    </a:cubicBezTo>
                    <a:close/>
                  </a:path>
                </a:pathLst>
              </a:custGeom>
              <a:solidFill>
                <a:srgbClr val="151615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47625"/>
                <a:ext cx="822896" cy="1679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330136" y="188472"/>
              <a:ext cx="3505353" cy="2343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00"/>
                </a:lnSpc>
              </a:pPr>
              <a:r>
                <a:rPr lang="en-US" sz="1200">
                  <a:solidFill>
                    <a:srgbClr val="F3F4F3"/>
                  </a:solidFill>
                  <a:latin typeface="Poppins"/>
                  <a:ea typeface="Poppins"/>
                  <a:cs typeface="Poppins"/>
                  <a:sym typeface="Poppins"/>
                </a:rPr>
                <a:t>https://github.com/Capstone-F5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3938" y="0"/>
            <a:ext cx="20335875" cy="10287000"/>
            <a:chOff x="0" y="0"/>
            <a:chExt cx="271145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600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39850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6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2003648" y="3884423"/>
            <a:ext cx="14280704" cy="6910434"/>
            <a:chOff x="0" y="0"/>
            <a:chExt cx="3761173" cy="18200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61173" cy="1820032"/>
            </a:xfrm>
            <a:custGeom>
              <a:avLst/>
              <a:gdLst/>
              <a:ahLst/>
              <a:cxnLst/>
              <a:rect r="r" b="b" t="t" l="l"/>
              <a:pathLst>
                <a:path h="1820032" w="3761173">
                  <a:moveTo>
                    <a:pt x="21685" y="0"/>
                  </a:moveTo>
                  <a:lnTo>
                    <a:pt x="3739488" y="0"/>
                  </a:lnTo>
                  <a:cubicBezTo>
                    <a:pt x="3745239" y="0"/>
                    <a:pt x="3750755" y="2285"/>
                    <a:pt x="3754822" y="6351"/>
                  </a:cubicBezTo>
                  <a:cubicBezTo>
                    <a:pt x="3758888" y="10418"/>
                    <a:pt x="3761173" y="15934"/>
                    <a:pt x="3761173" y="21685"/>
                  </a:cubicBezTo>
                  <a:lnTo>
                    <a:pt x="3761173" y="1798347"/>
                  </a:lnTo>
                  <a:cubicBezTo>
                    <a:pt x="3761173" y="1804098"/>
                    <a:pt x="3758888" y="1809614"/>
                    <a:pt x="3754822" y="1813681"/>
                  </a:cubicBezTo>
                  <a:cubicBezTo>
                    <a:pt x="3750755" y="1817747"/>
                    <a:pt x="3745239" y="1820032"/>
                    <a:pt x="3739488" y="1820032"/>
                  </a:cubicBezTo>
                  <a:lnTo>
                    <a:pt x="21685" y="1820032"/>
                  </a:lnTo>
                  <a:cubicBezTo>
                    <a:pt x="15934" y="1820032"/>
                    <a:pt x="10418" y="1817747"/>
                    <a:pt x="6351" y="1813681"/>
                  </a:cubicBezTo>
                  <a:cubicBezTo>
                    <a:pt x="2285" y="1809614"/>
                    <a:pt x="0" y="1804098"/>
                    <a:pt x="0" y="1798347"/>
                  </a:cubicBezTo>
                  <a:lnTo>
                    <a:pt x="0" y="21685"/>
                  </a:lnTo>
                  <a:cubicBezTo>
                    <a:pt x="0" y="15934"/>
                    <a:pt x="2285" y="10418"/>
                    <a:pt x="6351" y="6351"/>
                  </a:cubicBezTo>
                  <a:cubicBezTo>
                    <a:pt x="10418" y="2285"/>
                    <a:pt x="15934" y="0"/>
                    <a:pt x="21685" y="0"/>
                  </a:cubicBezTo>
                  <a:close/>
                </a:path>
              </a:pathLst>
            </a:custGeom>
            <a:solidFill>
              <a:srgbClr val="FCFCFC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66675"/>
              <a:ext cx="3761173" cy="17533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494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51231" y="612360"/>
            <a:ext cx="271148" cy="286173"/>
          </a:xfrm>
          <a:custGeom>
            <a:avLst/>
            <a:gdLst/>
            <a:ahLst/>
            <a:cxnLst/>
            <a:rect r="r" b="b" t="t" l="l"/>
            <a:pathLst>
              <a:path h="286173" w="271148">
                <a:moveTo>
                  <a:pt x="0" y="0"/>
                </a:moveTo>
                <a:lnTo>
                  <a:pt x="271148" y="0"/>
                </a:lnTo>
                <a:lnTo>
                  <a:pt x="271148" y="286172"/>
                </a:lnTo>
                <a:lnTo>
                  <a:pt x="0" y="286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4512338" y="616360"/>
            <a:ext cx="3124432" cy="456888"/>
            <a:chOff x="0" y="0"/>
            <a:chExt cx="4165909" cy="609184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4165909" cy="609184"/>
              <a:chOff x="0" y="0"/>
              <a:chExt cx="822896" cy="120333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22896" cy="120333"/>
              </a:xfrm>
              <a:custGeom>
                <a:avLst/>
                <a:gdLst/>
                <a:ahLst/>
                <a:cxnLst/>
                <a:rect r="r" b="b" t="t" l="l"/>
                <a:pathLst>
                  <a:path h="120333" w="822896">
                    <a:moveTo>
                      <a:pt x="60166" y="0"/>
                    </a:moveTo>
                    <a:lnTo>
                      <a:pt x="762729" y="0"/>
                    </a:lnTo>
                    <a:cubicBezTo>
                      <a:pt x="795958" y="0"/>
                      <a:pt x="822896" y="26937"/>
                      <a:pt x="822896" y="60166"/>
                    </a:cubicBezTo>
                    <a:lnTo>
                      <a:pt x="822896" y="60166"/>
                    </a:lnTo>
                    <a:cubicBezTo>
                      <a:pt x="822896" y="93395"/>
                      <a:pt x="795958" y="120333"/>
                      <a:pt x="762729" y="120333"/>
                    </a:cubicBezTo>
                    <a:lnTo>
                      <a:pt x="60166" y="120333"/>
                    </a:lnTo>
                    <a:cubicBezTo>
                      <a:pt x="26937" y="120333"/>
                      <a:pt x="0" y="93395"/>
                      <a:pt x="0" y="60166"/>
                    </a:cubicBezTo>
                    <a:lnTo>
                      <a:pt x="0" y="60166"/>
                    </a:lnTo>
                    <a:cubicBezTo>
                      <a:pt x="0" y="26937"/>
                      <a:pt x="26937" y="0"/>
                      <a:pt x="60166" y="0"/>
                    </a:cubicBezTo>
                    <a:close/>
                  </a:path>
                </a:pathLst>
              </a:custGeom>
              <a:solidFill>
                <a:srgbClr val="151615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47625"/>
                <a:ext cx="822896" cy="167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330136" y="188472"/>
              <a:ext cx="3505353" cy="2344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00"/>
                </a:lnSpc>
              </a:pPr>
              <a:r>
                <a:rPr lang="en-US" sz="1200">
                  <a:solidFill>
                    <a:srgbClr val="F3F4F3"/>
                  </a:solidFill>
                  <a:latin typeface="Poppins"/>
                  <a:ea typeface="Poppins"/>
                  <a:cs typeface="Poppins"/>
                  <a:sym typeface="Poppins"/>
                </a:rPr>
                <a:t>https://github.com/Capstone-F5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6498500" y="9133151"/>
            <a:ext cx="760800" cy="554433"/>
          </a:xfrm>
          <a:custGeom>
            <a:avLst/>
            <a:gdLst/>
            <a:ahLst/>
            <a:cxnLst/>
            <a:rect r="r" b="b" t="t" l="l"/>
            <a:pathLst>
              <a:path h="554433" w="760800">
                <a:moveTo>
                  <a:pt x="0" y="0"/>
                </a:moveTo>
                <a:lnTo>
                  <a:pt x="760800" y="0"/>
                </a:lnTo>
                <a:lnTo>
                  <a:pt x="760800" y="554433"/>
                </a:lnTo>
                <a:lnTo>
                  <a:pt x="0" y="5544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554043" y="4792901"/>
            <a:ext cx="6147915" cy="5057006"/>
          </a:xfrm>
          <a:custGeom>
            <a:avLst/>
            <a:gdLst/>
            <a:ahLst/>
            <a:cxnLst/>
            <a:rect r="r" b="b" t="t" l="l"/>
            <a:pathLst>
              <a:path h="5057006" w="6147915">
                <a:moveTo>
                  <a:pt x="0" y="0"/>
                </a:moveTo>
                <a:lnTo>
                  <a:pt x="6147914" y="0"/>
                </a:lnTo>
                <a:lnTo>
                  <a:pt x="6147914" y="5057006"/>
                </a:lnTo>
                <a:lnTo>
                  <a:pt x="0" y="505700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328395" y="4277513"/>
            <a:ext cx="4489416" cy="5774169"/>
          </a:xfrm>
          <a:custGeom>
            <a:avLst/>
            <a:gdLst/>
            <a:ahLst/>
            <a:cxnLst/>
            <a:rect r="r" b="b" t="t" l="l"/>
            <a:pathLst>
              <a:path h="5774169" w="4489416">
                <a:moveTo>
                  <a:pt x="0" y="0"/>
                </a:moveTo>
                <a:lnTo>
                  <a:pt x="4489417" y="0"/>
                </a:lnTo>
                <a:lnTo>
                  <a:pt x="4489417" y="5774169"/>
                </a:lnTo>
                <a:lnTo>
                  <a:pt x="0" y="57741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748364" y="621885"/>
            <a:ext cx="2791271" cy="231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b="true" sz="1600" spc="259">
                <a:solidFill>
                  <a:srgbClr val="15161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2026/09/08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008246" y="2598104"/>
            <a:ext cx="9147698" cy="860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6500" b="true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주요 설계 결과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008246" y="1986334"/>
            <a:ext cx="4023889" cy="303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2199" spc="204" b="true">
                <a:solidFill>
                  <a:srgbClr val="151615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Desig</a:t>
            </a:r>
            <a:r>
              <a:rPr lang="en-US" b="true" sz="2199" spc="204">
                <a:solidFill>
                  <a:srgbClr val="151615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n Results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248813" y="4315613"/>
            <a:ext cx="4023889" cy="293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2199" spc="204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시스템 전체 구조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996769" y="4315613"/>
            <a:ext cx="4023889" cy="293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99"/>
              </a:lnSpc>
            </a:pPr>
            <a:r>
              <a:rPr lang="en-US" sz="2199" spc="204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기능흐름도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696005"/>
            <a:ext cx="5329013" cy="41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1599"/>
              </a:lnSpc>
              <a:buAutoNum type="arabicPeriod" startAt="1"/>
            </a:pPr>
            <a:r>
              <a:rPr lang="en-US" sz="1599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 1학기 분석·설계 결과와 변경사항</a:t>
            </a:r>
          </a:p>
          <a:p>
            <a:pPr algn="l">
              <a:lnSpc>
                <a:spcPts val="159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3938" y="149868"/>
            <a:ext cx="20335875" cy="10287000"/>
            <a:chOff x="0" y="0"/>
            <a:chExt cx="271145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600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39850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6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651231" y="612360"/>
            <a:ext cx="271148" cy="286173"/>
          </a:xfrm>
          <a:custGeom>
            <a:avLst/>
            <a:gdLst/>
            <a:ahLst/>
            <a:cxnLst/>
            <a:rect r="r" b="b" t="t" l="l"/>
            <a:pathLst>
              <a:path h="286173" w="271148">
                <a:moveTo>
                  <a:pt x="0" y="0"/>
                </a:moveTo>
                <a:lnTo>
                  <a:pt x="271148" y="0"/>
                </a:lnTo>
                <a:lnTo>
                  <a:pt x="271148" y="286172"/>
                </a:lnTo>
                <a:lnTo>
                  <a:pt x="0" y="286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3014" y="1957759"/>
            <a:ext cx="631771" cy="635745"/>
          </a:xfrm>
          <a:custGeom>
            <a:avLst/>
            <a:gdLst/>
            <a:ahLst/>
            <a:cxnLst/>
            <a:rect r="r" b="b" t="t" l="l"/>
            <a:pathLst>
              <a:path h="635745" w="631771">
                <a:moveTo>
                  <a:pt x="0" y="0"/>
                </a:moveTo>
                <a:lnTo>
                  <a:pt x="631772" y="0"/>
                </a:lnTo>
                <a:lnTo>
                  <a:pt x="631772" y="635745"/>
                </a:lnTo>
                <a:lnTo>
                  <a:pt x="0" y="6357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498500" y="9133151"/>
            <a:ext cx="760800" cy="554433"/>
          </a:xfrm>
          <a:custGeom>
            <a:avLst/>
            <a:gdLst/>
            <a:ahLst/>
            <a:cxnLst/>
            <a:rect r="r" b="b" t="t" l="l"/>
            <a:pathLst>
              <a:path h="554433" w="760800">
                <a:moveTo>
                  <a:pt x="0" y="0"/>
                </a:moveTo>
                <a:lnTo>
                  <a:pt x="760800" y="0"/>
                </a:lnTo>
                <a:lnTo>
                  <a:pt x="760800" y="554433"/>
                </a:lnTo>
                <a:lnTo>
                  <a:pt x="0" y="5544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6308725" y="4942115"/>
            <a:ext cx="0" cy="4489634"/>
          </a:xfrm>
          <a:prstGeom prst="line">
            <a:avLst/>
          </a:prstGeom>
          <a:ln cap="rnd" w="19050">
            <a:solidFill>
              <a:srgbClr val="89857F">
                <a:alpha val="32941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1934825" y="4942115"/>
            <a:ext cx="0" cy="4489634"/>
          </a:xfrm>
          <a:prstGeom prst="line">
            <a:avLst/>
          </a:prstGeom>
          <a:ln cap="rnd" w="19050">
            <a:solidFill>
              <a:srgbClr val="89857F">
                <a:alpha val="32941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4512338" y="616360"/>
            <a:ext cx="3124432" cy="456888"/>
            <a:chOff x="0" y="0"/>
            <a:chExt cx="4165909" cy="609184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4165909" cy="609184"/>
              <a:chOff x="0" y="0"/>
              <a:chExt cx="822896" cy="120333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22896" cy="120333"/>
              </a:xfrm>
              <a:custGeom>
                <a:avLst/>
                <a:gdLst/>
                <a:ahLst/>
                <a:cxnLst/>
                <a:rect r="r" b="b" t="t" l="l"/>
                <a:pathLst>
                  <a:path h="120333" w="822896">
                    <a:moveTo>
                      <a:pt x="60166" y="0"/>
                    </a:moveTo>
                    <a:lnTo>
                      <a:pt x="762729" y="0"/>
                    </a:lnTo>
                    <a:cubicBezTo>
                      <a:pt x="795958" y="0"/>
                      <a:pt x="822896" y="26937"/>
                      <a:pt x="822896" y="60166"/>
                    </a:cubicBezTo>
                    <a:lnTo>
                      <a:pt x="822896" y="60166"/>
                    </a:lnTo>
                    <a:cubicBezTo>
                      <a:pt x="822896" y="93395"/>
                      <a:pt x="795958" y="120333"/>
                      <a:pt x="762729" y="120333"/>
                    </a:cubicBezTo>
                    <a:lnTo>
                      <a:pt x="60166" y="120333"/>
                    </a:lnTo>
                    <a:cubicBezTo>
                      <a:pt x="26937" y="120333"/>
                      <a:pt x="0" y="93395"/>
                      <a:pt x="0" y="60166"/>
                    </a:cubicBezTo>
                    <a:lnTo>
                      <a:pt x="0" y="60166"/>
                    </a:lnTo>
                    <a:cubicBezTo>
                      <a:pt x="0" y="26937"/>
                      <a:pt x="26937" y="0"/>
                      <a:pt x="60166" y="0"/>
                    </a:cubicBezTo>
                    <a:close/>
                  </a:path>
                </a:pathLst>
              </a:custGeom>
              <a:solidFill>
                <a:srgbClr val="151615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47625"/>
                <a:ext cx="822896" cy="167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330136" y="188472"/>
              <a:ext cx="3505353" cy="2344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00"/>
                </a:lnSpc>
              </a:pPr>
              <a:r>
                <a:rPr lang="en-US" sz="1200">
                  <a:solidFill>
                    <a:srgbClr val="F3F4F3"/>
                  </a:solidFill>
                  <a:latin typeface="Poppins"/>
                  <a:ea typeface="Poppins"/>
                  <a:cs typeface="Poppins"/>
                  <a:sym typeface="Poppins"/>
                </a:rPr>
                <a:t>https://github.com/Capstone-F5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2632230" y="5146193"/>
            <a:ext cx="2067010" cy="2067010"/>
          </a:xfrm>
          <a:custGeom>
            <a:avLst/>
            <a:gdLst/>
            <a:ahLst/>
            <a:cxnLst/>
            <a:rect r="r" b="b" t="t" l="l"/>
            <a:pathLst>
              <a:path h="2067010" w="2067010">
                <a:moveTo>
                  <a:pt x="0" y="0"/>
                </a:moveTo>
                <a:lnTo>
                  <a:pt x="2067010" y="0"/>
                </a:lnTo>
                <a:lnTo>
                  <a:pt x="2067010" y="2067010"/>
                </a:lnTo>
                <a:lnTo>
                  <a:pt x="0" y="206701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3502" t="0" r="-13502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138889" y="5200287"/>
            <a:ext cx="2010223" cy="2010223"/>
          </a:xfrm>
          <a:custGeom>
            <a:avLst/>
            <a:gdLst/>
            <a:ahLst/>
            <a:cxnLst/>
            <a:rect r="r" b="b" t="t" l="l"/>
            <a:pathLst>
              <a:path h="2010223" w="2010223">
                <a:moveTo>
                  <a:pt x="0" y="0"/>
                </a:moveTo>
                <a:lnTo>
                  <a:pt x="2010222" y="0"/>
                </a:lnTo>
                <a:lnTo>
                  <a:pt x="2010222" y="2010223"/>
                </a:lnTo>
                <a:lnTo>
                  <a:pt x="0" y="201022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557797" y="5143500"/>
            <a:ext cx="2067010" cy="2067010"/>
          </a:xfrm>
          <a:custGeom>
            <a:avLst/>
            <a:gdLst/>
            <a:ahLst/>
            <a:cxnLst/>
            <a:rect r="r" b="b" t="t" l="l"/>
            <a:pathLst>
              <a:path h="2067010" w="2067010">
                <a:moveTo>
                  <a:pt x="0" y="0"/>
                </a:moveTo>
                <a:lnTo>
                  <a:pt x="2067010" y="0"/>
                </a:lnTo>
                <a:lnTo>
                  <a:pt x="2067010" y="2067010"/>
                </a:lnTo>
                <a:lnTo>
                  <a:pt x="0" y="206701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3309" r="0" b="-3309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508346" y="4429273"/>
            <a:ext cx="4371158" cy="33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6"/>
              </a:lnSpc>
            </a:pPr>
            <a:r>
              <a:rPr lang="en-US" b="true" sz="2600" spc="-78">
                <a:solidFill>
                  <a:srgbClr val="222222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CV 기반 사용자 인식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99336" y="7593699"/>
            <a:ext cx="4732799" cy="653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5"/>
              </a:lnSpc>
            </a:pPr>
            <a:r>
              <a:rPr lang="en-US" sz="2199" spc="-65">
                <a:solidFill>
                  <a:srgbClr val="222222"/>
                </a:solidFill>
                <a:latin typeface="네모고딕"/>
                <a:ea typeface="네모고딕"/>
                <a:cs typeface="네모고딕"/>
                <a:sym typeface="네모고딕"/>
              </a:rPr>
              <a:t>카메라가 휠체어나 흰 지팡이를 감지하여 사용자에 맞춤 모드를 자동 활성화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755376" y="7593699"/>
            <a:ext cx="4732799" cy="977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5"/>
              </a:lnSpc>
            </a:pPr>
            <a:r>
              <a:rPr lang="en-US" sz="2199" spc="-65">
                <a:solidFill>
                  <a:srgbClr val="222222"/>
                </a:solidFill>
                <a:latin typeface="네모고딕"/>
                <a:ea typeface="네모고딕"/>
                <a:cs typeface="네모고딕"/>
                <a:sym typeface="네모고딕"/>
              </a:rPr>
              <a:t>고성능 STT/TTS 파이프라인을 구축하여 북합적 자유 발화로 주문 완결을 </a:t>
            </a:r>
          </a:p>
          <a:p>
            <a:pPr algn="ctr">
              <a:lnSpc>
                <a:spcPts val="2595"/>
              </a:lnSpc>
            </a:pPr>
            <a:r>
              <a:rPr lang="en-US" sz="2199" spc="-65">
                <a:solidFill>
                  <a:srgbClr val="222222"/>
                </a:solidFill>
                <a:latin typeface="네모고딕"/>
                <a:ea typeface="네모고딕"/>
                <a:cs typeface="네모고딕"/>
                <a:sym typeface="네모고딕"/>
              </a:rPr>
              <a:t>가능하게 함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224902" y="7593699"/>
            <a:ext cx="4732799" cy="977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5"/>
              </a:lnSpc>
            </a:pPr>
            <a:r>
              <a:rPr lang="en-US" sz="2199" spc="-65">
                <a:solidFill>
                  <a:srgbClr val="222222"/>
                </a:solidFill>
                <a:latin typeface="네모고딕"/>
                <a:ea typeface="네모고딕"/>
                <a:cs typeface="네모고딕"/>
                <a:sym typeface="네모고딕"/>
              </a:rPr>
              <a:t>고성능 STT/TTS 파이프라인을 </a:t>
            </a:r>
          </a:p>
          <a:p>
            <a:pPr algn="ctr">
              <a:lnSpc>
                <a:spcPts val="2595"/>
              </a:lnSpc>
            </a:pPr>
            <a:r>
              <a:rPr lang="en-US" sz="2199" spc="-65">
                <a:solidFill>
                  <a:srgbClr val="222222"/>
                </a:solidFill>
                <a:latin typeface="네모고딕"/>
                <a:ea typeface="네모고딕"/>
                <a:cs typeface="네모고딕"/>
                <a:sym typeface="네모고딕"/>
              </a:rPr>
              <a:t>구축하여 북합적 자유 발화로 주문 </a:t>
            </a:r>
          </a:p>
          <a:p>
            <a:pPr algn="ctr">
              <a:lnSpc>
                <a:spcPts val="2595"/>
              </a:lnSpc>
            </a:pPr>
            <a:r>
              <a:rPr lang="en-US" sz="2199" spc="-65">
                <a:solidFill>
                  <a:srgbClr val="222222"/>
                </a:solidFill>
                <a:latin typeface="네모고딕"/>
                <a:ea typeface="네모고딕"/>
                <a:cs typeface="네모고딕"/>
                <a:sym typeface="네모고딕"/>
              </a:rPr>
              <a:t>완결을 가능하게 함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460201" y="4429273"/>
            <a:ext cx="3367004" cy="33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6"/>
              </a:lnSpc>
            </a:pPr>
            <a:r>
              <a:rPr lang="en-US" b="true" sz="2600" spc="-78">
                <a:solidFill>
                  <a:srgbClr val="222222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자연어 중심 양방향 대화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907800" y="4429273"/>
            <a:ext cx="3367004" cy="33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6"/>
              </a:lnSpc>
            </a:pPr>
            <a:r>
              <a:rPr lang="en-US" b="true" sz="2600" spc="-78">
                <a:solidFill>
                  <a:srgbClr val="222222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원격 비접촉 제어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748364" y="621885"/>
            <a:ext cx="2791271" cy="231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b="true" sz="1600" spc="259">
                <a:solidFill>
                  <a:srgbClr val="15161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2026/09/08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008246" y="2598104"/>
            <a:ext cx="9147698" cy="860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6500" b="true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주요 기능 정의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008246" y="1986334"/>
            <a:ext cx="4023889" cy="303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2199" spc="204" b="true">
                <a:solidFill>
                  <a:srgbClr val="151615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Defined Feature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8700" y="696005"/>
            <a:ext cx="5329013" cy="41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1599"/>
              </a:lnSpc>
              <a:buAutoNum type="arabicPeriod" startAt="1"/>
            </a:pPr>
            <a:r>
              <a:rPr lang="en-US" sz="1599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 1학기 분석·설계 결과와 변경사항</a:t>
            </a:r>
          </a:p>
          <a:p>
            <a:pPr algn="l">
              <a:lnSpc>
                <a:spcPts val="159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16760" y="1454292"/>
            <a:ext cx="8867592" cy="8832708"/>
            <a:chOff x="0" y="0"/>
            <a:chExt cx="2335497" cy="23263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5497" cy="2326310"/>
            </a:xfrm>
            <a:custGeom>
              <a:avLst/>
              <a:gdLst/>
              <a:ahLst/>
              <a:cxnLst/>
              <a:rect r="r" b="b" t="t" l="l"/>
              <a:pathLst>
                <a:path h="2326310" w="2335497">
                  <a:moveTo>
                    <a:pt x="34922" y="0"/>
                  </a:moveTo>
                  <a:lnTo>
                    <a:pt x="2300575" y="0"/>
                  </a:lnTo>
                  <a:cubicBezTo>
                    <a:pt x="2309837" y="0"/>
                    <a:pt x="2318720" y="3679"/>
                    <a:pt x="2325269" y="10229"/>
                  </a:cubicBezTo>
                  <a:cubicBezTo>
                    <a:pt x="2331818" y="16778"/>
                    <a:pt x="2335497" y="25660"/>
                    <a:pt x="2335497" y="34922"/>
                  </a:cubicBezTo>
                  <a:lnTo>
                    <a:pt x="2335497" y="2291388"/>
                  </a:lnTo>
                  <a:cubicBezTo>
                    <a:pt x="2335497" y="2300650"/>
                    <a:pt x="2331818" y="2309532"/>
                    <a:pt x="2325269" y="2316082"/>
                  </a:cubicBezTo>
                  <a:cubicBezTo>
                    <a:pt x="2318720" y="2322631"/>
                    <a:pt x="2309837" y="2326310"/>
                    <a:pt x="2300575" y="2326310"/>
                  </a:cubicBezTo>
                  <a:lnTo>
                    <a:pt x="34922" y="2326310"/>
                  </a:lnTo>
                  <a:cubicBezTo>
                    <a:pt x="25660" y="2326310"/>
                    <a:pt x="16778" y="2322631"/>
                    <a:pt x="10229" y="2316082"/>
                  </a:cubicBezTo>
                  <a:cubicBezTo>
                    <a:pt x="3679" y="2309532"/>
                    <a:pt x="0" y="2300650"/>
                    <a:pt x="0" y="2291388"/>
                  </a:cubicBezTo>
                  <a:lnTo>
                    <a:pt x="0" y="34922"/>
                  </a:lnTo>
                  <a:cubicBezTo>
                    <a:pt x="0" y="25660"/>
                    <a:pt x="3679" y="16778"/>
                    <a:pt x="10229" y="10229"/>
                  </a:cubicBezTo>
                  <a:cubicBezTo>
                    <a:pt x="16778" y="3679"/>
                    <a:pt x="25660" y="0"/>
                    <a:pt x="34922" y="0"/>
                  </a:cubicBezTo>
                  <a:close/>
                </a:path>
              </a:pathLst>
            </a:custGeom>
            <a:solidFill>
              <a:srgbClr val="FCFCFC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2335497" cy="22596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49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023938" y="0"/>
            <a:ext cx="20335875" cy="10287000"/>
            <a:chOff x="0" y="0"/>
            <a:chExt cx="27114500" cy="1371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600"/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339850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6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651231" y="612360"/>
            <a:ext cx="271148" cy="286173"/>
          </a:xfrm>
          <a:custGeom>
            <a:avLst/>
            <a:gdLst/>
            <a:ahLst/>
            <a:cxnLst/>
            <a:rect r="r" b="b" t="t" l="l"/>
            <a:pathLst>
              <a:path h="286173" w="271148">
                <a:moveTo>
                  <a:pt x="0" y="0"/>
                </a:moveTo>
                <a:lnTo>
                  <a:pt x="271148" y="0"/>
                </a:lnTo>
                <a:lnTo>
                  <a:pt x="271148" y="286172"/>
                </a:lnTo>
                <a:lnTo>
                  <a:pt x="0" y="286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4512338" y="616360"/>
            <a:ext cx="3124432" cy="456888"/>
            <a:chOff x="0" y="0"/>
            <a:chExt cx="4165909" cy="609184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4165909" cy="609184"/>
              <a:chOff x="0" y="0"/>
              <a:chExt cx="822896" cy="120333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22896" cy="120333"/>
              </a:xfrm>
              <a:custGeom>
                <a:avLst/>
                <a:gdLst/>
                <a:ahLst/>
                <a:cxnLst/>
                <a:rect r="r" b="b" t="t" l="l"/>
                <a:pathLst>
                  <a:path h="120333" w="822896">
                    <a:moveTo>
                      <a:pt x="60166" y="0"/>
                    </a:moveTo>
                    <a:lnTo>
                      <a:pt x="762729" y="0"/>
                    </a:lnTo>
                    <a:cubicBezTo>
                      <a:pt x="795958" y="0"/>
                      <a:pt x="822896" y="26937"/>
                      <a:pt x="822896" y="60166"/>
                    </a:cubicBezTo>
                    <a:lnTo>
                      <a:pt x="822896" y="60166"/>
                    </a:lnTo>
                    <a:cubicBezTo>
                      <a:pt x="822896" y="93395"/>
                      <a:pt x="795958" y="120333"/>
                      <a:pt x="762729" y="120333"/>
                    </a:cubicBezTo>
                    <a:lnTo>
                      <a:pt x="60166" y="120333"/>
                    </a:lnTo>
                    <a:cubicBezTo>
                      <a:pt x="26937" y="120333"/>
                      <a:pt x="0" y="93395"/>
                      <a:pt x="0" y="60166"/>
                    </a:cubicBezTo>
                    <a:lnTo>
                      <a:pt x="0" y="60166"/>
                    </a:lnTo>
                    <a:cubicBezTo>
                      <a:pt x="0" y="26937"/>
                      <a:pt x="26937" y="0"/>
                      <a:pt x="60166" y="0"/>
                    </a:cubicBezTo>
                    <a:close/>
                  </a:path>
                </a:pathLst>
              </a:custGeom>
              <a:solidFill>
                <a:srgbClr val="151615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47625"/>
                <a:ext cx="822896" cy="167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330136" y="188472"/>
              <a:ext cx="3505353" cy="2344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00"/>
                </a:lnSpc>
              </a:pPr>
              <a:r>
                <a:rPr lang="en-US" sz="1200">
                  <a:solidFill>
                    <a:srgbClr val="F3F4F3"/>
                  </a:solidFill>
                  <a:latin typeface="Poppins"/>
                  <a:ea typeface="Poppins"/>
                  <a:cs typeface="Poppins"/>
                  <a:sym typeface="Poppins"/>
                </a:rPr>
                <a:t>https://github.com/Capstone-F5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6498500" y="9133151"/>
            <a:ext cx="760800" cy="554433"/>
          </a:xfrm>
          <a:custGeom>
            <a:avLst/>
            <a:gdLst/>
            <a:ahLst/>
            <a:cxnLst/>
            <a:rect r="r" b="b" t="t" l="l"/>
            <a:pathLst>
              <a:path h="554433" w="760800">
                <a:moveTo>
                  <a:pt x="0" y="0"/>
                </a:moveTo>
                <a:lnTo>
                  <a:pt x="760800" y="0"/>
                </a:lnTo>
                <a:lnTo>
                  <a:pt x="760800" y="554433"/>
                </a:lnTo>
                <a:lnTo>
                  <a:pt x="0" y="5544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828913" y="1843274"/>
            <a:ext cx="8043286" cy="8054744"/>
          </a:xfrm>
          <a:custGeom>
            <a:avLst/>
            <a:gdLst/>
            <a:ahLst/>
            <a:cxnLst/>
            <a:rect r="r" b="b" t="t" l="l"/>
            <a:pathLst>
              <a:path h="8054744" w="8043286">
                <a:moveTo>
                  <a:pt x="0" y="0"/>
                </a:moveTo>
                <a:lnTo>
                  <a:pt x="8043286" y="0"/>
                </a:lnTo>
                <a:lnTo>
                  <a:pt x="8043286" y="8054744"/>
                </a:lnTo>
                <a:lnTo>
                  <a:pt x="0" y="80547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748364" y="621885"/>
            <a:ext cx="2791271" cy="231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b="true" sz="1600" spc="259">
                <a:solidFill>
                  <a:srgbClr val="15161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2026/09/08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07664" y="2598104"/>
            <a:ext cx="9147698" cy="1679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6500" b="true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1학기</a:t>
            </a:r>
          </a:p>
          <a:p>
            <a:pPr algn="l">
              <a:lnSpc>
                <a:spcPts val="6500"/>
              </a:lnSpc>
            </a:pPr>
            <a:r>
              <a:rPr lang="en-US" sz="6500" b="true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주요 설계 결과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07664" y="1986334"/>
            <a:ext cx="5481842" cy="303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2199" spc="204" b="true">
                <a:solidFill>
                  <a:srgbClr val="151615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First Semester Desig</a:t>
            </a:r>
            <a:r>
              <a:rPr lang="en-US" b="true" sz="2199" spc="204">
                <a:solidFill>
                  <a:srgbClr val="151615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n Results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985404" y="9725684"/>
            <a:ext cx="4023889" cy="293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99"/>
              </a:lnSpc>
            </a:pPr>
            <a:r>
              <a:rPr lang="en-US" sz="2199" spc="204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E-R 다이어그램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696005"/>
            <a:ext cx="5329013" cy="41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1599"/>
              </a:lnSpc>
              <a:buAutoNum type="arabicPeriod" startAt="1"/>
            </a:pPr>
            <a:r>
              <a:rPr lang="en-US" sz="1599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 </a:t>
            </a:r>
            <a:r>
              <a:rPr lang="en-US" b="true" sz="1599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1학기 분석·설계 결과와 변경사항</a:t>
            </a:r>
          </a:p>
          <a:p>
            <a:pPr algn="l">
              <a:lnSpc>
                <a:spcPts val="159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3938" y="0"/>
            <a:ext cx="20335875" cy="10287000"/>
            <a:chOff x="0" y="0"/>
            <a:chExt cx="271145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600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39850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6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2003648" y="3884423"/>
            <a:ext cx="14280704" cy="6910434"/>
            <a:chOff x="0" y="0"/>
            <a:chExt cx="3761173" cy="18200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61173" cy="1820032"/>
            </a:xfrm>
            <a:custGeom>
              <a:avLst/>
              <a:gdLst/>
              <a:ahLst/>
              <a:cxnLst/>
              <a:rect r="r" b="b" t="t" l="l"/>
              <a:pathLst>
                <a:path h="1820032" w="3761173">
                  <a:moveTo>
                    <a:pt x="21685" y="0"/>
                  </a:moveTo>
                  <a:lnTo>
                    <a:pt x="3739488" y="0"/>
                  </a:lnTo>
                  <a:cubicBezTo>
                    <a:pt x="3745239" y="0"/>
                    <a:pt x="3750755" y="2285"/>
                    <a:pt x="3754822" y="6351"/>
                  </a:cubicBezTo>
                  <a:cubicBezTo>
                    <a:pt x="3758888" y="10418"/>
                    <a:pt x="3761173" y="15934"/>
                    <a:pt x="3761173" y="21685"/>
                  </a:cubicBezTo>
                  <a:lnTo>
                    <a:pt x="3761173" y="1798347"/>
                  </a:lnTo>
                  <a:cubicBezTo>
                    <a:pt x="3761173" y="1804098"/>
                    <a:pt x="3758888" y="1809614"/>
                    <a:pt x="3754822" y="1813681"/>
                  </a:cubicBezTo>
                  <a:cubicBezTo>
                    <a:pt x="3750755" y="1817747"/>
                    <a:pt x="3745239" y="1820032"/>
                    <a:pt x="3739488" y="1820032"/>
                  </a:cubicBezTo>
                  <a:lnTo>
                    <a:pt x="21685" y="1820032"/>
                  </a:lnTo>
                  <a:cubicBezTo>
                    <a:pt x="15934" y="1820032"/>
                    <a:pt x="10418" y="1817747"/>
                    <a:pt x="6351" y="1813681"/>
                  </a:cubicBezTo>
                  <a:cubicBezTo>
                    <a:pt x="2285" y="1809614"/>
                    <a:pt x="0" y="1804098"/>
                    <a:pt x="0" y="1798347"/>
                  </a:cubicBezTo>
                  <a:lnTo>
                    <a:pt x="0" y="21685"/>
                  </a:lnTo>
                  <a:cubicBezTo>
                    <a:pt x="0" y="15934"/>
                    <a:pt x="2285" y="10418"/>
                    <a:pt x="6351" y="6351"/>
                  </a:cubicBezTo>
                  <a:cubicBezTo>
                    <a:pt x="10418" y="2285"/>
                    <a:pt x="15934" y="0"/>
                    <a:pt x="21685" y="0"/>
                  </a:cubicBezTo>
                  <a:close/>
                </a:path>
              </a:pathLst>
            </a:custGeom>
            <a:solidFill>
              <a:srgbClr val="FCFCFC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66675"/>
              <a:ext cx="3761173" cy="17533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494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51231" y="612360"/>
            <a:ext cx="271148" cy="286173"/>
          </a:xfrm>
          <a:custGeom>
            <a:avLst/>
            <a:gdLst/>
            <a:ahLst/>
            <a:cxnLst/>
            <a:rect r="r" b="b" t="t" l="l"/>
            <a:pathLst>
              <a:path h="286173" w="271148">
                <a:moveTo>
                  <a:pt x="0" y="0"/>
                </a:moveTo>
                <a:lnTo>
                  <a:pt x="271148" y="0"/>
                </a:lnTo>
                <a:lnTo>
                  <a:pt x="271148" y="286172"/>
                </a:lnTo>
                <a:lnTo>
                  <a:pt x="0" y="286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4512338" y="616360"/>
            <a:ext cx="3124432" cy="456888"/>
            <a:chOff x="0" y="0"/>
            <a:chExt cx="4165909" cy="609184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4165909" cy="609184"/>
              <a:chOff x="0" y="0"/>
              <a:chExt cx="822896" cy="120333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22896" cy="120333"/>
              </a:xfrm>
              <a:custGeom>
                <a:avLst/>
                <a:gdLst/>
                <a:ahLst/>
                <a:cxnLst/>
                <a:rect r="r" b="b" t="t" l="l"/>
                <a:pathLst>
                  <a:path h="120333" w="822896">
                    <a:moveTo>
                      <a:pt x="60166" y="0"/>
                    </a:moveTo>
                    <a:lnTo>
                      <a:pt x="762729" y="0"/>
                    </a:lnTo>
                    <a:cubicBezTo>
                      <a:pt x="795958" y="0"/>
                      <a:pt x="822896" y="26937"/>
                      <a:pt x="822896" y="60166"/>
                    </a:cubicBezTo>
                    <a:lnTo>
                      <a:pt x="822896" y="60166"/>
                    </a:lnTo>
                    <a:cubicBezTo>
                      <a:pt x="822896" y="93395"/>
                      <a:pt x="795958" y="120333"/>
                      <a:pt x="762729" y="120333"/>
                    </a:cubicBezTo>
                    <a:lnTo>
                      <a:pt x="60166" y="120333"/>
                    </a:lnTo>
                    <a:cubicBezTo>
                      <a:pt x="26937" y="120333"/>
                      <a:pt x="0" y="93395"/>
                      <a:pt x="0" y="60166"/>
                    </a:cubicBezTo>
                    <a:lnTo>
                      <a:pt x="0" y="60166"/>
                    </a:lnTo>
                    <a:cubicBezTo>
                      <a:pt x="0" y="26937"/>
                      <a:pt x="26937" y="0"/>
                      <a:pt x="60166" y="0"/>
                    </a:cubicBezTo>
                    <a:close/>
                  </a:path>
                </a:pathLst>
              </a:custGeom>
              <a:solidFill>
                <a:srgbClr val="151615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47625"/>
                <a:ext cx="822896" cy="167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330136" y="188472"/>
              <a:ext cx="3505353" cy="2344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00"/>
                </a:lnSpc>
              </a:pPr>
              <a:r>
                <a:rPr lang="en-US" sz="1200">
                  <a:solidFill>
                    <a:srgbClr val="F3F4F3"/>
                  </a:solidFill>
                  <a:latin typeface="Poppins"/>
                  <a:ea typeface="Poppins"/>
                  <a:cs typeface="Poppins"/>
                  <a:sym typeface="Poppins"/>
                </a:rPr>
                <a:t>https://github.com/Capstone-F5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6498500" y="9133151"/>
            <a:ext cx="760800" cy="554433"/>
          </a:xfrm>
          <a:custGeom>
            <a:avLst/>
            <a:gdLst/>
            <a:ahLst/>
            <a:cxnLst/>
            <a:rect r="r" b="b" t="t" l="l"/>
            <a:pathLst>
              <a:path h="554433" w="760800">
                <a:moveTo>
                  <a:pt x="0" y="0"/>
                </a:moveTo>
                <a:lnTo>
                  <a:pt x="760800" y="0"/>
                </a:lnTo>
                <a:lnTo>
                  <a:pt x="760800" y="554433"/>
                </a:lnTo>
                <a:lnTo>
                  <a:pt x="0" y="5544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7748364" y="621885"/>
            <a:ext cx="2791271" cy="231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b="true" sz="1600" spc="259">
                <a:solidFill>
                  <a:srgbClr val="15161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2026/09/08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08246" y="2598104"/>
            <a:ext cx="9147698" cy="860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6500" b="true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1학기 주요 설계 결과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08246" y="1986334"/>
            <a:ext cx="8369438" cy="303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2199" spc="204" b="true">
                <a:solidFill>
                  <a:srgbClr val="151615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First Semester Desig</a:t>
            </a:r>
            <a:r>
              <a:rPr lang="en-US" b="true" sz="2199" spc="204">
                <a:solidFill>
                  <a:srgbClr val="151615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n Results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33825" y="4192012"/>
            <a:ext cx="4023889" cy="293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2199" spc="204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데이터 및 AI 모델 설계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696005"/>
            <a:ext cx="5329013" cy="41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1599"/>
              </a:lnSpc>
              <a:buAutoNum type="arabicPeriod" startAt="1"/>
            </a:pPr>
            <a:r>
              <a:rPr lang="en-US" sz="1599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 </a:t>
            </a:r>
            <a:r>
              <a:rPr lang="en-US" b="true" sz="1599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1학기 분석·설계 결과와 변경사항</a:t>
            </a:r>
          </a:p>
          <a:p>
            <a:pPr algn="l">
              <a:lnSpc>
                <a:spcPts val="1599"/>
              </a:lnSpc>
            </a:pPr>
          </a:p>
        </p:txBody>
      </p:sp>
      <p:grpSp>
        <p:nvGrpSpPr>
          <p:cNvPr name="Group 20" id="20"/>
          <p:cNvGrpSpPr/>
          <p:nvPr/>
        </p:nvGrpSpPr>
        <p:grpSpPr>
          <a:xfrm rot="0">
            <a:off x="2600325" y="5124117"/>
            <a:ext cx="3143250" cy="4286250"/>
            <a:chOff x="0" y="0"/>
            <a:chExt cx="4191000" cy="5715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191000" cy="5715000"/>
            </a:xfrm>
            <a:custGeom>
              <a:avLst/>
              <a:gdLst/>
              <a:ahLst/>
              <a:cxnLst/>
              <a:rect r="r" b="b" t="t" l="l"/>
              <a:pathLst>
                <a:path h="5715000" w="4191000">
                  <a:moveTo>
                    <a:pt x="152400" y="0"/>
                  </a:moveTo>
                  <a:lnTo>
                    <a:pt x="4038600" y="0"/>
                  </a:lnTo>
                  <a:cubicBezTo>
                    <a:pt x="4122768" y="0"/>
                    <a:pt x="4191000" y="68232"/>
                    <a:pt x="4191000" y="152400"/>
                  </a:cubicBezTo>
                  <a:lnTo>
                    <a:pt x="4191000" y="5562600"/>
                  </a:lnTo>
                  <a:cubicBezTo>
                    <a:pt x="4191000" y="5646768"/>
                    <a:pt x="4122768" y="5715000"/>
                    <a:pt x="4038600" y="5715000"/>
                  </a:cubicBezTo>
                  <a:lnTo>
                    <a:pt x="152400" y="5715000"/>
                  </a:lnTo>
                  <a:cubicBezTo>
                    <a:pt x="68232" y="5715000"/>
                    <a:pt x="0" y="5646768"/>
                    <a:pt x="0" y="5562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5E5E5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4191000" cy="575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600325" y="5124117"/>
            <a:ext cx="3143250" cy="952500"/>
            <a:chOff x="0" y="0"/>
            <a:chExt cx="4191000" cy="1270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191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4191000">
                  <a:moveTo>
                    <a:pt x="152400" y="0"/>
                  </a:moveTo>
                  <a:lnTo>
                    <a:pt x="4038600" y="0"/>
                  </a:lnTo>
                  <a:cubicBezTo>
                    <a:pt x="4122768" y="0"/>
                    <a:pt x="4191000" y="68232"/>
                    <a:pt x="4191000" y="152400"/>
                  </a:cubicBezTo>
                  <a:lnTo>
                    <a:pt x="4191000" y="1117600"/>
                  </a:lnTo>
                  <a:cubicBezTo>
                    <a:pt x="4191000" y="1201768"/>
                    <a:pt x="4122768" y="1270000"/>
                    <a:pt x="4038600" y="1270000"/>
                  </a:cubicBezTo>
                  <a:lnTo>
                    <a:pt x="152400" y="1270000"/>
                  </a:lnTo>
                  <a:cubicBezTo>
                    <a:pt x="68232" y="1270000"/>
                    <a:pt x="0" y="1201768"/>
                    <a:pt x="0" y="1117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E8A30C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4191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600325" y="5962317"/>
            <a:ext cx="3143250" cy="114300"/>
            <a:chOff x="0" y="0"/>
            <a:chExt cx="4191000" cy="152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191000" cy="152400"/>
            </a:xfrm>
            <a:custGeom>
              <a:avLst/>
              <a:gdLst/>
              <a:ahLst/>
              <a:cxnLst/>
              <a:rect r="r" b="b" t="t" l="l"/>
              <a:pathLst>
                <a:path h="152400" w="4191000">
                  <a:moveTo>
                    <a:pt x="0" y="0"/>
                  </a:moveTo>
                  <a:lnTo>
                    <a:pt x="4191000" y="0"/>
                  </a:lnTo>
                  <a:lnTo>
                    <a:pt x="4191000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E0B52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4191000" cy="19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010025" y="4962192"/>
            <a:ext cx="323850" cy="323850"/>
            <a:chOff x="0" y="0"/>
            <a:chExt cx="431800" cy="431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31800" cy="431800"/>
            </a:xfrm>
            <a:custGeom>
              <a:avLst/>
              <a:gdLst/>
              <a:ahLst/>
              <a:cxnLst/>
              <a:rect r="r" b="b" t="t" l="l"/>
              <a:pathLst>
                <a:path h="431800" w="431800">
                  <a:moveTo>
                    <a:pt x="0" y="215900"/>
                  </a:moveTo>
                  <a:cubicBezTo>
                    <a:pt x="0" y="335138"/>
                    <a:pt x="96662" y="431800"/>
                    <a:pt x="215900" y="431800"/>
                  </a:cubicBezTo>
                  <a:cubicBezTo>
                    <a:pt x="335138" y="431800"/>
                    <a:pt x="431800" y="335138"/>
                    <a:pt x="431800" y="215900"/>
                  </a:cubicBezTo>
                  <a:cubicBezTo>
                    <a:pt x="431800" y="96662"/>
                    <a:pt x="335138" y="0"/>
                    <a:pt x="215900" y="0"/>
                  </a:cubicBezTo>
                  <a:cubicBezTo>
                    <a:pt x="96662" y="0"/>
                    <a:pt x="0" y="96662"/>
                    <a:pt x="0" y="215900"/>
                  </a:cubicBez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431800" cy="4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99"/>
                </a:lnSpc>
              </a:pPr>
              <a:r>
                <a:rPr lang="en-US" sz="999" b="true">
                  <a:solidFill>
                    <a:srgbClr val="FFFFFF"/>
                  </a:solidFill>
                  <a:latin typeface="네모고딕 Medium"/>
                  <a:ea typeface="네모고딕 Medium"/>
                  <a:cs typeface="네모고딕 Medium"/>
                  <a:sym typeface="네모고딕 Medium"/>
                </a:rPr>
                <a:t>01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2771775" y="5390817"/>
            <a:ext cx="2800350" cy="21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7"/>
              </a:lnSpc>
            </a:pPr>
            <a:r>
              <a:rPr lang="en-US" sz="1550" b="true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OpenAI Whisper API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2600325" y="6076617"/>
            <a:ext cx="3143250" cy="9525"/>
            <a:chOff x="0" y="0"/>
            <a:chExt cx="4191000" cy="127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191000" cy="12700"/>
            </a:xfrm>
            <a:custGeom>
              <a:avLst/>
              <a:gdLst/>
              <a:ahLst/>
              <a:cxnLst/>
              <a:rect r="r" b="b" t="t" l="l"/>
              <a:pathLst>
                <a:path h="12700" w="4191000">
                  <a:moveTo>
                    <a:pt x="0" y="0"/>
                  </a:moveTo>
                  <a:lnTo>
                    <a:pt x="4191000" y="0"/>
                  </a:lnTo>
                  <a:lnTo>
                    <a:pt x="4191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9C7FB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4191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2790825" y="6295692"/>
            <a:ext cx="2762250" cy="2099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2"/>
              </a:lnSpc>
            </a:pPr>
            <a:r>
              <a:rPr lang="en-US" sz="14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•  엔드포인트: /ai_modules/stt</a:t>
            </a:r>
          </a:p>
          <a:p>
            <a:pPr algn="l">
              <a:lnSpc>
                <a:spcPts val="1652"/>
              </a:lnSpc>
            </a:pPr>
          </a:p>
          <a:p>
            <a:pPr algn="l">
              <a:lnSpc>
                <a:spcPts val="1652"/>
              </a:lnSpc>
            </a:pPr>
            <a:r>
              <a:rPr lang="en-US" sz="14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•  소음 환경 최적화 · 다국어 음성 → 텍스트</a:t>
            </a:r>
          </a:p>
          <a:p>
            <a:pPr algn="l">
              <a:lnSpc>
                <a:spcPts val="1652"/>
              </a:lnSpc>
            </a:pPr>
          </a:p>
          <a:p>
            <a:pPr algn="l">
              <a:lnSpc>
                <a:spcPts val="1652"/>
              </a:lnSpc>
            </a:pPr>
            <a:r>
              <a:rPr lang="en-US" sz="14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•  언어 파라미터 설정 시 자동 검출 (Zero-shot ID)</a:t>
            </a:r>
          </a:p>
          <a:p>
            <a:pPr algn="l">
              <a:lnSpc>
                <a:spcPts val="1652"/>
              </a:lnSpc>
            </a:pPr>
          </a:p>
          <a:p>
            <a:pPr algn="l">
              <a:lnSpc>
                <a:spcPts val="1652"/>
              </a:lnSpc>
            </a:pPr>
            <a:r>
              <a:rPr lang="en-US" sz="14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•  FastAPI 비동기 호출로 로딩 </a:t>
            </a:r>
          </a:p>
          <a:p>
            <a:pPr algn="l">
              <a:lnSpc>
                <a:spcPts val="1652"/>
              </a:lnSpc>
            </a:pPr>
            <a:r>
              <a:rPr lang="en-US" sz="14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방지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5915025" y="5124117"/>
            <a:ext cx="3143250" cy="4286250"/>
            <a:chOff x="0" y="0"/>
            <a:chExt cx="4191000" cy="57150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191000" cy="5715000"/>
            </a:xfrm>
            <a:custGeom>
              <a:avLst/>
              <a:gdLst/>
              <a:ahLst/>
              <a:cxnLst/>
              <a:rect r="r" b="b" t="t" l="l"/>
              <a:pathLst>
                <a:path h="5715000" w="4191000">
                  <a:moveTo>
                    <a:pt x="152400" y="0"/>
                  </a:moveTo>
                  <a:lnTo>
                    <a:pt x="4038600" y="0"/>
                  </a:lnTo>
                  <a:cubicBezTo>
                    <a:pt x="4122768" y="0"/>
                    <a:pt x="4191000" y="68232"/>
                    <a:pt x="4191000" y="152400"/>
                  </a:cubicBezTo>
                  <a:lnTo>
                    <a:pt x="4191000" y="5562600"/>
                  </a:lnTo>
                  <a:cubicBezTo>
                    <a:pt x="4191000" y="5646768"/>
                    <a:pt x="4122768" y="5715000"/>
                    <a:pt x="4038600" y="5715000"/>
                  </a:cubicBezTo>
                  <a:lnTo>
                    <a:pt x="152400" y="5715000"/>
                  </a:lnTo>
                  <a:cubicBezTo>
                    <a:pt x="68232" y="5715000"/>
                    <a:pt x="0" y="5646768"/>
                    <a:pt x="0" y="5562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5E5E5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4191000" cy="575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5915025" y="5124117"/>
            <a:ext cx="3143250" cy="952500"/>
            <a:chOff x="0" y="0"/>
            <a:chExt cx="4191000" cy="12700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191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4191000">
                  <a:moveTo>
                    <a:pt x="152400" y="0"/>
                  </a:moveTo>
                  <a:lnTo>
                    <a:pt x="4038600" y="0"/>
                  </a:lnTo>
                  <a:cubicBezTo>
                    <a:pt x="4122768" y="0"/>
                    <a:pt x="4191000" y="68232"/>
                    <a:pt x="4191000" y="152400"/>
                  </a:cubicBezTo>
                  <a:lnTo>
                    <a:pt x="4191000" y="1117600"/>
                  </a:lnTo>
                  <a:cubicBezTo>
                    <a:pt x="4191000" y="1201768"/>
                    <a:pt x="4122768" y="1270000"/>
                    <a:pt x="4038600" y="1270000"/>
                  </a:cubicBezTo>
                  <a:lnTo>
                    <a:pt x="152400" y="1270000"/>
                  </a:lnTo>
                  <a:cubicBezTo>
                    <a:pt x="68232" y="1270000"/>
                    <a:pt x="0" y="1201768"/>
                    <a:pt x="0" y="1117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E8A30C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4191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5915025" y="5962317"/>
            <a:ext cx="3143250" cy="114300"/>
            <a:chOff x="0" y="0"/>
            <a:chExt cx="4191000" cy="1524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191000" cy="152400"/>
            </a:xfrm>
            <a:custGeom>
              <a:avLst/>
              <a:gdLst/>
              <a:ahLst/>
              <a:cxnLst/>
              <a:rect r="r" b="b" t="t" l="l"/>
              <a:pathLst>
                <a:path h="152400" w="4191000">
                  <a:moveTo>
                    <a:pt x="0" y="0"/>
                  </a:moveTo>
                  <a:lnTo>
                    <a:pt x="4191000" y="0"/>
                  </a:lnTo>
                  <a:lnTo>
                    <a:pt x="4191000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E0B52F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4191000" cy="19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7324725" y="4962192"/>
            <a:ext cx="323850" cy="323850"/>
            <a:chOff x="0" y="0"/>
            <a:chExt cx="431800" cy="431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31800" cy="431800"/>
            </a:xfrm>
            <a:custGeom>
              <a:avLst/>
              <a:gdLst/>
              <a:ahLst/>
              <a:cxnLst/>
              <a:rect r="r" b="b" t="t" l="l"/>
              <a:pathLst>
                <a:path h="431800" w="431800">
                  <a:moveTo>
                    <a:pt x="0" y="215900"/>
                  </a:moveTo>
                  <a:cubicBezTo>
                    <a:pt x="0" y="335138"/>
                    <a:pt x="96662" y="431800"/>
                    <a:pt x="215900" y="431800"/>
                  </a:cubicBezTo>
                  <a:cubicBezTo>
                    <a:pt x="335138" y="431800"/>
                    <a:pt x="431800" y="335138"/>
                    <a:pt x="431800" y="215900"/>
                  </a:cubicBezTo>
                  <a:cubicBezTo>
                    <a:pt x="431800" y="96662"/>
                    <a:pt x="335138" y="0"/>
                    <a:pt x="215900" y="0"/>
                  </a:cubicBezTo>
                  <a:cubicBezTo>
                    <a:pt x="96662" y="0"/>
                    <a:pt x="0" y="96662"/>
                    <a:pt x="0" y="215900"/>
                  </a:cubicBez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28575"/>
              <a:ext cx="431800" cy="4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99"/>
                </a:lnSpc>
              </a:pPr>
              <a:r>
                <a:rPr lang="en-US" sz="999" b="true">
                  <a:solidFill>
                    <a:srgbClr val="FFFFFF"/>
                  </a:solidFill>
                  <a:latin typeface="네모고딕 Medium"/>
                  <a:ea typeface="네모고딕 Medium"/>
                  <a:cs typeface="네모고딕 Medium"/>
                  <a:sym typeface="네모고딕 Medium"/>
                </a:rPr>
                <a:t>02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6086475" y="5390817"/>
            <a:ext cx="2800350" cy="21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7"/>
              </a:lnSpc>
            </a:pPr>
            <a:r>
              <a:rPr lang="en-US" sz="1550" b="true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OpenAI GPT API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5915025" y="6076617"/>
            <a:ext cx="3143250" cy="9525"/>
            <a:chOff x="0" y="0"/>
            <a:chExt cx="4191000" cy="127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191000" cy="12700"/>
            </a:xfrm>
            <a:custGeom>
              <a:avLst/>
              <a:gdLst/>
              <a:ahLst/>
              <a:cxnLst/>
              <a:rect r="r" b="b" t="t" l="l"/>
              <a:pathLst>
                <a:path h="12700" w="4191000">
                  <a:moveTo>
                    <a:pt x="0" y="0"/>
                  </a:moveTo>
                  <a:lnTo>
                    <a:pt x="4191000" y="0"/>
                  </a:lnTo>
                  <a:lnTo>
                    <a:pt x="4191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9C7FB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4191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6105525" y="6295692"/>
            <a:ext cx="2762250" cy="2099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2"/>
              </a:lnSpc>
            </a:pPr>
            <a:r>
              <a:rPr lang="en-US" sz="14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•  엔드포인트: /ai_modules/llm</a:t>
            </a:r>
          </a:p>
          <a:p>
            <a:pPr algn="l">
              <a:lnSpc>
                <a:spcPts val="1652"/>
              </a:lnSpc>
            </a:pPr>
          </a:p>
          <a:p>
            <a:pPr algn="l">
              <a:lnSpc>
                <a:spcPts val="1652"/>
              </a:lnSpc>
            </a:pPr>
            <a:r>
              <a:rPr lang="en-US" sz="14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•  LangChain 오케스트레이션을 </a:t>
            </a:r>
          </a:p>
          <a:p>
            <a:pPr algn="l">
              <a:lnSpc>
                <a:spcPts val="1652"/>
              </a:lnSpc>
            </a:pPr>
            <a:r>
              <a:rPr lang="en-US" sz="14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통해 간접 호출</a:t>
            </a:r>
          </a:p>
          <a:p>
            <a:pPr algn="l">
              <a:lnSpc>
                <a:spcPts val="1652"/>
              </a:lnSpc>
            </a:pPr>
          </a:p>
          <a:p>
            <a:pPr algn="l">
              <a:lnSpc>
                <a:spcPts val="1652"/>
              </a:lnSpc>
            </a:pPr>
            <a:r>
              <a:rPr lang="en-US" sz="14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•  stream=true 설정으로 토큰 </a:t>
            </a:r>
          </a:p>
          <a:p>
            <a:pPr algn="l">
              <a:lnSpc>
                <a:spcPts val="1652"/>
              </a:lnSpc>
            </a:pPr>
            <a:r>
              <a:rPr lang="en-US" sz="14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스트리밍 출력</a:t>
            </a:r>
          </a:p>
          <a:p>
            <a:pPr algn="l">
              <a:lnSpc>
                <a:spcPts val="1652"/>
              </a:lnSpc>
            </a:pPr>
          </a:p>
          <a:p>
            <a:pPr algn="l">
              <a:lnSpc>
                <a:spcPts val="1652"/>
              </a:lnSpc>
            </a:pPr>
            <a:r>
              <a:rPr lang="en-US" sz="14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•  RAG 참조 후 답변 생성 </a:t>
            </a:r>
          </a:p>
          <a:p>
            <a:pPr algn="l">
              <a:lnSpc>
                <a:spcPts val="1652"/>
              </a:lnSpc>
            </a:pPr>
            <a:r>
              <a:rPr lang="en-US" sz="14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(함수 호출 패턴)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9229725" y="5124117"/>
            <a:ext cx="3143250" cy="4286250"/>
            <a:chOff x="0" y="0"/>
            <a:chExt cx="4191000" cy="57150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191000" cy="5715000"/>
            </a:xfrm>
            <a:custGeom>
              <a:avLst/>
              <a:gdLst/>
              <a:ahLst/>
              <a:cxnLst/>
              <a:rect r="r" b="b" t="t" l="l"/>
              <a:pathLst>
                <a:path h="5715000" w="4191000">
                  <a:moveTo>
                    <a:pt x="152400" y="0"/>
                  </a:moveTo>
                  <a:lnTo>
                    <a:pt x="4038600" y="0"/>
                  </a:lnTo>
                  <a:cubicBezTo>
                    <a:pt x="4122768" y="0"/>
                    <a:pt x="4191000" y="68232"/>
                    <a:pt x="4191000" y="152400"/>
                  </a:cubicBezTo>
                  <a:lnTo>
                    <a:pt x="4191000" y="5562600"/>
                  </a:lnTo>
                  <a:cubicBezTo>
                    <a:pt x="4191000" y="5646768"/>
                    <a:pt x="4122768" y="5715000"/>
                    <a:pt x="4038600" y="5715000"/>
                  </a:cubicBezTo>
                  <a:lnTo>
                    <a:pt x="152400" y="5715000"/>
                  </a:lnTo>
                  <a:cubicBezTo>
                    <a:pt x="68232" y="5715000"/>
                    <a:pt x="0" y="5646768"/>
                    <a:pt x="0" y="5562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5E5E5"/>
              </a:solidFill>
              <a:prstDash val="solid"/>
              <a:miter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4191000" cy="575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229725" y="5124117"/>
            <a:ext cx="3143250" cy="952500"/>
            <a:chOff x="0" y="0"/>
            <a:chExt cx="4191000" cy="12700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191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4191000">
                  <a:moveTo>
                    <a:pt x="152400" y="0"/>
                  </a:moveTo>
                  <a:lnTo>
                    <a:pt x="4038600" y="0"/>
                  </a:lnTo>
                  <a:cubicBezTo>
                    <a:pt x="4122768" y="0"/>
                    <a:pt x="4191000" y="68232"/>
                    <a:pt x="4191000" y="152400"/>
                  </a:cubicBezTo>
                  <a:lnTo>
                    <a:pt x="4191000" y="1117600"/>
                  </a:lnTo>
                  <a:cubicBezTo>
                    <a:pt x="4191000" y="1201768"/>
                    <a:pt x="4122768" y="1270000"/>
                    <a:pt x="4038600" y="1270000"/>
                  </a:cubicBezTo>
                  <a:lnTo>
                    <a:pt x="152400" y="1270000"/>
                  </a:lnTo>
                  <a:cubicBezTo>
                    <a:pt x="68232" y="1270000"/>
                    <a:pt x="0" y="1201768"/>
                    <a:pt x="0" y="1117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E8A30C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4191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9229725" y="5962317"/>
            <a:ext cx="3143250" cy="114300"/>
            <a:chOff x="0" y="0"/>
            <a:chExt cx="4191000" cy="1524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191000" cy="152400"/>
            </a:xfrm>
            <a:custGeom>
              <a:avLst/>
              <a:gdLst/>
              <a:ahLst/>
              <a:cxnLst/>
              <a:rect r="r" b="b" t="t" l="l"/>
              <a:pathLst>
                <a:path h="152400" w="4191000">
                  <a:moveTo>
                    <a:pt x="0" y="0"/>
                  </a:moveTo>
                  <a:lnTo>
                    <a:pt x="4191000" y="0"/>
                  </a:lnTo>
                  <a:lnTo>
                    <a:pt x="4191000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E0B52F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4191000" cy="19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0639425" y="4962192"/>
            <a:ext cx="323850" cy="323850"/>
            <a:chOff x="0" y="0"/>
            <a:chExt cx="431800" cy="4318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31800" cy="431800"/>
            </a:xfrm>
            <a:custGeom>
              <a:avLst/>
              <a:gdLst/>
              <a:ahLst/>
              <a:cxnLst/>
              <a:rect r="r" b="b" t="t" l="l"/>
              <a:pathLst>
                <a:path h="431800" w="431800">
                  <a:moveTo>
                    <a:pt x="0" y="215900"/>
                  </a:moveTo>
                  <a:cubicBezTo>
                    <a:pt x="0" y="335138"/>
                    <a:pt x="96662" y="431800"/>
                    <a:pt x="215900" y="431800"/>
                  </a:cubicBezTo>
                  <a:cubicBezTo>
                    <a:pt x="335138" y="431800"/>
                    <a:pt x="431800" y="335138"/>
                    <a:pt x="431800" y="215900"/>
                  </a:cubicBezTo>
                  <a:cubicBezTo>
                    <a:pt x="431800" y="96662"/>
                    <a:pt x="335138" y="0"/>
                    <a:pt x="215900" y="0"/>
                  </a:cubicBezTo>
                  <a:cubicBezTo>
                    <a:pt x="96662" y="0"/>
                    <a:pt x="0" y="96662"/>
                    <a:pt x="0" y="215900"/>
                  </a:cubicBez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28575"/>
              <a:ext cx="431800" cy="4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99"/>
                </a:lnSpc>
              </a:pPr>
              <a:r>
                <a:rPr lang="en-US" sz="999" b="true">
                  <a:solidFill>
                    <a:srgbClr val="FFFFFF"/>
                  </a:solidFill>
                  <a:latin typeface="네모고딕 Medium"/>
                  <a:ea typeface="네모고딕 Medium"/>
                  <a:cs typeface="네모고딕 Medium"/>
                  <a:sym typeface="네모고딕 Medium"/>
                </a:rPr>
                <a:t>03</a:t>
              </a: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9401175" y="5390817"/>
            <a:ext cx="2800350" cy="21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7"/>
              </a:lnSpc>
            </a:pPr>
            <a:r>
              <a:rPr lang="en-US" sz="1550" b="true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MediaPipe / YOLO v8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9229725" y="6076617"/>
            <a:ext cx="3143250" cy="9525"/>
            <a:chOff x="0" y="0"/>
            <a:chExt cx="4191000" cy="127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191000" cy="12700"/>
            </a:xfrm>
            <a:custGeom>
              <a:avLst/>
              <a:gdLst/>
              <a:ahLst/>
              <a:cxnLst/>
              <a:rect r="r" b="b" t="t" l="l"/>
              <a:pathLst>
                <a:path h="12700" w="4191000">
                  <a:moveTo>
                    <a:pt x="0" y="0"/>
                  </a:moveTo>
                  <a:lnTo>
                    <a:pt x="4191000" y="0"/>
                  </a:lnTo>
                  <a:lnTo>
                    <a:pt x="4191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9C7FB"/>
            </a:solid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4191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0" id="70"/>
          <p:cNvSpPr txBox="true"/>
          <p:nvPr/>
        </p:nvSpPr>
        <p:spPr>
          <a:xfrm rot="0">
            <a:off x="9420225" y="6295692"/>
            <a:ext cx="2762250" cy="2099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2"/>
              </a:lnSpc>
            </a:pPr>
            <a:r>
              <a:rPr lang="en-US" sz="14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•  MediaPipe: 손가락 관절 21 Landmark 실시간 추출</a:t>
            </a:r>
          </a:p>
          <a:p>
            <a:pPr algn="l">
              <a:lnSpc>
                <a:spcPts val="1652"/>
              </a:lnSpc>
            </a:pPr>
          </a:p>
          <a:p>
            <a:pPr algn="l">
              <a:lnSpc>
                <a:spcPts val="1652"/>
              </a:lnSpc>
            </a:pPr>
            <a:r>
              <a:rPr lang="en-US" sz="14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•  YOLO v8: 휠체어·지팡이 </a:t>
            </a:r>
          </a:p>
          <a:p>
            <a:pPr algn="l">
              <a:lnSpc>
                <a:spcPts val="1652"/>
              </a:lnSpc>
            </a:pPr>
            <a:r>
              <a:rPr lang="en-US" sz="14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객체 탐지</a:t>
            </a:r>
          </a:p>
          <a:p>
            <a:pPr algn="l">
              <a:lnSpc>
                <a:spcPts val="1652"/>
              </a:lnSpc>
            </a:pPr>
          </a:p>
          <a:p>
            <a:pPr algn="l">
              <a:lnSpc>
                <a:spcPts val="1652"/>
              </a:lnSpc>
            </a:pPr>
            <a:r>
              <a:rPr lang="en-US" sz="14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•  White Cane 데이터셋 (Roboflow, CC 4.0) 파인튜닝</a:t>
            </a:r>
          </a:p>
          <a:p>
            <a:pPr algn="l">
              <a:lnSpc>
                <a:spcPts val="1652"/>
              </a:lnSpc>
            </a:pPr>
          </a:p>
          <a:p>
            <a:pPr algn="l">
              <a:lnSpc>
                <a:spcPts val="1652"/>
              </a:lnSpc>
            </a:pPr>
            <a:r>
              <a:rPr lang="en-US" sz="14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•  ROI 최적화로 GPU 부하 감소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12544425" y="5124117"/>
            <a:ext cx="3143250" cy="4286250"/>
            <a:chOff x="0" y="0"/>
            <a:chExt cx="4191000" cy="57150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191000" cy="5715000"/>
            </a:xfrm>
            <a:custGeom>
              <a:avLst/>
              <a:gdLst/>
              <a:ahLst/>
              <a:cxnLst/>
              <a:rect r="r" b="b" t="t" l="l"/>
              <a:pathLst>
                <a:path h="5715000" w="4191000">
                  <a:moveTo>
                    <a:pt x="152400" y="0"/>
                  </a:moveTo>
                  <a:lnTo>
                    <a:pt x="4038600" y="0"/>
                  </a:lnTo>
                  <a:cubicBezTo>
                    <a:pt x="4122768" y="0"/>
                    <a:pt x="4191000" y="68232"/>
                    <a:pt x="4191000" y="152400"/>
                  </a:cubicBezTo>
                  <a:lnTo>
                    <a:pt x="4191000" y="5562600"/>
                  </a:lnTo>
                  <a:cubicBezTo>
                    <a:pt x="4191000" y="5646768"/>
                    <a:pt x="4122768" y="5715000"/>
                    <a:pt x="4038600" y="5715000"/>
                  </a:cubicBezTo>
                  <a:lnTo>
                    <a:pt x="152400" y="5715000"/>
                  </a:lnTo>
                  <a:cubicBezTo>
                    <a:pt x="68232" y="5715000"/>
                    <a:pt x="0" y="5646768"/>
                    <a:pt x="0" y="5562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5E5E5"/>
              </a:solidFill>
              <a:prstDash val="solid"/>
              <a:miter/>
            </a:ln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4191000" cy="575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2544425" y="5124117"/>
            <a:ext cx="3143250" cy="952500"/>
            <a:chOff x="0" y="0"/>
            <a:chExt cx="4191000" cy="12700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191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4191000">
                  <a:moveTo>
                    <a:pt x="152400" y="0"/>
                  </a:moveTo>
                  <a:lnTo>
                    <a:pt x="4038600" y="0"/>
                  </a:lnTo>
                  <a:cubicBezTo>
                    <a:pt x="4122768" y="0"/>
                    <a:pt x="4191000" y="68232"/>
                    <a:pt x="4191000" y="152400"/>
                  </a:cubicBezTo>
                  <a:lnTo>
                    <a:pt x="4191000" y="1117600"/>
                  </a:lnTo>
                  <a:cubicBezTo>
                    <a:pt x="4191000" y="1201768"/>
                    <a:pt x="4122768" y="1270000"/>
                    <a:pt x="4038600" y="1270000"/>
                  </a:cubicBezTo>
                  <a:lnTo>
                    <a:pt x="152400" y="1270000"/>
                  </a:lnTo>
                  <a:cubicBezTo>
                    <a:pt x="68232" y="1270000"/>
                    <a:pt x="0" y="1201768"/>
                    <a:pt x="0" y="1117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E8A30C"/>
            </a:solid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4191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2544425" y="5962317"/>
            <a:ext cx="3143250" cy="114300"/>
            <a:chOff x="0" y="0"/>
            <a:chExt cx="4191000" cy="1524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191000" cy="152400"/>
            </a:xfrm>
            <a:custGeom>
              <a:avLst/>
              <a:gdLst/>
              <a:ahLst/>
              <a:cxnLst/>
              <a:rect r="r" b="b" t="t" l="l"/>
              <a:pathLst>
                <a:path h="152400" w="4191000">
                  <a:moveTo>
                    <a:pt x="0" y="0"/>
                  </a:moveTo>
                  <a:lnTo>
                    <a:pt x="4191000" y="0"/>
                  </a:lnTo>
                  <a:lnTo>
                    <a:pt x="4191000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E0B52F"/>
            </a:solid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4191000" cy="19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3954125" y="4962192"/>
            <a:ext cx="323850" cy="323850"/>
            <a:chOff x="0" y="0"/>
            <a:chExt cx="431800" cy="4318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31800" cy="431800"/>
            </a:xfrm>
            <a:custGeom>
              <a:avLst/>
              <a:gdLst/>
              <a:ahLst/>
              <a:cxnLst/>
              <a:rect r="r" b="b" t="t" l="l"/>
              <a:pathLst>
                <a:path h="431800" w="431800">
                  <a:moveTo>
                    <a:pt x="0" y="215900"/>
                  </a:moveTo>
                  <a:cubicBezTo>
                    <a:pt x="0" y="335138"/>
                    <a:pt x="96662" y="431800"/>
                    <a:pt x="215900" y="431800"/>
                  </a:cubicBezTo>
                  <a:cubicBezTo>
                    <a:pt x="335138" y="431800"/>
                    <a:pt x="431800" y="335138"/>
                    <a:pt x="431800" y="215900"/>
                  </a:cubicBezTo>
                  <a:cubicBezTo>
                    <a:pt x="431800" y="96662"/>
                    <a:pt x="335138" y="0"/>
                    <a:pt x="215900" y="0"/>
                  </a:cubicBezTo>
                  <a:cubicBezTo>
                    <a:pt x="96662" y="0"/>
                    <a:pt x="0" y="96662"/>
                    <a:pt x="0" y="215900"/>
                  </a:cubicBez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28575"/>
              <a:ext cx="431800" cy="460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99"/>
                </a:lnSpc>
              </a:pPr>
              <a:r>
                <a:rPr lang="en-US" sz="999" b="true">
                  <a:solidFill>
                    <a:srgbClr val="FFFFFF"/>
                  </a:solidFill>
                  <a:latin typeface="네모고딕 Medium"/>
                  <a:ea typeface="네모고딕 Medium"/>
                  <a:cs typeface="네모고딕 Medium"/>
                  <a:sym typeface="네모고딕 Medium"/>
                </a:rPr>
                <a:t>04</a:t>
              </a:r>
            </a:p>
          </p:txBody>
        </p:sp>
      </p:grpSp>
      <p:sp>
        <p:nvSpPr>
          <p:cNvPr name="TextBox 83" id="83"/>
          <p:cNvSpPr txBox="true"/>
          <p:nvPr/>
        </p:nvSpPr>
        <p:spPr>
          <a:xfrm rot="0">
            <a:off x="12715875" y="5390817"/>
            <a:ext cx="2800350" cy="21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7"/>
              </a:lnSpc>
            </a:pPr>
            <a:r>
              <a:rPr lang="en-US" sz="1550" b="true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LangChain RAG + DB</a:t>
            </a:r>
          </a:p>
        </p:txBody>
      </p:sp>
      <p:grpSp>
        <p:nvGrpSpPr>
          <p:cNvPr name="Group 84" id="84"/>
          <p:cNvGrpSpPr/>
          <p:nvPr/>
        </p:nvGrpSpPr>
        <p:grpSpPr>
          <a:xfrm rot="0">
            <a:off x="12544425" y="6076617"/>
            <a:ext cx="3143250" cy="9525"/>
            <a:chOff x="0" y="0"/>
            <a:chExt cx="4191000" cy="127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4191000" cy="12700"/>
            </a:xfrm>
            <a:custGeom>
              <a:avLst/>
              <a:gdLst/>
              <a:ahLst/>
              <a:cxnLst/>
              <a:rect r="r" b="b" t="t" l="l"/>
              <a:pathLst>
                <a:path h="12700" w="4191000">
                  <a:moveTo>
                    <a:pt x="0" y="0"/>
                  </a:moveTo>
                  <a:lnTo>
                    <a:pt x="4191000" y="0"/>
                  </a:lnTo>
                  <a:lnTo>
                    <a:pt x="4191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9C7FB"/>
            </a:solid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4191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7" id="87"/>
          <p:cNvSpPr txBox="true"/>
          <p:nvPr/>
        </p:nvSpPr>
        <p:spPr>
          <a:xfrm rot="0">
            <a:off x="12715875" y="6295692"/>
            <a:ext cx="2800350" cy="2099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2"/>
              </a:lnSpc>
            </a:pPr>
            <a:r>
              <a:rPr lang="en-US" sz="14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•  음성 JSON/SQL DB를 벡터 인덱스로 랭킹</a:t>
            </a:r>
          </a:p>
          <a:p>
            <a:pPr algn="l">
              <a:lnSpc>
                <a:spcPts val="1652"/>
              </a:lnSpc>
            </a:pPr>
          </a:p>
          <a:p>
            <a:pPr algn="l">
              <a:lnSpc>
                <a:spcPts val="1652"/>
              </a:lnSpc>
            </a:pPr>
            <a:r>
              <a:rPr lang="en-US" sz="14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•  답변 생성 전 DB 강제 참조 (함수 툴 호출)</a:t>
            </a:r>
          </a:p>
          <a:p>
            <a:pPr algn="l">
              <a:lnSpc>
                <a:spcPts val="1652"/>
              </a:lnSpc>
            </a:pPr>
          </a:p>
          <a:p>
            <a:pPr algn="l">
              <a:lnSpc>
                <a:spcPts val="1652"/>
              </a:lnSpc>
            </a:pPr>
            <a:r>
              <a:rPr lang="en-US" sz="14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• 대화 이력 유지</a:t>
            </a:r>
          </a:p>
          <a:p>
            <a:pPr algn="l">
              <a:lnSpc>
                <a:spcPts val="1652"/>
              </a:lnSpc>
            </a:pPr>
          </a:p>
          <a:p>
            <a:pPr algn="l">
              <a:lnSpc>
                <a:spcPts val="1652"/>
              </a:lnSpc>
            </a:pPr>
            <a:r>
              <a:rPr lang="en-US" sz="14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•  PG(관계형 DB)에 연동 · 영수증 프린터 API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3938" y="0"/>
            <a:ext cx="20335875" cy="10287000"/>
            <a:chOff x="0" y="0"/>
            <a:chExt cx="271145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600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39850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6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651231" y="612360"/>
            <a:ext cx="271148" cy="286173"/>
          </a:xfrm>
          <a:custGeom>
            <a:avLst/>
            <a:gdLst/>
            <a:ahLst/>
            <a:cxnLst/>
            <a:rect r="r" b="b" t="t" l="l"/>
            <a:pathLst>
              <a:path h="286173" w="271148">
                <a:moveTo>
                  <a:pt x="0" y="0"/>
                </a:moveTo>
                <a:lnTo>
                  <a:pt x="271148" y="0"/>
                </a:lnTo>
                <a:lnTo>
                  <a:pt x="271148" y="286172"/>
                </a:lnTo>
                <a:lnTo>
                  <a:pt x="0" y="286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512338" y="616360"/>
            <a:ext cx="3124432" cy="456888"/>
            <a:chOff x="0" y="0"/>
            <a:chExt cx="4165909" cy="609184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4165909" cy="609184"/>
              <a:chOff x="0" y="0"/>
              <a:chExt cx="822896" cy="12033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22896" cy="120333"/>
              </a:xfrm>
              <a:custGeom>
                <a:avLst/>
                <a:gdLst/>
                <a:ahLst/>
                <a:cxnLst/>
                <a:rect r="r" b="b" t="t" l="l"/>
                <a:pathLst>
                  <a:path h="120333" w="822896">
                    <a:moveTo>
                      <a:pt x="60166" y="0"/>
                    </a:moveTo>
                    <a:lnTo>
                      <a:pt x="762729" y="0"/>
                    </a:lnTo>
                    <a:cubicBezTo>
                      <a:pt x="795958" y="0"/>
                      <a:pt x="822896" y="26937"/>
                      <a:pt x="822896" y="60166"/>
                    </a:cubicBezTo>
                    <a:lnTo>
                      <a:pt x="822896" y="60166"/>
                    </a:lnTo>
                    <a:cubicBezTo>
                      <a:pt x="822896" y="93395"/>
                      <a:pt x="795958" y="120333"/>
                      <a:pt x="762729" y="120333"/>
                    </a:cubicBezTo>
                    <a:lnTo>
                      <a:pt x="60166" y="120333"/>
                    </a:lnTo>
                    <a:cubicBezTo>
                      <a:pt x="26937" y="120333"/>
                      <a:pt x="0" y="93395"/>
                      <a:pt x="0" y="60166"/>
                    </a:cubicBezTo>
                    <a:lnTo>
                      <a:pt x="0" y="60166"/>
                    </a:lnTo>
                    <a:cubicBezTo>
                      <a:pt x="0" y="26937"/>
                      <a:pt x="26937" y="0"/>
                      <a:pt x="60166" y="0"/>
                    </a:cubicBezTo>
                    <a:close/>
                  </a:path>
                </a:pathLst>
              </a:custGeom>
              <a:solidFill>
                <a:srgbClr val="151615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822896" cy="167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330136" y="188472"/>
              <a:ext cx="3505353" cy="2344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00"/>
                </a:lnSpc>
              </a:pPr>
              <a:r>
                <a:rPr lang="en-US" sz="1200">
                  <a:solidFill>
                    <a:srgbClr val="F3F4F3"/>
                  </a:solidFill>
                  <a:latin typeface="Poppins"/>
                  <a:ea typeface="Poppins"/>
                  <a:cs typeface="Poppins"/>
                  <a:sym typeface="Poppins"/>
                </a:rPr>
                <a:t>https://github.com/Capstone-F5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6498500" y="9133151"/>
            <a:ext cx="760800" cy="554433"/>
          </a:xfrm>
          <a:custGeom>
            <a:avLst/>
            <a:gdLst/>
            <a:ahLst/>
            <a:cxnLst/>
            <a:rect r="r" b="b" t="t" l="l"/>
            <a:pathLst>
              <a:path h="554433" w="760800">
                <a:moveTo>
                  <a:pt x="0" y="0"/>
                </a:moveTo>
                <a:lnTo>
                  <a:pt x="760800" y="0"/>
                </a:lnTo>
                <a:lnTo>
                  <a:pt x="760800" y="554433"/>
                </a:lnTo>
                <a:lnTo>
                  <a:pt x="0" y="5544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-5400000">
            <a:off x="7645979" y="2188946"/>
            <a:ext cx="8567931" cy="6921955"/>
            <a:chOff x="0" y="0"/>
            <a:chExt cx="2376895" cy="192027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76895" cy="1920273"/>
            </a:xfrm>
            <a:custGeom>
              <a:avLst/>
              <a:gdLst/>
              <a:ahLst/>
              <a:cxnLst/>
              <a:rect r="r" b="b" t="t" l="l"/>
              <a:pathLst>
                <a:path h="1920273" w="2376895">
                  <a:moveTo>
                    <a:pt x="36144" y="0"/>
                  </a:moveTo>
                  <a:lnTo>
                    <a:pt x="2340752" y="0"/>
                  </a:lnTo>
                  <a:cubicBezTo>
                    <a:pt x="2360713" y="0"/>
                    <a:pt x="2376895" y="16182"/>
                    <a:pt x="2376895" y="36144"/>
                  </a:cubicBezTo>
                  <a:lnTo>
                    <a:pt x="2376895" y="1884129"/>
                  </a:lnTo>
                  <a:cubicBezTo>
                    <a:pt x="2376895" y="1904091"/>
                    <a:pt x="2360713" y="1920273"/>
                    <a:pt x="2340752" y="1920273"/>
                  </a:cubicBezTo>
                  <a:lnTo>
                    <a:pt x="36144" y="1920273"/>
                  </a:lnTo>
                  <a:cubicBezTo>
                    <a:pt x="26558" y="1920273"/>
                    <a:pt x="17365" y="1916465"/>
                    <a:pt x="10586" y="1909687"/>
                  </a:cubicBezTo>
                  <a:cubicBezTo>
                    <a:pt x="3808" y="1902908"/>
                    <a:pt x="0" y="1893715"/>
                    <a:pt x="0" y="1884129"/>
                  </a:cubicBezTo>
                  <a:lnTo>
                    <a:pt x="0" y="36144"/>
                  </a:lnTo>
                  <a:cubicBezTo>
                    <a:pt x="0" y="26558"/>
                    <a:pt x="3808" y="17365"/>
                    <a:pt x="10586" y="10586"/>
                  </a:cubicBezTo>
                  <a:cubicBezTo>
                    <a:pt x="17365" y="3808"/>
                    <a:pt x="26558" y="0"/>
                    <a:pt x="36144" y="0"/>
                  </a:cubicBezTo>
                  <a:close/>
                </a:path>
              </a:pathLst>
            </a:custGeom>
            <a:solidFill>
              <a:srgbClr val="FCFCFC"/>
            </a:soli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66675"/>
              <a:ext cx="2376895" cy="18535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494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8780400" y="1566236"/>
            <a:ext cx="6299088" cy="8167375"/>
          </a:xfrm>
          <a:custGeom>
            <a:avLst/>
            <a:gdLst/>
            <a:ahLst/>
            <a:cxnLst/>
            <a:rect r="r" b="b" t="t" l="l"/>
            <a:pathLst>
              <a:path h="8167375" w="6299088">
                <a:moveTo>
                  <a:pt x="0" y="0"/>
                </a:moveTo>
                <a:lnTo>
                  <a:pt x="6299088" y="0"/>
                </a:lnTo>
                <a:lnTo>
                  <a:pt x="6299088" y="8167375"/>
                </a:lnTo>
                <a:lnTo>
                  <a:pt x="0" y="81673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748364" y="621885"/>
            <a:ext cx="2791271" cy="231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b="true" sz="1600" spc="259">
                <a:solidFill>
                  <a:srgbClr val="15161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2026/09/08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08246" y="2598104"/>
            <a:ext cx="9147698" cy="1679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6500" b="true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1학기</a:t>
            </a:r>
          </a:p>
          <a:p>
            <a:pPr algn="l">
              <a:lnSpc>
                <a:spcPts val="6500"/>
              </a:lnSpc>
            </a:pPr>
            <a:r>
              <a:rPr lang="en-US" sz="6500" b="true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주요 설계 결과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008246" y="1986334"/>
            <a:ext cx="5014730" cy="303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2199" spc="204" b="true">
                <a:solidFill>
                  <a:srgbClr val="151615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First Semester Desig</a:t>
            </a:r>
            <a:r>
              <a:rPr lang="en-US" b="true" sz="2199" spc="204">
                <a:solidFill>
                  <a:srgbClr val="151615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n Results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113785" y="9559668"/>
            <a:ext cx="4023889" cy="293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99"/>
              </a:lnSpc>
            </a:pPr>
            <a:r>
              <a:rPr lang="en-US" sz="2199" spc="204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UI/UX 및 서비스 구조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696005"/>
            <a:ext cx="5329013" cy="41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1599"/>
              </a:lnSpc>
              <a:buAutoNum type="arabicPeriod" startAt="1"/>
            </a:pPr>
            <a:r>
              <a:rPr lang="en-US" sz="1599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 1학기 분석·설계 결과와 변경사항</a:t>
            </a:r>
          </a:p>
          <a:p>
            <a:pPr algn="l">
              <a:lnSpc>
                <a:spcPts val="159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3938" y="0"/>
            <a:ext cx="20335875" cy="10287000"/>
            <a:chOff x="0" y="0"/>
            <a:chExt cx="271145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600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39850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6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651231" y="612360"/>
            <a:ext cx="271148" cy="286173"/>
          </a:xfrm>
          <a:custGeom>
            <a:avLst/>
            <a:gdLst/>
            <a:ahLst/>
            <a:cxnLst/>
            <a:rect r="r" b="b" t="t" l="l"/>
            <a:pathLst>
              <a:path h="286173" w="271148">
                <a:moveTo>
                  <a:pt x="0" y="0"/>
                </a:moveTo>
                <a:lnTo>
                  <a:pt x="271148" y="0"/>
                </a:lnTo>
                <a:lnTo>
                  <a:pt x="271148" y="286172"/>
                </a:lnTo>
                <a:lnTo>
                  <a:pt x="0" y="286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512338" y="616360"/>
            <a:ext cx="3124432" cy="456813"/>
            <a:chOff x="0" y="0"/>
            <a:chExt cx="822896" cy="1203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2896" cy="120313"/>
            </a:xfrm>
            <a:custGeom>
              <a:avLst/>
              <a:gdLst/>
              <a:ahLst/>
              <a:cxnLst/>
              <a:rect r="r" b="b" t="t" l="l"/>
              <a:pathLst>
                <a:path h="120313" w="822896">
                  <a:moveTo>
                    <a:pt x="60156" y="0"/>
                  </a:moveTo>
                  <a:lnTo>
                    <a:pt x="762739" y="0"/>
                  </a:lnTo>
                  <a:cubicBezTo>
                    <a:pt x="795963" y="0"/>
                    <a:pt x="822896" y="26933"/>
                    <a:pt x="822896" y="60156"/>
                  </a:cubicBezTo>
                  <a:lnTo>
                    <a:pt x="822896" y="60156"/>
                  </a:lnTo>
                  <a:cubicBezTo>
                    <a:pt x="822896" y="93380"/>
                    <a:pt x="795963" y="120313"/>
                    <a:pt x="762739" y="120313"/>
                  </a:cubicBezTo>
                  <a:lnTo>
                    <a:pt x="60156" y="120313"/>
                  </a:lnTo>
                  <a:cubicBezTo>
                    <a:pt x="26933" y="120313"/>
                    <a:pt x="0" y="93380"/>
                    <a:pt x="0" y="60156"/>
                  </a:cubicBezTo>
                  <a:lnTo>
                    <a:pt x="0" y="60156"/>
                  </a:lnTo>
                  <a:cubicBezTo>
                    <a:pt x="0" y="26933"/>
                    <a:pt x="26933" y="0"/>
                    <a:pt x="60156" y="0"/>
                  </a:cubicBezTo>
                  <a:close/>
                </a:path>
              </a:pathLst>
            </a:custGeom>
            <a:solidFill>
              <a:srgbClr val="15161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22896" cy="167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4760046" y="762851"/>
            <a:ext cx="2629015" cy="173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sz="1200">
                <a:solidFill>
                  <a:srgbClr val="F3F4F3"/>
                </a:solidFill>
                <a:latin typeface="Poppins"/>
                <a:ea typeface="Poppins"/>
                <a:cs typeface="Poppins"/>
                <a:sym typeface="Poppins"/>
              </a:rPr>
              <a:t>https://github.com/Capstone-F5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5647982" y="9092495"/>
            <a:ext cx="631771" cy="635745"/>
          </a:xfrm>
          <a:custGeom>
            <a:avLst/>
            <a:gdLst/>
            <a:ahLst/>
            <a:cxnLst/>
            <a:rect r="r" b="b" t="t" l="l"/>
            <a:pathLst>
              <a:path h="635745" w="631771">
                <a:moveTo>
                  <a:pt x="0" y="0"/>
                </a:moveTo>
                <a:lnTo>
                  <a:pt x="631772" y="0"/>
                </a:lnTo>
                <a:lnTo>
                  <a:pt x="631772" y="635745"/>
                </a:lnTo>
                <a:lnTo>
                  <a:pt x="0" y="6357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498500" y="9133151"/>
            <a:ext cx="760800" cy="554433"/>
          </a:xfrm>
          <a:custGeom>
            <a:avLst/>
            <a:gdLst/>
            <a:ahLst/>
            <a:cxnLst/>
            <a:rect r="r" b="b" t="t" l="l"/>
            <a:pathLst>
              <a:path h="554433" w="760800">
                <a:moveTo>
                  <a:pt x="0" y="0"/>
                </a:moveTo>
                <a:lnTo>
                  <a:pt x="760800" y="0"/>
                </a:lnTo>
                <a:lnTo>
                  <a:pt x="760800" y="554433"/>
                </a:lnTo>
                <a:lnTo>
                  <a:pt x="0" y="5544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090450" y="2598104"/>
            <a:ext cx="9189304" cy="860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500"/>
              </a:lnSpc>
            </a:pPr>
            <a:r>
              <a:rPr lang="en-US" sz="6500" b="true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초기 계획 대비 변경사항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788481" y="1986334"/>
            <a:ext cx="4491273" cy="303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99"/>
              </a:lnSpc>
            </a:pPr>
            <a:r>
              <a:rPr lang="en-US" b="true" sz="2199" spc="204">
                <a:solidFill>
                  <a:srgbClr val="151615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Difference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540538" y="4426825"/>
            <a:ext cx="1187512" cy="771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4499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03.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540538" y="5474576"/>
            <a:ext cx="2971800" cy="365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관리자 페이지 제작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3003534" y="4570860"/>
            <a:ext cx="2974296" cy="2552408"/>
            <a:chOff x="0" y="0"/>
            <a:chExt cx="3965728" cy="3403210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3997" y="-95250"/>
              <a:ext cx="2071287" cy="9969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299"/>
                </a:lnSpc>
                <a:spcBef>
                  <a:spcPct val="0"/>
                </a:spcBef>
              </a:pPr>
              <a:r>
                <a:rPr lang="en-US" b="true" sz="4499">
                  <a:solidFill>
                    <a:srgbClr val="151615"/>
                  </a:solidFill>
                  <a:latin typeface="네모고딕 Medium"/>
                  <a:ea typeface="네모고딕 Medium"/>
                  <a:cs typeface="네모고딕 Medium"/>
                  <a:sym typeface="네모고딕 Medium"/>
                </a:rPr>
                <a:t>01.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285876"/>
              <a:ext cx="3965728" cy="4718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151615"/>
                  </a:solidFill>
                  <a:latin typeface="네모고딕 Medium"/>
                  <a:ea typeface="네모고딕 Medium"/>
                  <a:cs typeface="네모고딕 Medium"/>
                  <a:sym typeface="네모고딕 Medium"/>
                </a:rPr>
                <a:t>STT 변화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2149214"/>
              <a:ext cx="3965728" cy="12539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60"/>
                </a:lnSpc>
              </a:pPr>
              <a:r>
                <a:rPr lang="en-US" sz="1600">
                  <a:solidFill>
                    <a:srgbClr val="151615"/>
                  </a:solidFill>
                  <a:latin typeface="네모고딕"/>
                  <a:ea typeface="네모고딕"/>
                  <a:cs typeface="네모고딕"/>
                  <a:sym typeface="네모고딕"/>
                </a:rPr>
                <a:t>인식률 향상을 위하여 기존 Whisper가 아닌, gpt-4o-mini-transcribe로 변경하였습니다.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270022" y="4522075"/>
            <a:ext cx="2975116" cy="2569396"/>
            <a:chOff x="0" y="0"/>
            <a:chExt cx="3966821" cy="3425862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-95250"/>
              <a:ext cx="1579691" cy="9969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299"/>
                </a:lnSpc>
                <a:spcBef>
                  <a:spcPct val="0"/>
                </a:spcBef>
              </a:pPr>
              <a:r>
                <a:rPr lang="en-US" b="true" sz="4499">
                  <a:solidFill>
                    <a:srgbClr val="151615"/>
                  </a:solidFill>
                  <a:latin typeface="네모고딕 Medium"/>
                  <a:ea typeface="네모고딕 Medium"/>
                  <a:cs typeface="네모고딕 Medium"/>
                  <a:sym typeface="네모고딕 Medium"/>
                </a:rPr>
                <a:t>02.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1308528"/>
              <a:ext cx="3966821" cy="4718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151615"/>
                  </a:solidFill>
                  <a:latin typeface="네모고딕 Medium"/>
                  <a:ea typeface="네모고딕 Medium"/>
                  <a:cs typeface="네모고딕 Medium"/>
                  <a:sym typeface="네모고딕 Medium"/>
                </a:rPr>
                <a:t>TTS 변화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2171866"/>
              <a:ext cx="3966821" cy="12539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60"/>
                </a:lnSpc>
              </a:pPr>
              <a:r>
                <a:rPr lang="en-US" sz="1600">
                  <a:solidFill>
                    <a:srgbClr val="151615"/>
                  </a:solidFill>
                  <a:latin typeface="네모고딕"/>
                  <a:ea typeface="네모고딕"/>
                  <a:cs typeface="네모고딕"/>
                  <a:sym typeface="네모고딕"/>
                </a:rPr>
                <a:t>더욱 명확한 음성 전달을 위하여 기존 TTS-1이 아닌 gpt-4o-mini-tts로 변경하였습니다.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1540538" y="6117317"/>
            <a:ext cx="2971800" cy="957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60"/>
              </a:lnSpc>
            </a:pPr>
            <a:r>
              <a:rPr lang="en-US" sz="16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기존 하드코딩 된 메뉴를 관리자 페이지를 통하여 수정할 수 있도록 하였습니다.</a:t>
            </a:r>
          </a:p>
        </p:txBody>
      </p:sp>
      <p:sp>
        <p:nvSpPr>
          <p:cNvPr name="AutoShape 25" id="25"/>
          <p:cNvSpPr/>
          <p:nvPr/>
        </p:nvSpPr>
        <p:spPr>
          <a:xfrm>
            <a:off x="10892838" y="4671072"/>
            <a:ext cx="0" cy="2271180"/>
          </a:xfrm>
          <a:prstGeom prst="line">
            <a:avLst/>
          </a:prstGeom>
          <a:ln cap="rnd" w="19050">
            <a:solidFill>
              <a:srgbClr val="89857F">
                <a:alpha val="32941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6515163" y="4671072"/>
            <a:ext cx="0" cy="2271180"/>
          </a:xfrm>
          <a:prstGeom prst="line">
            <a:avLst/>
          </a:prstGeom>
          <a:ln cap="rnd" w="19050">
            <a:solidFill>
              <a:srgbClr val="89857F">
                <a:alpha val="32941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7" id="27"/>
          <p:cNvSpPr txBox="true"/>
          <p:nvPr/>
        </p:nvSpPr>
        <p:spPr>
          <a:xfrm rot="0">
            <a:off x="1028700" y="696005"/>
            <a:ext cx="5329013" cy="41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1599"/>
              </a:lnSpc>
              <a:buAutoNum type="arabicPeriod" startAt="1"/>
            </a:pPr>
            <a:r>
              <a:rPr lang="en-US" sz="1599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 1학기 분석·설계 결과와 변경사항</a:t>
            </a:r>
          </a:p>
          <a:p>
            <a:pPr algn="l">
              <a:lnSpc>
                <a:spcPts val="159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3938" y="0"/>
            <a:ext cx="20335875" cy="10287000"/>
            <a:chOff x="0" y="0"/>
            <a:chExt cx="271145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600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39850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6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2003648" y="3884423"/>
            <a:ext cx="14280704" cy="6910434"/>
            <a:chOff x="0" y="0"/>
            <a:chExt cx="3761173" cy="18200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61173" cy="1820032"/>
            </a:xfrm>
            <a:custGeom>
              <a:avLst/>
              <a:gdLst/>
              <a:ahLst/>
              <a:cxnLst/>
              <a:rect r="r" b="b" t="t" l="l"/>
              <a:pathLst>
                <a:path h="1820032" w="3761173">
                  <a:moveTo>
                    <a:pt x="21685" y="0"/>
                  </a:moveTo>
                  <a:lnTo>
                    <a:pt x="3739488" y="0"/>
                  </a:lnTo>
                  <a:cubicBezTo>
                    <a:pt x="3745239" y="0"/>
                    <a:pt x="3750755" y="2285"/>
                    <a:pt x="3754822" y="6351"/>
                  </a:cubicBezTo>
                  <a:cubicBezTo>
                    <a:pt x="3758888" y="10418"/>
                    <a:pt x="3761173" y="15934"/>
                    <a:pt x="3761173" y="21685"/>
                  </a:cubicBezTo>
                  <a:lnTo>
                    <a:pt x="3761173" y="1798347"/>
                  </a:lnTo>
                  <a:cubicBezTo>
                    <a:pt x="3761173" y="1804098"/>
                    <a:pt x="3758888" y="1809614"/>
                    <a:pt x="3754822" y="1813681"/>
                  </a:cubicBezTo>
                  <a:cubicBezTo>
                    <a:pt x="3750755" y="1817747"/>
                    <a:pt x="3745239" y="1820032"/>
                    <a:pt x="3739488" y="1820032"/>
                  </a:cubicBezTo>
                  <a:lnTo>
                    <a:pt x="21685" y="1820032"/>
                  </a:lnTo>
                  <a:cubicBezTo>
                    <a:pt x="15934" y="1820032"/>
                    <a:pt x="10418" y="1817747"/>
                    <a:pt x="6351" y="1813681"/>
                  </a:cubicBezTo>
                  <a:cubicBezTo>
                    <a:pt x="2285" y="1809614"/>
                    <a:pt x="0" y="1804098"/>
                    <a:pt x="0" y="1798347"/>
                  </a:cubicBezTo>
                  <a:lnTo>
                    <a:pt x="0" y="21685"/>
                  </a:lnTo>
                  <a:cubicBezTo>
                    <a:pt x="0" y="15934"/>
                    <a:pt x="2285" y="10418"/>
                    <a:pt x="6351" y="6351"/>
                  </a:cubicBezTo>
                  <a:cubicBezTo>
                    <a:pt x="10418" y="2285"/>
                    <a:pt x="15934" y="0"/>
                    <a:pt x="21685" y="0"/>
                  </a:cubicBezTo>
                  <a:close/>
                </a:path>
              </a:pathLst>
            </a:custGeom>
            <a:solidFill>
              <a:srgbClr val="FCFCFC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66675"/>
              <a:ext cx="3761173" cy="17533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494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51231" y="612360"/>
            <a:ext cx="271148" cy="286173"/>
          </a:xfrm>
          <a:custGeom>
            <a:avLst/>
            <a:gdLst/>
            <a:ahLst/>
            <a:cxnLst/>
            <a:rect r="r" b="b" t="t" l="l"/>
            <a:pathLst>
              <a:path h="286173" w="271148">
                <a:moveTo>
                  <a:pt x="0" y="0"/>
                </a:moveTo>
                <a:lnTo>
                  <a:pt x="271148" y="0"/>
                </a:lnTo>
                <a:lnTo>
                  <a:pt x="271148" y="286172"/>
                </a:lnTo>
                <a:lnTo>
                  <a:pt x="0" y="286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4512338" y="616360"/>
            <a:ext cx="3124432" cy="456888"/>
            <a:chOff x="0" y="0"/>
            <a:chExt cx="4165909" cy="609184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4165909" cy="609184"/>
              <a:chOff x="0" y="0"/>
              <a:chExt cx="822896" cy="120333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22896" cy="120333"/>
              </a:xfrm>
              <a:custGeom>
                <a:avLst/>
                <a:gdLst/>
                <a:ahLst/>
                <a:cxnLst/>
                <a:rect r="r" b="b" t="t" l="l"/>
                <a:pathLst>
                  <a:path h="120333" w="822896">
                    <a:moveTo>
                      <a:pt x="60166" y="0"/>
                    </a:moveTo>
                    <a:lnTo>
                      <a:pt x="762729" y="0"/>
                    </a:lnTo>
                    <a:cubicBezTo>
                      <a:pt x="795958" y="0"/>
                      <a:pt x="822896" y="26937"/>
                      <a:pt x="822896" y="60166"/>
                    </a:cubicBezTo>
                    <a:lnTo>
                      <a:pt x="822896" y="60166"/>
                    </a:lnTo>
                    <a:cubicBezTo>
                      <a:pt x="822896" y="93395"/>
                      <a:pt x="795958" y="120333"/>
                      <a:pt x="762729" y="120333"/>
                    </a:cubicBezTo>
                    <a:lnTo>
                      <a:pt x="60166" y="120333"/>
                    </a:lnTo>
                    <a:cubicBezTo>
                      <a:pt x="26937" y="120333"/>
                      <a:pt x="0" y="93395"/>
                      <a:pt x="0" y="60166"/>
                    </a:cubicBezTo>
                    <a:lnTo>
                      <a:pt x="0" y="60166"/>
                    </a:lnTo>
                    <a:cubicBezTo>
                      <a:pt x="0" y="26937"/>
                      <a:pt x="26937" y="0"/>
                      <a:pt x="60166" y="0"/>
                    </a:cubicBezTo>
                    <a:close/>
                  </a:path>
                </a:pathLst>
              </a:custGeom>
              <a:solidFill>
                <a:srgbClr val="151615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47625"/>
                <a:ext cx="822896" cy="167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330136" y="188472"/>
              <a:ext cx="3505353" cy="2344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00"/>
                </a:lnSpc>
              </a:pPr>
              <a:r>
                <a:rPr lang="en-US" sz="1200">
                  <a:solidFill>
                    <a:srgbClr val="F3F4F3"/>
                  </a:solidFill>
                  <a:latin typeface="Poppins"/>
                  <a:ea typeface="Poppins"/>
                  <a:cs typeface="Poppins"/>
                  <a:sym typeface="Poppins"/>
                </a:rPr>
                <a:t>https://github.com/Capstone-F5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6498500" y="9133151"/>
            <a:ext cx="760800" cy="554433"/>
          </a:xfrm>
          <a:custGeom>
            <a:avLst/>
            <a:gdLst/>
            <a:ahLst/>
            <a:cxnLst/>
            <a:rect r="r" b="b" t="t" l="l"/>
            <a:pathLst>
              <a:path h="554433" w="760800">
                <a:moveTo>
                  <a:pt x="0" y="0"/>
                </a:moveTo>
                <a:lnTo>
                  <a:pt x="760800" y="0"/>
                </a:lnTo>
                <a:lnTo>
                  <a:pt x="760800" y="554433"/>
                </a:lnTo>
                <a:lnTo>
                  <a:pt x="0" y="5544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008246" y="3744885"/>
            <a:ext cx="14280704" cy="6542115"/>
          </a:xfrm>
          <a:custGeom>
            <a:avLst/>
            <a:gdLst/>
            <a:ahLst/>
            <a:cxnLst/>
            <a:rect r="r" b="b" t="t" l="l"/>
            <a:pathLst>
              <a:path h="6542115" w="14280704">
                <a:moveTo>
                  <a:pt x="0" y="0"/>
                </a:moveTo>
                <a:lnTo>
                  <a:pt x="14280704" y="0"/>
                </a:lnTo>
                <a:lnTo>
                  <a:pt x="14280704" y="6542115"/>
                </a:lnTo>
                <a:lnTo>
                  <a:pt x="0" y="654211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4572" r="0" b="-4572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748364" y="621885"/>
            <a:ext cx="2791271" cy="231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b="true" sz="1600" spc="259">
                <a:solidFill>
                  <a:srgbClr val="15161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2026/09/08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08246" y="2598104"/>
            <a:ext cx="9147698" cy="860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6500" b="true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현재 시스템 구성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008246" y="1986334"/>
            <a:ext cx="4023889" cy="303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2199" spc="204" b="true">
                <a:solidFill>
                  <a:srgbClr val="151615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System Architecture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696005"/>
            <a:ext cx="5329013" cy="41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1599"/>
              </a:lnSpc>
              <a:buAutoNum type="arabicPeriod" startAt="1"/>
            </a:pPr>
            <a:r>
              <a:rPr lang="en-US" sz="1599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 </a:t>
            </a:r>
            <a:r>
              <a:rPr lang="en-US" b="true" sz="1599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1학기 분석·설계 결과와 변경사항</a:t>
            </a:r>
          </a:p>
          <a:p>
            <a:pPr algn="l">
              <a:lnSpc>
                <a:spcPts val="159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3938" y="0"/>
            <a:ext cx="20335875" cy="10287000"/>
            <a:chOff x="0" y="0"/>
            <a:chExt cx="271145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600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39850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6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651231" y="612360"/>
            <a:ext cx="271148" cy="286173"/>
          </a:xfrm>
          <a:custGeom>
            <a:avLst/>
            <a:gdLst/>
            <a:ahLst/>
            <a:cxnLst/>
            <a:rect r="r" b="b" t="t" l="l"/>
            <a:pathLst>
              <a:path h="286173" w="271148">
                <a:moveTo>
                  <a:pt x="0" y="0"/>
                </a:moveTo>
                <a:lnTo>
                  <a:pt x="271148" y="0"/>
                </a:lnTo>
                <a:lnTo>
                  <a:pt x="271148" y="286172"/>
                </a:lnTo>
                <a:lnTo>
                  <a:pt x="0" y="286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705530"/>
            <a:ext cx="2871173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1599"/>
              </a:lnSpc>
              <a:buAutoNum type="arabicPeriod" startAt="1"/>
            </a:pPr>
            <a:r>
              <a:rPr lang="en-US" sz="1599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방학 중 개발 수행 현황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4512338" y="616360"/>
            <a:ext cx="3124432" cy="456813"/>
            <a:chOff x="0" y="0"/>
            <a:chExt cx="822896" cy="12031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22896" cy="120313"/>
            </a:xfrm>
            <a:custGeom>
              <a:avLst/>
              <a:gdLst/>
              <a:ahLst/>
              <a:cxnLst/>
              <a:rect r="r" b="b" t="t" l="l"/>
              <a:pathLst>
                <a:path h="120313" w="822896">
                  <a:moveTo>
                    <a:pt x="60156" y="0"/>
                  </a:moveTo>
                  <a:lnTo>
                    <a:pt x="762739" y="0"/>
                  </a:lnTo>
                  <a:cubicBezTo>
                    <a:pt x="795963" y="0"/>
                    <a:pt x="822896" y="26933"/>
                    <a:pt x="822896" y="60156"/>
                  </a:cubicBezTo>
                  <a:lnTo>
                    <a:pt x="822896" y="60156"/>
                  </a:lnTo>
                  <a:cubicBezTo>
                    <a:pt x="822896" y="93380"/>
                    <a:pt x="795963" y="120313"/>
                    <a:pt x="762739" y="120313"/>
                  </a:cubicBezTo>
                  <a:lnTo>
                    <a:pt x="60156" y="120313"/>
                  </a:lnTo>
                  <a:cubicBezTo>
                    <a:pt x="26933" y="120313"/>
                    <a:pt x="0" y="93380"/>
                    <a:pt x="0" y="60156"/>
                  </a:cubicBezTo>
                  <a:lnTo>
                    <a:pt x="0" y="60156"/>
                  </a:lnTo>
                  <a:cubicBezTo>
                    <a:pt x="0" y="26933"/>
                    <a:pt x="26933" y="0"/>
                    <a:pt x="60156" y="0"/>
                  </a:cubicBezTo>
                  <a:close/>
                </a:path>
              </a:pathLst>
            </a:custGeom>
            <a:solidFill>
              <a:srgbClr val="15161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822896" cy="167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4760046" y="762851"/>
            <a:ext cx="2629015" cy="173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sz="1200">
                <a:solidFill>
                  <a:srgbClr val="F3F4F3"/>
                </a:solidFill>
                <a:latin typeface="Poppins"/>
                <a:ea typeface="Poppins"/>
                <a:cs typeface="Poppins"/>
                <a:sym typeface="Poppins"/>
              </a:rPr>
              <a:t>https://github.com/Capstone-F5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5647982" y="9092495"/>
            <a:ext cx="631771" cy="635745"/>
          </a:xfrm>
          <a:custGeom>
            <a:avLst/>
            <a:gdLst/>
            <a:ahLst/>
            <a:cxnLst/>
            <a:rect r="r" b="b" t="t" l="l"/>
            <a:pathLst>
              <a:path h="635745" w="631771">
                <a:moveTo>
                  <a:pt x="0" y="0"/>
                </a:moveTo>
                <a:lnTo>
                  <a:pt x="631772" y="0"/>
                </a:lnTo>
                <a:lnTo>
                  <a:pt x="631772" y="635745"/>
                </a:lnTo>
                <a:lnTo>
                  <a:pt x="0" y="6357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498500" y="9133151"/>
            <a:ext cx="760800" cy="554433"/>
          </a:xfrm>
          <a:custGeom>
            <a:avLst/>
            <a:gdLst/>
            <a:ahLst/>
            <a:cxnLst/>
            <a:rect r="r" b="b" t="t" l="l"/>
            <a:pathLst>
              <a:path h="554433" w="760800">
                <a:moveTo>
                  <a:pt x="0" y="0"/>
                </a:moveTo>
                <a:lnTo>
                  <a:pt x="760800" y="0"/>
                </a:lnTo>
                <a:lnTo>
                  <a:pt x="760800" y="554433"/>
                </a:lnTo>
                <a:lnTo>
                  <a:pt x="0" y="5544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444137" y="2598104"/>
            <a:ext cx="6835616" cy="860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500"/>
              </a:lnSpc>
            </a:pPr>
            <a:r>
              <a:rPr lang="en-US" sz="6500" b="true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방학 중 개발 목표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788481" y="1986334"/>
            <a:ext cx="4491273" cy="303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99"/>
              </a:lnSpc>
            </a:pPr>
            <a:r>
              <a:rPr lang="en-US" b="true" sz="2199" spc="204">
                <a:solidFill>
                  <a:srgbClr val="151615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Development Goals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739537" y="3763663"/>
            <a:ext cx="1187512" cy="771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4499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03.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739537" y="4811414"/>
            <a:ext cx="2971800" cy="365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화면-서버 재연동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2202534" y="3907699"/>
            <a:ext cx="2974296" cy="2552184"/>
            <a:chOff x="0" y="0"/>
            <a:chExt cx="3965728" cy="3402913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3997" y="-95250"/>
              <a:ext cx="2071287" cy="9969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299"/>
                </a:lnSpc>
                <a:spcBef>
                  <a:spcPct val="0"/>
                </a:spcBef>
              </a:pPr>
              <a:r>
                <a:rPr lang="en-US" b="true" sz="4499">
                  <a:solidFill>
                    <a:srgbClr val="151615"/>
                  </a:solidFill>
                  <a:latin typeface="네모고딕 Medium"/>
                  <a:ea typeface="네모고딕 Medium"/>
                  <a:cs typeface="네모고딕 Medium"/>
                  <a:sym typeface="네모고딕 Medium"/>
                </a:rPr>
                <a:t>01.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1285876"/>
              <a:ext cx="3965728" cy="4718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151615"/>
                  </a:solidFill>
                  <a:latin typeface="네모고딕 Medium"/>
                  <a:ea typeface="네모고딕 Medium"/>
                  <a:cs typeface="네모고딕 Medium"/>
                  <a:sym typeface="네모고딕 Medium"/>
                </a:rPr>
                <a:t>백앤드 DB 연동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2149214"/>
              <a:ext cx="3965728" cy="12536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60"/>
                </a:lnSpc>
              </a:pPr>
              <a:r>
                <a:rPr lang="en-US" sz="1600">
                  <a:solidFill>
                    <a:srgbClr val="151615"/>
                  </a:solidFill>
                  <a:latin typeface="네모고딕"/>
                  <a:ea typeface="네모고딕"/>
                  <a:cs typeface="네모고딕"/>
                  <a:sym typeface="네모고딕"/>
                </a:rPr>
                <a:t>LLM 챗봇이 실제 DB에서 모든 데이터를 읽고 저장하도록 API를 완성합니다.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202534" y="6924276"/>
            <a:ext cx="2974296" cy="2552167"/>
            <a:chOff x="0" y="0"/>
            <a:chExt cx="3965728" cy="3402889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3997" y="-95250"/>
              <a:ext cx="2071287" cy="9969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299"/>
                </a:lnSpc>
                <a:spcBef>
                  <a:spcPct val="0"/>
                </a:spcBef>
              </a:pPr>
              <a:r>
                <a:rPr lang="en-US" b="true" sz="4499">
                  <a:solidFill>
                    <a:srgbClr val="151615"/>
                  </a:solidFill>
                  <a:latin typeface="네모고딕 Medium"/>
                  <a:ea typeface="네모고딕 Medium"/>
                  <a:cs typeface="네모고딕 Medium"/>
                  <a:sym typeface="네모고딕 Medium"/>
                </a:rPr>
                <a:t>04.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1285852"/>
              <a:ext cx="3965728" cy="4718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151615"/>
                  </a:solidFill>
                  <a:latin typeface="네모고딕 Medium"/>
                  <a:ea typeface="네모고딕 Medium"/>
                  <a:cs typeface="네모고딕 Medium"/>
                  <a:sym typeface="네모고딕 Medium"/>
                </a:rPr>
                <a:t>시각장애인 접근성 개선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2149190"/>
              <a:ext cx="3965728" cy="12536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60"/>
                </a:lnSpc>
              </a:pPr>
              <a:r>
                <a:rPr lang="en-US" sz="1600">
                  <a:solidFill>
                    <a:srgbClr val="151615"/>
                  </a:solidFill>
                  <a:latin typeface="네모고딕"/>
                  <a:ea typeface="네모고딕"/>
                  <a:cs typeface="네모고딕"/>
                  <a:sym typeface="네모고딕"/>
                </a:rPr>
                <a:t>시각장애인 지팡이를 인식하면</a:t>
              </a:r>
            </a:p>
            <a:p>
              <a:pPr algn="l">
                <a:lnSpc>
                  <a:spcPts val="2560"/>
                </a:lnSpc>
              </a:pPr>
              <a:r>
                <a:rPr lang="en-US" sz="1600">
                  <a:solidFill>
                    <a:srgbClr val="151615"/>
                  </a:solidFill>
                  <a:latin typeface="네모고딕"/>
                  <a:ea typeface="네모고딕"/>
                  <a:cs typeface="네모고딕"/>
                  <a:sym typeface="네모고딕"/>
                </a:rPr>
                <a:t>키오스크의 위치를 알려주는</a:t>
              </a:r>
            </a:p>
            <a:p>
              <a:pPr algn="l">
                <a:lnSpc>
                  <a:spcPts val="2560"/>
                </a:lnSpc>
              </a:pPr>
              <a:r>
                <a:rPr lang="en-US" sz="1600">
                  <a:solidFill>
                    <a:srgbClr val="151615"/>
                  </a:solidFill>
                  <a:latin typeface="네모고딕"/>
                  <a:ea typeface="네모고딕"/>
                  <a:cs typeface="네모고딕"/>
                  <a:sym typeface="네모고딕"/>
                </a:rPr>
                <a:t>접근성 기능을 제작합니다.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469022" y="3858913"/>
            <a:ext cx="2975116" cy="2893023"/>
            <a:chOff x="0" y="0"/>
            <a:chExt cx="3966821" cy="3857364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0" y="-95250"/>
              <a:ext cx="1579691" cy="9969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299"/>
                </a:lnSpc>
                <a:spcBef>
                  <a:spcPct val="0"/>
                </a:spcBef>
              </a:pPr>
              <a:r>
                <a:rPr lang="en-US" b="true" sz="4499">
                  <a:solidFill>
                    <a:srgbClr val="151615"/>
                  </a:solidFill>
                  <a:latin typeface="네모고딕 Medium"/>
                  <a:ea typeface="네모고딕 Medium"/>
                  <a:cs typeface="네모고딕 Medium"/>
                  <a:sym typeface="네모고딕 Medium"/>
                </a:rPr>
                <a:t>02.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1308528"/>
              <a:ext cx="3966821" cy="4718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151615"/>
                  </a:solidFill>
                  <a:latin typeface="네모고딕 Medium"/>
                  <a:ea typeface="네모고딕 Medium"/>
                  <a:cs typeface="네모고딕 Medium"/>
                  <a:sym typeface="네모고딕 Medium"/>
                </a:rPr>
                <a:t>관리자 기능 추가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2171866"/>
              <a:ext cx="3966821" cy="16854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60"/>
                </a:lnSpc>
              </a:pPr>
              <a:r>
                <a:rPr lang="en-US" sz="1600">
                  <a:solidFill>
                    <a:srgbClr val="151615"/>
                  </a:solidFill>
                  <a:latin typeface="네모고딕"/>
                  <a:ea typeface="네모고딕"/>
                  <a:cs typeface="네모고딕"/>
                  <a:sym typeface="네모고딕"/>
                </a:rPr>
                <a:t>키오스크의 운영을 위한 메뉴수정,  결제 이력 등의 확인이 가능한 관리자 대시보드를 제작합니다.</a:t>
              </a:r>
            </a:p>
            <a:p>
              <a:pPr algn="l" marL="0" indent="0" lvl="0">
                <a:lnSpc>
                  <a:spcPts val="2560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0739537" y="5454155"/>
            <a:ext cx="2971800" cy="956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60"/>
              </a:lnSpc>
            </a:pPr>
            <a:r>
              <a:rPr lang="en-US" sz="16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백엔드 API 변경에 따라 키오스크 화면이 DB와 올바르게 연동되도록 변경 작업을 진행합니다.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6469022" y="6924276"/>
            <a:ext cx="2974296" cy="2552167"/>
            <a:chOff x="0" y="0"/>
            <a:chExt cx="3965728" cy="3402889"/>
          </a:xfrm>
        </p:grpSpPr>
        <p:sp>
          <p:nvSpPr>
            <p:cNvPr name="TextBox 31" id="31"/>
            <p:cNvSpPr txBox="true"/>
            <p:nvPr/>
          </p:nvSpPr>
          <p:spPr>
            <a:xfrm rot="0">
              <a:off x="3997" y="-95250"/>
              <a:ext cx="2071287" cy="9969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299"/>
                </a:lnSpc>
                <a:spcBef>
                  <a:spcPct val="0"/>
                </a:spcBef>
              </a:pPr>
              <a:r>
                <a:rPr lang="en-US" b="true" sz="4499">
                  <a:solidFill>
                    <a:srgbClr val="151615"/>
                  </a:solidFill>
                  <a:latin typeface="네모고딕 Medium"/>
                  <a:ea typeface="네모고딕 Medium"/>
                  <a:cs typeface="네모고딕 Medium"/>
                  <a:sym typeface="네모고딕 Medium"/>
                </a:rPr>
                <a:t>05.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0" y="1285852"/>
              <a:ext cx="3965728" cy="4718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151615"/>
                  </a:solidFill>
                  <a:latin typeface="네모고딕 Medium"/>
                  <a:ea typeface="네모고딕 Medium"/>
                  <a:cs typeface="네모고딕 Medium"/>
                  <a:sym typeface="네모고딕 Medium"/>
                </a:rPr>
                <a:t>외부 접근 환경 구축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0" y="2149190"/>
              <a:ext cx="3965728" cy="12536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60"/>
                </a:lnSpc>
              </a:pPr>
              <a:r>
                <a:rPr lang="en-US" sz="1600">
                  <a:solidFill>
                    <a:srgbClr val="151615"/>
                  </a:solidFill>
                  <a:latin typeface="네모고딕"/>
                  <a:ea typeface="네모고딕"/>
                  <a:cs typeface="네모고딕"/>
                  <a:sym typeface="네모고딕"/>
                </a:rPr>
                <a:t>Cloudflare Tunnel을 통하여</a:t>
              </a:r>
            </a:p>
            <a:p>
              <a:pPr algn="l">
                <a:lnSpc>
                  <a:spcPts val="2560"/>
                </a:lnSpc>
              </a:pPr>
              <a:r>
                <a:rPr lang="en-US" sz="1600">
                  <a:solidFill>
                    <a:srgbClr val="151615"/>
                  </a:solidFill>
                  <a:latin typeface="네모고딕"/>
                  <a:ea typeface="네모고딕"/>
                  <a:cs typeface="네모고딕"/>
                  <a:sym typeface="네모고딕"/>
                </a:rPr>
                <a:t>카메라 활용에 필요한 https 배포 환경을 구축합니다.</a:t>
              </a:r>
            </a:p>
          </p:txBody>
        </p:sp>
      </p:grpSp>
      <p:sp>
        <p:nvSpPr>
          <p:cNvPr name="AutoShape 34" id="34"/>
          <p:cNvSpPr/>
          <p:nvPr/>
        </p:nvSpPr>
        <p:spPr>
          <a:xfrm>
            <a:off x="10091837" y="4007910"/>
            <a:ext cx="0" cy="2271180"/>
          </a:xfrm>
          <a:prstGeom prst="line">
            <a:avLst/>
          </a:prstGeom>
          <a:ln cap="rnd" w="19050">
            <a:solidFill>
              <a:srgbClr val="89857F">
                <a:alpha val="32941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>
            <a:off x="5714163" y="4007910"/>
            <a:ext cx="0" cy="2271180"/>
          </a:xfrm>
          <a:prstGeom prst="line">
            <a:avLst/>
          </a:prstGeom>
          <a:ln cap="rnd" w="19050">
            <a:solidFill>
              <a:srgbClr val="89857F">
                <a:alpha val="32941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>
            <a:off x="5714163" y="7064769"/>
            <a:ext cx="0" cy="2271180"/>
          </a:xfrm>
          <a:prstGeom prst="line">
            <a:avLst/>
          </a:prstGeom>
          <a:ln cap="rnd" w="19050">
            <a:solidFill>
              <a:srgbClr val="89857F">
                <a:alpha val="32941"/>
              </a:srgbClr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3938" y="0"/>
            <a:ext cx="20335875" cy="10287000"/>
            <a:chOff x="0" y="0"/>
            <a:chExt cx="271145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600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39850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6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651231" y="612360"/>
            <a:ext cx="271148" cy="286173"/>
          </a:xfrm>
          <a:custGeom>
            <a:avLst/>
            <a:gdLst/>
            <a:ahLst/>
            <a:cxnLst/>
            <a:rect r="r" b="b" t="t" l="l"/>
            <a:pathLst>
              <a:path h="286173" w="271148">
                <a:moveTo>
                  <a:pt x="0" y="0"/>
                </a:moveTo>
                <a:lnTo>
                  <a:pt x="271148" y="0"/>
                </a:lnTo>
                <a:lnTo>
                  <a:pt x="271148" y="286172"/>
                </a:lnTo>
                <a:lnTo>
                  <a:pt x="0" y="286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512338" y="616360"/>
            <a:ext cx="3124432" cy="456813"/>
            <a:chOff x="0" y="0"/>
            <a:chExt cx="822896" cy="1203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2896" cy="120313"/>
            </a:xfrm>
            <a:custGeom>
              <a:avLst/>
              <a:gdLst/>
              <a:ahLst/>
              <a:cxnLst/>
              <a:rect r="r" b="b" t="t" l="l"/>
              <a:pathLst>
                <a:path h="120313" w="822896">
                  <a:moveTo>
                    <a:pt x="60156" y="0"/>
                  </a:moveTo>
                  <a:lnTo>
                    <a:pt x="762739" y="0"/>
                  </a:lnTo>
                  <a:cubicBezTo>
                    <a:pt x="795963" y="0"/>
                    <a:pt x="822896" y="26933"/>
                    <a:pt x="822896" y="60156"/>
                  </a:cubicBezTo>
                  <a:lnTo>
                    <a:pt x="822896" y="60156"/>
                  </a:lnTo>
                  <a:cubicBezTo>
                    <a:pt x="822896" y="93380"/>
                    <a:pt x="795963" y="120313"/>
                    <a:pt x="762739" y="120313"/>
                  </a:cubicBezTo>
                  <a:lnTo>
                    <a:pt x="60156" y="120313"/>
                  </a:lnTo>
                  <a:cubicBezTo>
                    <a:pt x="26933" y="120313"/>
                    <a:pt x="0" y="93380"/>
                    <a:pt x="0" y="60156"/>
                  </a:cubicBezTo>
                  <a:lnTo>
                    <a:pt x="0" y="60156"/>
                  </a:lnTo>
                  <a:cubicBezTo>
                    <a:pt x="0" y="26933"/>
                    <a:pt x="26933" y="0"/>
                    <a:pt x="60156" y="0"/>
                  </a:cubicBezTo>
                  <a:close/>
                </a:path>
              </a:pathLst>
            </a:custGeom>
            <a:solidFill>
              <a:srgbClr val="15161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22896" cy="167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563014" y="1957759"/>
            <a:ext cx="631771" cy="635745"/>
          </a:xfrm>
          <a:custGeom>
            <a:avLst/>
            <a:gdLst/>
            <a:ahLst/>
            <a:cxnLst/>
            <a:rect r="r" b="b" t="t" l="l"/>
            <a:pathLst>
              <a:path h="635745" w="631771">
                <a:moveTo>
                  <a:pt x="0" y="0"/>
                </a:moveTo>
                <a:lnTo>
                  <a:pt x="631772" y="0"/>
                </a:lnTo>
                <a:lnTo>
                  <a:pt x="631772" y="635745"/>
                </a:lnTo>
                <a:lnTo>
                  <a:pt x="0" y="6357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498500" y="9133151"/>
            <a:ext cx="760800" cy="554433"/>
          </a:xfrm>
          <a:custGeom>
            <a:avLst/>
            <a:gdLst/>
            <a:ahLst/>
            <a:cxnLst/>
            <a:rect r="r" b="b" t="t" l="l"/>
            <a:pathLst>
              <a:path h="554433" w="760800">
                <a:moveTo>
                  <a:pt x="0" y="0"/>
                </a:moveTo>
                <a:lnTo>
                  <a:pt x="760800" y="0"/>
                </a:lnTo>
                <a:lnTo>
                  <a:pt x="760800" y="554433"/>
                </a:lnTo>
                <a:lnTo>
                  <a:pt x="0" y="5544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86805" y="3811732"/>
            <a:ext cx="16156800" cy="4968216"/>
          </a:xfrm>
          <a:custGeom>
            <a:avLst/>
            <a:gdLst/>
            <a:ahLst/>
            <a:cxnLst/>
            <a:rect r="r" b="b" t="t" l="l"/>
            <a:pathLst>
              <a:path h="4968216" w="16156800">
                <a:moveTo>
                  <a:pt x="0" y="0"/>
                </a:moveTo>
                <a:lnTo>
                  <a:pt x="16156800" y="0"/>
                </a:lnTo>
                <a:lnTo>
                  <a:pt x="16156800" y="4968216"/>
                </a:lnTo>
                <a:lnTo>
                  <a:pt x="0" y="496821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748364" y="621885"/>
            <a:ext cx="2791271" cy="231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b="true" sz="1600" spc="259">
                <a:solidFill>
                  <a:srgbClr val="15161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2026/09/08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760046" y="762851"/>
            <a:ext cx="2629015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sz="1200">
                <a:solidFill>
                  <a:srgbClr val="F3F4F3"/>
                </a:solidFill>
                <a:latin typeface="Poppins"/>
                <a:ea typeface="Poppins"/>
                <a:cs typeface="Poppins"/>
                <a:sym typeface="Poppins"/>
              </a:rPr>
              <a:t>https://github.com/Capstone-F5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08246" y="2598104"/>
            <a:ext cx="9147698" cy="860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6500" b="true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개발 일정 및 수행 결과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08246" y="1986334"/>
            <a:ext cx="4023889" cy="303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2199" spc="204" b="true">
                <a:solidFill>
                  <a:srgbClr val="151615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Timeline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705530"/>
            <a:ext cx="2871173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1599"/>
              </a:lnSpc>
              <a:buAutoNum type="arabicPeriod" startAt="1"/>
            </a:pPr>
            <a:r>
              <a:rPr lang="en-US" sz="1599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방학 중 개발 수행 현황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3938" y="0"/>
            <a:ext cx="20335875" cy="10287000"/>
            <a:chOff x="0" y="0"/>
            <a:chExt cx="271145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600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39850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6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651231" y="612360"/>
            <a:ext cx="271148" cy="286173"/>
          </a:xfrm>
          <a:custGeom>
            <a:avLst/>
            <a:gdLst/>
            <a:ahLst/>
            <a:cxnLst/>
            <a:rect r="r" b="b" t="t" l="l"/>
            <a:pathLst>
              <a:path h="286173" w="271148">
                <a:moveTo>
                  <a:pt x="0" y="0"/>
                </a:moveTo>
                <a:lnTo>
                  <a:pt x="271148" y="0"/>
                </a:lnTo>
                <a:lnTo>
                  <a:pt x="271148" y="286172"/>
                </a:lnTo>
                <a:lnTo>
                  <a:pt x="0" y="286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512338" y="616360"/>
            <a:ext cx="3124432" cy="456813"/>
            <a:chOff x="0" y="0"/>
            <a:chExt cx="822896" cy="1203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2896" cy="120313"/>
            </a:xfrm>
            <a:custGeom>
              <a:avLst/>
              <a:gdLst/>
              <a:ahLst/>
              <a:cxnLst/>
              <a:rect r="r" b="b" t="t" l="l"/>
              <a:pathLst>
                <a:path h="120313" w="822896">
                  <a:moveTo>
                    <a:pt x="60156" y="0"/>
                  </a:moveTo>
                  <a:lnTo>
                    <a:pt x="762739" y="0"/>
                  </a:lnTo>
                  <a:cubicBezTo>
                    <a:pt x="795963" y="0"/>
                    <a:pt x="822896" y="26933"/>
                    <a:pt x="822896" y="60156"/>
                  </a:cubicBezTo>
                  <a:lnTo>
                    <a:pt x="822896" y="60156"/>
                  </a:lnTo>
                  <a:cubicBezTo>
                    <a:pt x="822896" y="93380"/>
                    <a:pt x="795963" y="120313"/>
                    <a:pt x="762739" y="120313"/>
                  </a:cubicBezTo>
                  <a:lnTo>
                    <a:pt x="60156" y="120313"/>
                  </a:lnTo>
                  <a:cubicBezTo>
                    <a:pt x="26933" y="120313"/>
                    <a:pt x="0" y="93380"/>
                    <a:pt x="0" y="60156"/>
                  </a:cubicBezTo>
                  <a:lnTo>
                    <a:pt x="0" y="60156"/>
                  </a:lnTo>
                  <a:cubicBezTo>
                    <a:pt x="0" y="26933"/>
                    <a:pt x="26933" y="0"/>
                    <a:pt x="60156" y="0"/>
                  </a:cubicBezTo>
                  <a:close/>
                </a:path>
              </a:pathLst>
            </a:custGeom>
            <a:solidFill>
              <a:srgbClr val="15161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22896" cy="167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563014" y="1957759"/>
            <a:ext cx="631771" cy="635745"/>
          </a:xfrm>
          <a:custGeom>
            <a:avLst/>
            <a:gdLst/>
            <a:ahLst/>
            <a:cxnLst/>
            <a:rect r="r" b="b" t="t" l="l"/>
            <a:pathLst>
              <a:path h="635745" w="631771">
                <a:moveTo>
                  <a:pt x="0" y="0"/>
                </a:moveTo>
                <a:lnTo>
                  <a:pt x="631772" y="0"/>
                </a:lnTo>
                <a:lnTo>
                  <a:pt x="631772" y="635745"/>
                </a:lnTo>
                <a:lnTo>
                  <a:pt x="0" y="6357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498500" y="9133151"/>
            <a:ext cx="760800" cy="554433"/>
          </a:xfrm>
          <a:custGeom>
            <a:avLst/>
            <a:gdLst/>
            <a:ahLst/>
            <a:cxnLst/>
            <a:rect r="r" b="b" t="t" l="l"/>
            <a:pathLst>
              <a:path h="554433" w="760800">
                <a:moveTo>
                  <a:pt x="0" y="0"/>
                </a:moveTo>
                <a:lnTo>
                  <a:pt x="760800" y="0"/>
                </a:lnTo>
                <a:lnTo>
                  <a:pt x="760800" y="554433"/>
                </a:lnTo>
                <a:lnTo>
                  <a:pt x="0" y="5544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86805" y="3810971"/>
            <a:ext cx="16159275" cy="4968977"/>
          </a:xfrm>
          <a:custGeom>
            <a:avLst/>
            <a:gdLst/>
            <a:ahLst/>
            <a:cxnLst/>
            <a:rect r="r" b="b" t="t" l="l"/>
            <a:pathLst>
              <a:path h="4968977" w="16159275">
                <a:moveTo>
                  <a:pt x="0" y="0"/>
                </a:moveTo>
                <a:lnTo>
                  <a:pt x="16159275" y="0"/>
                </a:lnTo>
                <a:lnTo>
                  <a:pt x="16159275" y="4968977"/>
                </a:lnTo>
                <a:lnTo>
                  <a:pt x="0" y="496897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748364" y="621885"/>
            <a:ext cx="2791271" cy="231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b="true" sz="1600" spc="259">
                <a:solidFill>
                  <a:srgbClr val="15161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2026/09/08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760046" y="762851"/>
            <a:ext cx="2629015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sz="1200">
                <a:solidFill>
                  <a:srgbClr val="F3F4F3"/>
                </a:solidFill>
                <a:latin typeface="Poppins"/>
                <a:ea typeface="Poppins"/>
                <a:cs typeface="Poppins"/>
                <a:sym typeface="Poppins"/>
              </a:rPr>
              <a:t>https://github.com/Capstone-F5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08246" y="2598104"/>
            <a:ext cx="9147698" cy="860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6500" b="true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개발 일정 및 수행 결과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08246" y="1986334"/>
            <a:ext cx="4023889" cy="303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2199" spc="204" b="true">
                <a:solidFill>
                  <a:srgbClr val="151615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Timeline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705530"/>
            <a:ext cx="2871173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1599"/>
              </a:lnSpc>
              <a:buAutoNum type="arabicPeriod" startAt="1"/>
            </a:pPr>
            <a:r>
              <a:rPr lang="en-US" sz="1599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방학 중 개발 수행 현황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3938" y="0"/>
            <a:ext cx="20335875" cy="10287000"/>
            <a:chOff x="0" y="0"/>
            <a:chExt cx="271145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600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39850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6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651231" y="612360"/>
            <a:ext cx="271148" cy="286173"/>
          </a:xfrm>
          <a:custGeom>
            <a:avLst/>
            <a:gdLst/>
            <a:ahLst/>
            <a:cxnLst/>
            <a:rect r="r" b="b" t="t" l="l"/>
            <a:pathLst>
              <a:path h="286173" w="271148">
                <a:moveTo>
                  <a:pt x="0" y="0"/>
                </a:moveTo>
                <a:lnTo>
                  <a:pt x="271148" y="0"/>
                </a:lnTo>
                <a:lnTo>
                  <a:pt x="271148" y="286172"/>
                </a:lnTo>
                <a:lnTo>
                  <a:pt x="0" y="286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512338" y="616360"/>
            <a:ext cx="3124432" cy="456813"/>
            <a:chOff x="0" y="0"/>
            <a:chExt cx="822896" cy="1203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2896" cy="120313"/>
            </a:xfrm>
            <a:custGeom>
              <a:avLst/>
              <a:gdLst/>
              <a:ahLst/>
              <a:cxnLst/>
              <a:rect r="r" b="b" t="t" l="l"/>
              <a:pathLst>
                <a:path h="120313" w="822896">
                  <a:moveTo>
                    <a:pt x="60156" y="0"/>
                  </a:moveTo>
                  <a:lnTo>
                    <a:pt x="762739" y="0"/>
                  </a:lnTo>
                  <a:cubicBezTo>
                    <a:pt x="795963" y="0"/>
                    <a:pt x="822896" y="26933"/>
                    <a:pt x="822896" y="60156"/>
                  </a:cubicBezTo>
                  <a:lnTo>
                    <a:pt x="822896" y="60156"/>
                  </a:lnTo>
                  <a:cubicBezTo>
                    <a:pt x="822896" y="93380"/>
                    <a:pt x="795963" y="120313"/>
                    <a:pt x="762739" y="120313"/>
                  </a:cubicBezTo>
                  <a:lnTo>
                    <a:pt x="60156" y="120313"/>
                  </a:lnTo>
                  <a:cubicBezTo>
                    <a:pt x="26933" y="120313"/>
                    <a:pt x="0" y="93380"/>
                    <a:pt x="0" y="60156"/>
                  </a:cubicBezTo>
                  <a:lnTo>
                    <a:pt x="0" y="60156"/>
                  </a:lnTo>
                  <a:cubicBezTo>
                    <a:pt x="0" y="26933"/>
                    <a:pt x="26933" y="0"/>
                    <a:pt x="60156" y="0"/>
                  </a:cubicBezTo>
                  <a:close/>
                </a:path>
              </a:pathLst>
            </a:custGeom>
            <a:solidFill>
              <a:srgbClr val="15161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22896" cy="167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563014" y="1957759"/>
            <a:ext cx="631771" cy="635745"/>
          </a:xfrm>
          <a:custGeom>
            <a:avLst/>
            <a:gdLst/>
            <a:ahLst/>
            <a:cxnLst/>
            <a:rect r="r" b="b" t="t" l="l"/>
            <a:pathLst>
              <a:path h="635745" w="631771">
                <a:moveTo>
                  <a:pt x="0" y="0"/>
                </a:moveTo>
                <a:lnTo>
                  <a:pt x="631772" y="0"/>
                </a:lnTo>
                <a:lnTo>
                  <a:pt x="631772" y="635745"/>
                </a:lnTo>
                <a:lnTo>
                  <a:pt x="0" y="6357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498500" y="9133151"/>
            <a:ext cx="760800" cy="554433"/>
          </a:xfrm>
          <a:custGeom>
            <a:avLst/>
            <a:gdLst/>
            <a:ahLst/>
            <a:cxnLst/>
            <a:rect r="r" b="b" t="t" l="l"/>
            <a:pathLst>
              <a:path h="554433" w="760800">
                <a:moveTo>
                  <a:pt x="0" y="0"/>
                </a:moveTo>
                <a:lnTo>
                  <a:pt x="760800" y="0"/>
                </a:lnTo>
                <a:lnTo>
                  <a:pt x="760800" y="554433"/>
                </a:lnTo>
                <a:lnTo>
                  <a:pt x="0" y="5544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86805" y="3639505"/>
            <a:ext cx="16156800" cy="5836644"/>
          </a:xfrm>
          <a:custGeom>
            <a:avLst/>
            <a:gdLst/>
            <a:ahLst/>
            <a:cxnLst/>
            <a:rect r="r" b="b" t="t" l="l"/>
            <a:pathLst>
              <a:path h="5836644" w="16156800">
                <a:moveTo>
                  <a:pt x="0" y="0"/>
                </a:moveTo>
                <a:lnTo>
                  <a:pt x="16156800" y="0"/>
                </a:lnTo>
                <a:lnTo>
                  <a:pt x="16156800" y="5836644"/>
                </a:lnTo>
                <a:lnTo>
                  <a:pt x="0" y="583664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748364" y="621885"/>
            <a:ext cx="2791271" cy="231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b="true" sz="1600" spc="259">
                <a:solidFill>
                  <a:srgbClr val="15161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2026/09/08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760046" y="762851"/>
            <a:ext cx="2629015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sz="1200">
                <a:solidFill>
                  <a:srgbClr val="F3F4F3"/>
                </a:solidFill>
                <a:latin typeface="Poppins"/>
                <a:ea typeface="Poppins"/>
                <a:cs typeface="Poppins"/>
                <a:sym typeface="Poppins"/>
              </a:rPr>
              <a:t>https://github.com/Capstone-F5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08246" y="2598104"/>
            <a:ext cx="9147698" cy="860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6500" b="true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개발 일정 및 수행 결과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08246" y="1986334"/>
            <a:ext cx="4023889" cy="303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2199" spc="204" b="true">
                <a:solidFill>
                  <a:srgbClr val="151615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Timeline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705530"/>
            <a:ext cx="2871173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1599"/>
              </a:lnSpc>
              <a:buAutoNum type="arabicPeriod" startAt="1"/>
            </a:pPr>
            <a:r>
              <a:rPr lang="en-US" sz="1599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방학 중 개발 수행 현황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3938" y="0"/>
            <a:ext cx="20335875" cy="10287000"/>
            <a:chOff x="0" y="0"/>
            <a:chExt cx="271145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600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39850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6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651231" y="612360"/>
            <a:ext cx="271148" cy="286173"/>
          </a:xfrm>
          <a:custGeom>
            <a:avLst/>
            <a:gdLst/>
            <a:ahLst/>
            <a:cxnLst/>
            <a:rect r="r" b="b" t="t" l="l"/>
            <a:pathLst>
              <a:path h="286173" w="271148">
                <a:moveTo>
                  <a:pt x="0" y="0"/>
                </a:moveTo>
                <a:lnTo>
                  <a:pt x="271148" y="0"/>
                </a:lnTo>
                <a:lnTo>
                  <a:pt x="271148" y="286172"/>
                </a:lnTo>
                <a:lnTo>
                  <a:pt x="0" y="286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748364" y="621885"/>
            <a:ext cx="2791271" cy="231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b="true" sz="1600" spc="259">
                <a:solidFill>
                  <a:srgbClr val="15161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2026/09/08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563014" y="1957759"/>
            <a:ext cx="631771" cy="635745"/>
          </a:xfrm>
          <a:custGeom>
            <a:avLst/>
            <a:gdLst/>
            <a:ahLst/>
            <a:cxnLst/>
            <a:rect r="r" b="b" t="t" l="l"/>
            <a:pathLst>
              <a:path h="635745" w="631771">
                <a:moveTo>
                  <a:pt x="0" y="0"/>
                </a:moveTo>
                <a:lnTo>
                  <a:pt x="631772" y="0"/>
                </a:lnTo>
                <a:lnTo>
                  <a:pt x="631772" y="635745"/>
                </a:lnTo>
                <a:lnTo>
                  <a:pt x="0" y="6357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498500" y="9133151"/>
            <a:ext cx="760800" cy="554433"/>
          </a:xfrm>
          <a:custGeom>
            <a:avLst/>
            <a:gdLst/>
            <a:ahLst/>
            <a:cxnLst/>
            <a:rect r="r" b="b" t="t" l="l"/>
            <a:pathLst>
              <a:path h="554433" w="760800">
                <a:moveTo>
                  <a:pt x="0" y="0"/>
                </a:moveTo>
                <a:lnTo>
                  <a:pt x="760800" y="0"/>
                </a:lnTo>
                <a:lnTo>
                  <a:pt x="760800" y="554433"/>
                </a:lnTo>
                <a:lnTo>
                  <a:pt x="0" y="5544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008246" y="2598104"/>
            <a:ext cx="9147698" cy="860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00"/>
              </a:lnSpc>
              <a:spcBef>
                <a:spcPct val="0"/>
              </a:spcBef>
            </a:pPr>
            <a:r>
              <a:rPr lang="en-US" b="true" sz="6500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팀원별 개발 기여 현황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08246" y="1986334"/>
            <a:ext cx="4023889" cy="303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99"/>
              </a:lnSpc>
              <a:spcBef>
                <a:spcPct val="0"/>
              </a:spcBef>
            </a:pPr>
            <a:r>
              <a:rPr lang="en-US" b="true" sz="2199" spc="204" strike="noStrike" u="none">
                <a:solidFill>
                  <a:srgbClr val="151615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Team Activities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96005"/>
            <a:ext cx="2871173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1599"/>
              </a:lnSpc>
              <a:buAutoNum type="arabicPeriod" startAt="1"/>
            </a:pPr>
            <a:r>
              <a:rPr lang="en-US" sz="1599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방학 중 개발 수행 현황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009775" y="3971925"/>
            <a:ext cx="6929438" cy="1581150"/>
            <a:chOff x="0" y="0"/>
            <a:chExt cx="9239250" cy="2108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239250" cy="2108200"/>
            </a:xfrm>
            <a:custGeom>
              <a:avLst/>
              <a:gdLst/>
              <a:ahLst/>
              <a:cxnLst/>
              <a:rect r="r" b="b" t="t" l="l"/>
              <a:pathLst>
                <a:path h="2108200" w="9239250">
                  <a:moveTo>
                    <a:pt x="254000" y="0"/>
                  </a:moveTo>
                  <a:lnTo>
                    <a:pt x="8985250" y="0"/>
                  </a:lnTo>
                  <a:cubicBezTo>
                    <a:pt x="9125531" y="0"/>
                    <a:pt x="9239250" y="113720"/>
                    <a:pt x="9239250" y="254000"/>
                  </a:cubicBezTo>
                  <a:lnTo>
                    <a:pt x="9239250" y="1854200"/>
                  </a:lnTo>
                  <a:cubicBezTo>
                    <a:pt x="9239250" y="1994480"/>
                    <a:pt x="9125531" y="2108200"/>
                    <a:pt x="8985250" y="2108200"/>
                  </a:cubicBezTo>
                  <a:lnTo>
                    <a:pt x="254000" y="2108200"/>
                  </a:lnTo>
                  <a:cubicBezTo>
                    <a:pt x="113720" y="2108200"/>
                    <a:pt x="0" y="1994480"/>
                    <a:pt x="0" y="18542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FCFCFC"/>
            </a:solidFill>
            <a:ln w="9525" cap="sq">
              <a:solidFill>
                <a:srgbClr val="CACACA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9239250" cy="2146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257425" y="4200525"/>
            <a:ext cx="66675" cy="361950"/>
            <a:chOff x="0" y="0"/>
            <a:chExt cx="88900" cy="482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8900" cy="482600"/>
            </a:xfrm>
            <a:custGeom>
              <a:avLst/>
              <a:gdLst/>
              <a:ahLst/>
              <a:cxnLst/>
              <a:rect r="r" b="b" t="t" l="l"/>
              <a:pathLst>
                <a:path h="482600" w="88900">
                  <a:moveTo>
                    <a:pt x="38100" y="0"/>
                  </a:moveTo>
                  <a:lnTo>
                    <a:pt x="50800" y="0"/>
                  </a:lnTo>
                  <a:cubicBezTo>
                    <a:pt x="71842" y="0"/>
                    <a:pt x="88900" y="17058"/>
                    <a:pt x="88900" y="38100"/>
                  </a:cubicBezTo>
                  <a:lnTo>
                    <a:pt x="88900" y="444500"/>
                  </a:lnTo>
                  <a:cubicBezTo>
                    <a:pt x="88900" y="465542"/>
                    <a:pt x="71842" y="482600"/>
                    <a:pt x="50800" y="482600"/>
                  </a:cubicBezTo>
                  <a:lnTo>
                    <a:pt x="38100" y="482600"/>
                  </a:lnTo>
                  <a:cubicBezTo>
                    <a:pt x="17058" y="482600"/>
                    <a:pt x="0" y="465542"/>
                    <a:pt x="0" y="4445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E8A30C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88900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263062" y="3971925"/>
            <a:ext cx="6929438" cy="1581150"/>
            <a:chOff x="0" y="0"/>
            <a:chExt cx="9239250" cy="2108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239250" cy="2108200"/>
            </a:xfrm>
            <a:custGeom>
              <a:avLst/>
              <a:gdLst/>
              <a:ahLst/>
              <a:cxnLst/>
              <a:rect r="r" b="b" t="t" l="l"/>
              <a:pathLst>
                <a:path h="2108200" w="9239250">
                  <a:moveTo>
                    <a:pt x="254000" y="0"/>
                  </a:moveTo>
                  <a:lnTo>
                    <a:pt x="8985250" y="0"/>
                  </a:lnTo>
                  <a:cubicBezTo>
                    <a:pt x="9125531" y="0"/>
                    <a:pt x="9239250" y="113720"/>
                    <a:pt x="9239250" y="254000"/>
                  </a:cubicBezTo>
                  <a:lnTo>
                    <a:pt x="9239250" y="1854200"/>
                  </a:lnTo>
                  <a:cubicBezTo>
                    <a:pt x="9239250" y="1994480"/>
                    <a:pt x="9125531" y="2108200"/>
                    <a:pt x="8985250" y="2108200"/>
                  </a:cubicBezTo>
                  <a:lnTo>
                    <a:pt x="254000" y="2108200"/>
                  </a:lnTo>
                  <a:cubicBezTo>
                    <a:pt x="113720" y="2108200"/>
                    <a:pt x="0" y="1994480"/>
                    <a:pt x="0" y="18542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FCFCFC"/>
            </a:solidFill>
            <a:ln w="9525" cap="sq">
              <a:solidFill>
                <a:srgbClr val="CACACA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239250" cy="2146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510712" y="4200525"/>
            <a:ext cx="66675" cy="361950"/>
            <a:chOff x="0" y="0"/>
            <a:chExt cx="88900" cy="4826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8900" cy="482600"/>
            </a:xfrm>
            <a:custGeom>
              <a:avLst/>
              <a:gdLst/>
              <a:ahLst/>
              <a:cxnLst/>
              <a:rect r="r" b="b" t="t" l="l"/>
              <a:pathLst>
                <a:path h="482600" w="88900">
                  <a:moveTo>
                    <a:pt x="38100" y="0"/>
                  </a:moveTo>
                  <a:lnTo>
                    <a:pt x="50800" y="0"/>
                  </a:lnTo>
                  <a:cubicBezTo>
                    <a:pt x="71842" y="0"/>
                    <a:pt x="88900" y="17058"/>
                    <a:pt x="88900" y="38100"/>
                  </a:cubicBezTo>
                  <a:lnTo>
                    <a:pt x="88900" y="444500"/>
                  </a:lnTo>
                  <a:cubicBezTo>
                    <a:pt x="88900" y="465542"/>
                    <a:pt x="71842" y="482600"/>
                    <a:pt x="50800" y="482600"/>
                  </a:cubicBezTo>
                  <a:lnTo>
                    <a:pt x="38100" y="482600"/>
                  </a:lnTo>
                  <a:cubicBezTo>
                    <a:pt x="17058" y="482600"/>
                    <a:pt x="0" y="465542"/>
                    <a:pt x="0" y="4445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E8A30C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88900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009775" y="5724525"/>
            <a:ext cx="6929438" cy="1581150"/>
            <a:chOff x="0" y="0"/>
            <a:chExt cx="9239250" cy="2108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239250" cy="2108200"/>
            </a:xfrm>
            <a:custGeom>
              <a:avLst/>
              <a:gdLst/>
              <a:ahLst/>
              <a:cxnLst/>
              <a:rect r="r" b="b" t="t" l="l"/>
              <a:pathLst>
                <a:path h="2108200" w="9239250">
                  <a:moveTo>
                    <a:pt x="254000" y="0"/>
                  </a:moveTo>
                  <a:lnTo>
                    <a:pt x="8985250" y="0"/>
                  </a:lnTo>
                  <a:cubicBezTo>
                    <a:pt x="9125531" y="0"/>
                    <a:pt x="9239250" y="113720"/>
                    <a:pt x="9239250" y="254000"/>
                  </a:cubicBezTo>
                  <a:lnTo>
                    <a:pt x="9239250" y="1854200"/>
                  </a:lnTo>
                  <a:cubicBezTo>
                    <a:pt x="9239250" y="1994480"/>
                    <a:pt x="9125531" y="2108200"/>
                    <a:pt x="8985250" y="2108200"/>
                  </a:cubicBezTo>
                  <a:lnTo>
                    <a:pt x="254000" y="2108200"/>
                  </a:lnTo>
                  <a:cubicBezTo>
                    <a:pt x="113720" y="2108200"/>
                    <a:pt x="0" y="1994480"/>
                    <a:pt x="0" y="18542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FCFCFC"/>
            </a:solidFill>
            <a:ln w="9525" cap="sq">
              <a:solidFill>
                <a:srgbClr val="CACACA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9239250" cy="2146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257425" y="5953125"/>
            <a:ext cx="66675" cy="361950"/>
            <a:chOff x="0" y="0"/>
            <a:chExt cx="88900" cy="4826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8900" cy="482600"/>
            </a:xfrm>
            <a:custGeom>
              <a:avLst/>
              <a:gdLst/>
              <a:ahLst/>
              <a:cxnLst/>
              <a:rect r="r" b="b" t="t" l="l"/>
              <a:pathLst>
                <a:path h="482600" w="88900">
                  <a:moveTo>
                    <a:pt x="38100" y="0"/>
                  </a:moveTo>
                  <a:lnTo>
                    <a:pt x="50800" y="0"/>
                  </a:lnTo>
                  <a:cubicBezTo>
                    <a:pt x="71842" y="0"/>
                    <a:pt x="88900" y="17058"/>
                    <a:pt x="88900" y="38100"/>
                  </a:cubicBezTo>
                  <a:lnTo>
                    <a:pt x="88900" y="444500"/>
                  </a:lnTo>
                  <a:cubicBezTo>
                    <a:pt x="88900" y="465542"/>
                    <a:pt x="71842" y="482600"/>
                    <a:pt x="50800" y="482600"/>
                  </a:cubicBezTo>
                  <a:lnTo>
                    <a:pt x="38100" y="482600"/>
                  </a:lnTo>
                  <a:cubicBezTo>
                    <a:pt x="17058" y="482600"/>
                    <a:pt x="0" y="465542"/>
                    <a:pt x="0" y="4445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E8A30C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88900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263062" y="5724525"/>
            <a:ext cx="6929438" cy="1581150"/>
            <a:chOff x="0" y="0"/>
            <a:chExt cx="9239250" cy="2108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239250" cy="2108200"/>
            </a:xfrm>
            <a:custGeom>
              <a:avLst/>
              <a:gdLst/>
              <a:ahLst/>
              <a:cxnLst/>
              <a:rect r="r" b="b" t="t" l="l"/>
              <a:pathLst>
                <a:path h="2108200" w="9239250">
                  <a:moveTo>
                    <a:pt x="254000" y="0"/>
                  </a:moveTo>
                  <a:lnTo>
                    <a:pt x="8985250" y="0"/>
                  </a:lnTo>
                  <a:cubicBezTo>
                    <a:pt x="9125531" y="0"/>
                    <a:pt x="9239250" y="113720"/>
                    <a:pt x="9239250" y="254000"/>
                  </a:cubicBezTo>
                  <a:lnTo>
                    <a:pt x="9239250" y="1854200"/>
                  </a:lnTo>
                  <a:cubicBezTo>
                    <a:pt x="9239250" y="1994480"/>
                    <a:pt x="9125531" y="2108200"/>
                    <a:pt x="8985250" y="2108200"/>
                  </a:cubicBezTo>
                  <a:lnTo>
                    <a:pt x="254000" y="2108200"/>
                  </a:lnTo>
                  <a:cubicBezTo>
                    <a:pt x="113720" y="2108200"/>
                    <a:pt x="0" y="1994480"/>
                    <a:pt x="0" y="18542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FCFCFC"/>
            </a:solidFill>
            <a:ln w="9525" cap="sq">
              <a:solidFill>
                <a:srgbClr val="CACACA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9239250" cy="2146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510712" y="5953125"/>
            <a:ext cx="66675" cy="361950"/>
            <a:chOff x="0" y="0"/>
            <a:chExt cx="88900" cy="4826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8900" cy="482600"/>
            </a:xfrm>
            <a:custGeom>
              <a:avLst/>
              <a:gdLst/>
              <a:ahLst/>
              <a:cxnLst/>
              <a:rect r="r" b="b" t="t" l="l"/>
              <a:pathLst>
                <a:path h="482600" w="88900">
                  <a:moveTo>
                    <a:pt x="38100" y="0"/>
                  </a:moveTo>
                  <a:lnTo>
                    <a:pt x="50800" y="0"/>
                  </a:lnTo>
                  <a:cubicBezTo>
                    <a:pt x="71842" y="0"/>
                    <a:pt x="88900" y="17058"/>
                    <a:pt x="88900" y="38100"/>
                  </a:cubicBezTo>
                  <a:lnTo>
                    <a:pt x="88900" y="444500"/>
                  </a:lnTo>
                  <a:cubicBezTo>
                    <a:pt x="88900" y="465542"/>
                    <a:pt x="71842" y="482600"/>
                    <a:pt x="50800" y="482600"/>
                  </a:cubicBezTo>
                  <a:lnTo>
                    <a:pt x="38100" y="482600"/>
                  </a:lnTo>
                  <a:cubicBezTo>
                    <a:pt x="17058" y="482600"/>
                    <a:pt x="0" y="465542"/>
                    <a:pt x="0" y="4445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E8A30C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88900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2009775" y="7477125"/>
            <a:ext cx="6929438" cy="1581150"/>
            <a:chOff x="0" y="0"/>
            <a:chExt cx="9239250" cy="21082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239250" cy="2108200"/>
            </a:xfrm>
            <a:custGeom>
              <a:avLst/>
              <a:gdLst/>
              <a:ahLst/>
              <a:cxnLst/>
              <a:rect r="r" b="b" t="t" l="l"/>
              <a:pathLst>
                <a:path h="2108200" w="9239250">
                  <a:moveTo>
                    <a:pt x="254000" y="0"/>
                  </a:moveTo>
                  <a:lnTo>
                    <a:pt x="8985250" y="0"/>
                  </a:lnTo>
                  <a:cubicBezTo>
                    <a:pt x="9125531" y="0"/>
                    <a:pt x="9239250" y="113720"/>
                    <a:pt x="9239250" y="254000"/>
                  </a:cubicBezTo>
                  <a:lnTo>
                    <a:pt x="9239250" y="1854200"/>
                  </a:lnTo>
                  <a:cubicBezTo>
                    <a:pt x="9239250" y="1994480"/>
                    <a:pt x="9125531" y="2108200"/>
                    <a:pt x="8985250" y="2108200"/>
                  </a:cubicBezTo>
                  <a:lnTo>
                    <a:pt x="254000" y="2108200"/>
                  </a:lnTo>
                  <a:cubicBezTo>
                    <a:pt x="113720" y="2108200"/>
                    <a:pt x="0" y="1994480"/>
                    <a:pt x="0" y="18542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FCFCFC"/>
            </a:solidFill>
            <a:ln w="9525" cap="sq">
              <a:solidFill>
                <a:srgbClr val="CACACA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9239250" cy="2146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2257425" y="7705725"/>
            <a:ext cx="66675" cy="361950"/>
            <a:chOff x="0" y="0"/>
            <a:chExt cx="88900" cy="4826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8900" cy="482600"/>
            </a:xfrm>
            <a:custGeom>
              <a:avLst/>
              <a:gdLst/>
              <a:ahLst/>
              <a:cxnLst/>
              <a:rect r="r" b="b" t="t" l="l"/>
              <a:pathLst>
                <a:path h="482600" w="88900">
                  <a:moveTo>
                    <a:pt x="38100" y="0"/>
                  </a:moveTo>
                  <a:lnTo>
                    <a:pt x="50800" y="0"/>
                  </a:lnTo>
                  <a:cubicBezTo>
                    <a:pt x="71842" y="0"/>
                    <a:pt x="88900" y="17058"/>
                    <a:pt x="88900" y="38100"/>
                  </a:cubicBezTo>
                  <a:lnTo>
                    <a:pt x="88900" y="444500"/>
                  </a:lnTo>
                  <a:cubicBezTo>
                    <a:pt x="88900" y="465542"/>
                    <a:pt x="71842" y="482600"/>
                    <a:pt x="50800" y="482600"/>
                  </a:cubicBezTo>
                  <a:lnTo>
                    <a:pt x="38100" y="482600"/>
                  </a:lnTo>
                  <a:cubicBezTo>
                    <a:pt x="17058" y="482600"/>
                    <a:pt x="0" y="465542"/>
                    <a:pt x="0" y="4445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E8A30C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88900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263062" y="7477125"/>
            <a:ext cx="6929438" cy="1581150"/>
            <a:chOff x="0" y="0"/>
            <a:chExt cx="9239250" cy="21082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239250" cy="2108200"/>
            </a:xfrm>
            <a:custGeom>
              <a:avLst/>
              <a:gdLst/>
              <a:ahLst/>
              <a:cxnLst/>
              <a:rect r="r" b="b" t="t" l="l"/>
              <a:pathLst>
                <a:path h="2108200" w="9239250">
                  <a:moveTo>
                    <a:pt x="254000" y="0"/>
                  </a:moveTo>
                  <a:lnTo>
                    <a:pt x="8985250" y="0"/>
                  </a:lnTo>
                  <a:cubicBezTo>
                    <a:pt x="9125531" y="0"/>
                    <a:pt x="9239250" y="113720"/>
                    <a:pt x="9239250" y="254000"/>
                  </a:cubicBezTo>
                  <a:lnTo>
                    <a:pt x="9239250" y="1854200"/>
                  </a:lnTo>
                  <a:cubicBezTo>
                    <a:pt x="9239250" y="1994480"/>
                    <a:pt x="9125531" y="2108200"/>
                    <a:pt x="8985250" y="2108200"/>
                  </a:cubicBezTo>
                  <a:lnTo>
                    <a:pt x="254000" y="2108200"/>
                  </a:lnTo>
                  <a:cubicBezTo>
                    <a:pt x="113720" y="2108200"/>
                    <a:pt x="0" y="1994480"/>
                    <a:pt x="0" y="18542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FCFCFC"/>
            </a:solidFill>
            <a:ln w="9525" cap="sq">
              <a:solidFill>
                <a:srgbClr val="CACACA"/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9239250" cy="2146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510712" y="7705725"/>
            <a:ext cx="66675" cy="361950"/>
            <a:chOff x="0" y="0"/>
            <a:chExt cx="88900" cy="4826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8900" cy="482600"/>
            </a:xfrm>
            <a:custGeom>
              <a:avLst/>
              <a:gdLst/>
              <a:ahLst/>
              <a:cxnLst/>
              <a:rect r="r" b="b" t="t" l="l"/>
              <a:pathLst>
                <a:path h="482600" w="88900">
                  <a:moveTo>
                    <a:pt x="38100" y="0"/>
                  </a:moveTo>
                  <a:lnTo>
                    <a:pt x="50800" y="0"/>
                  </a:lnTo>
                  <a:cubicBezTo>
                    <a:pt x="71842" y="0"/>
                    <a:pt x="88900" y="17058"/>
                    <a:pt x="88900" y="38100"/>
                  </a:cubicBezTo>
                  <a:lnTo>
                    <a:pt x="88900" y="444500"/>
                  </a:lnTo>
                  <a:cubicBezTo>
                    <a:pt x="88900" y="465542"/>
                    <a:pt x="71842" y="482600"/>
                    <a:pt x="50800" y="482600"/>
                  </a:cubicBezTo>
                  <a:lnTo>
                    <a:pt x="38100" y="482600"/>
                  </a:lnTo>
                  <a:cubicBezTo>
                    <a:pt x="17058" y="482600"/>
                    <a:pt x="0" y="465542"/>
                    <a:pt x="0" y="4445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E8A30C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88900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2447925" y="4124325"/>
            <a:ext cx="180975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조예성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447925" y="4410075"/>
            <a:ext cx="2857500" cy="20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E8A30C"/>
                </a:solidFill>
                <a:latin typeface="Poppins"/>
                <a:ea typeface="Poppins"/>
                <a:cs typeface="Poppins"/>
                <a:sym typeface="Poppins"/>
              </a:rPr>
              <a:t>풀스택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791200" y="4238625"/>
            <a:ext cx="289560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25"/>
              </a:lnSpc>
            </a:pPr>
            <a:r>
              <a:rPr lang="en-US" sz="15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키오스크 화면 리펙토링</a:t>
            </a:r>
          </a:p>
          <a:p>
            <a:pPr algn="r">
              <a:lnSpc>
                <a:spcPts val="1725"/>
              </a:lnSpc>
            </a:pPr>
            <a:r>
              <a:rPr lang="en-US" sz="15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 + 관리자 화면 구현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2257425" y="4819650"/>
            <a:ext cx="6429375" cy="41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4"/>
              </a:lnSpc>
            </a:pPr>
            <a:r>
              <a:rPr lang="en-US" sz="1299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백엔드 API에 맞춰 키오스크 프론트엔드 전체를 재연동하고, 음성 대화 버그 12건 이상 수정. 관리자 페이지 프론트엔드를 단독 구현하여 실제 백엔드에 완전 연동하였습니다.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696450" y="4124325"/>
            <a:ext cx="180975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김성원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696450" y="4410075"/>
            <a:ext cx="2857500" cy="20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E8A30C"/>
                </a:solidFill>
                <a:latin typeface="Poppins"/>
                <a:ea typeface="Poppins"/>
                <a:cs typeface="Poppins"/>
                <a:sym typeface="Poppins"/>
              </a:rPr>
              <a:t>AI/백엔드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3049250" y="4238625"/>
            <a:ext cx="289560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25"/>
              </a:lnSpc>
            </a:pPr>
            <a:r>
              <a:rPr lang="en-US" sz="15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음성 주문 에이전트</a:t>
            </a:r>
          </a:p>
          <a:p>
            <a:pPr algn="r">
              <a:lnSpc>
                <a:spcPts val="1725"/>
              </a:lnSpc>
            </a:pPr>
            <a:r>
              <a:rPr lang="en-US" sz="15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 + 휠 지팡이 감지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505950" y="4819650"/>
            <a:ext cx="6429375" cy="610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4"/>
              </a:lnSpc>
            </a:pPr>
            <a:r>
              <a:rPr lang="en-US" sz="1299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LangChain action_tools를 DB와 연동하고 결제·주문 확정 흐름을 코드 수준에서 구현하였습니다.  관리자 백엔드 결제·환불·쿠폰·통계 모듈을 구현하였습니다.</a:t>
            </a:r>
          </a:p>
          <a:p>
            <a:pPr algn="l">
              <a:lnSpc>
                <a:spcPts val="1624"/>
              </a:lnSpc>
            </a:pPr>
          </a:p>
        </p:txBody>
      </p:sp>
      <p:sp>
        <p:nvSpPr>
          <p:cNvPr name="TextBox 56" id="56"/>
          <p:cNvSpPr txBox="true"/>
          <p:nvPr/>
        </p:nvSpPr>
        <p:spPr>
          <a:xfrm rot="0">
            <a:off x="2447925" y="5876925"/>
            <a:ext cx="180975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임지연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2447925" y="6162675"/>
            <a:ext cx="2857500" cy="20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E8A30C"/>
                </a:solidFill>
                <a:latin typeface="Poppins"/>
                <a:ea typeface="Poppins"/>
                <a:cs typeface="Poppins"/>
                <a:sym typeface="Poppins"/>
              </a:rPr>
              <a:t>백엔드 서버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5791200" y="5991225"/>
            <a:ext cx="289560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25"/>
              </a:lnSpc>
            </a:pPr>
            <a:r>
              <a:rPr lang="en-US" sz="15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API 서버 구축</a:t>
            </a:r>
          </a:p>
          <a:p>
            <a:pPr algn="r">
              <a:lnSpc>
                <a:spcPts val="1725"/>
              </a:lnSpc>
            </a:pPr>
            <a:r>
              <a:rPr lang="en-US" sz="15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 + 음성 인식 품질 개선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2257425" y="6572250"/>
            <a:ext cx="6429375" cy="41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4"/>
              </a:lnSpc>
            </a:pPr>
            <a:r>
              <a:rPr lang="en-US" sz="1299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api_client를 구현하여 LLM 엔드포인트에 세션 주입 구조를 완성하고, 관리자 백엔드 Module C·D·E·F·H(결제·환불·주문·쿠폰·통계)를 전체 async 패턴으로 구현하였습니다.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9696450" y="5876925"/>
            <a:ext cx="180975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서유민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9696450" y="6162675"/>
            <a:ext cx="2857500" cy="20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E8A30C"/>
                </a:solidFill>
                <a:latin typeface="Poppins"/>
                <a:ea typeface="Poppins"/>
                <a:cs typeface="Poppins"/>
                <a:sym typeface="Poppins"/>
              </a:rPr>
              <a:t>데이터베이스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3049250" y="5991225"/>
            <a:ext cx="289560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25"/>
              </a:lnSpc>
            </a:pPr>
            <a:r>
              <a:rPr lang="en-US" sz="15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DB 설계 확장</a:t>
            </a:r>
          </a:p>
          <a:p>
            <a:pPr algn="r">
              <a:lnSpc>
                <a:spcPts val="1725"/>
              </a:lnSpc>
            </a:pPr>
            <a:r>
              <a:rPr lang="en-US" sz="15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 + 데이터 접근 레이어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9505950" y="6572250"/>
            <a:ext cx="6429375" cy="41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4"/>
              </a:lnSpc>
            </a:pPr>
            <a:r>
              <a:rPr lang="en-US" sz="1299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FastAPI 기반 DAO·DTO·라우터를 직접 설계·구현하여 메뉴·장바구니·주문·결제·회원 전 도메인의 DB API 서버를 완성하였습니다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2447925" y="7629525"/>
            <a:ext cx="180975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김명서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2447925" y="7915275"/>
            <a:ext cx="2857500" cy="20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E8A30C"/>
                </a:solidFill>
                <a:latin typeface="Poppins"/>
                <a:ea typeface="Poppins"/>
                <a:cs typeface="Poppins"/>
                <a:sym typeface="Poppins"/>
              </a:rPr>
              <a:t>UI 디자인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5791200" y="7743825"/>
            <a:ext cx="2895600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25"/>
              </a:lnSpc>
            </a:pPr>
            <a:r>
              <a:rPr lang="en-US" sz="15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관리자 화면 디자인 설계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2257425" y="8324850"/>
            <a:ext cx="6429375" cy="41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4"/>
              </a:lnSpc>
            </a:pPr>
            <a:r>
              <a:rPr lang="en-US" sz="1299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피그마로 관리자 페이지 전체 화면 프로토타입을 제작하고, 개발 지시서를 지속적으로 업데이트하여 전달하였습니다. 또한, YOLO 기반 사용자 접근 감지 기능의 연동 담당하였습니다.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9696450" y="7629525"/>
            <a:ext cx="180975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진수민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9696450" y="7915275"/>
            <a:ext cx="2857500" cy="20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E8A30C"/>
                </a:solidFill>
                <a:latin typeface="Poppins"/>
                <a:ea typeface="Poppins"/>
                <a:cs typeface="Poppins"/>
                <a:sym typeface="Poppins"/>
              </a:rPr>
              <a:t>UX 기획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3049250" y="7743825"/>
            <a:ext cx="2895600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25"/>
              </a:lnSpc>
            </a:pPr>
            <a:r>
              <a:rPr lang="en-US" sz="15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키오스크 사용 흐름 설계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9505950" y="8324850"/>
            <a:ext cx="6429375" cy="41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4"/>
              </a:lnSpc>
            </a:pPr>
            <a:r>
              <a:rPr lang="en-US" sz="1299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대시보드·주문·결제·메뉴·쿠폰·회원 등 관리자 페이지 6개 화면의 피그마 프로토타입을 완성하였습니다. 또한, 개발된 프로그램의 테스트를 진행하는 QA의 역할도 수행하였습니다.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14512338" y="616360"/>
            <a:ext cx="3124432" cy="456813"/>
            <a:chOff x="0" y="0"/>
            <a:chExt cx="4165909" cy="609084"/>
          </a:xfrm>
        </p:grpSpPr>
        <p:grpSp>
          <p:nvGrpSpPr>
            <p:cNvPr name="Group 73" id="73"/>
            <p:cNvGrpSpPr/>
            <p:nvPr/>
          </p:nvGrpSpPr>
          <p:grpSpPr>
            <a:xfrm rot="0">
              <a:off x="0" y="0"/>
              <a:ext cx="4165909" cy="609084"/>
              <a:chOff x="0" y="0"/>
              <a:chExt cx="822896" cy="120313"/>
            </a:xfrm>
          </p:grpSpPr>
          <p:sp>
            <p:nvSpPr>
              <p:cNvPr name="Freeform 74" id="74"/>
              <p:cNvSpPr/>
              <p:nvPr/>
            </p:nvSpPr>
            <p:spPr>
              <a:xfrm flipH="false" flipV="false" rot="0">
                <a:off x="0" y="0"/>
                <a:ext cx="822896" cy="120313"/>
              </a:xfrm>
              <a:custGeom>
                <a:avLst/>
                <a:gdLst/>
                <a:ahLst/>
                <a:cxnLst/>
                <a:rect r="r" b="b" t="t" l="l"/>
                <a:pathLst>
                  <a:path h="120313" w="822896">
                    <a:moveTo>
                      <a:pt x="60156" y="0"/>
                    </a:moveTo>
                    <a:lnTo>
                      <a:pt x="762739" y="0"/>
                    </a:lnTo>
                    <a:cubicBezTo>
                      <a:pt x="795963" y="0"/>
                      <a:pt x="822896" y="26933"/>
                      <a:pt x="822896" y="60156"/>
                    </a:cubicBezTo>
                    <a:lnTo>
                      <a:pt x="822896" y="60156"/>
                    </a:lnTo>
                    <a:cubicBezTo>
                      <a:pt x="822896" y="93380"/>
                      <a:pt x="795963" y="120313"/>
                      <a:pt x="762739" y="120313"/>
                    </a:cubicBezTo>
                    <a:lnTo>
                      <a:pt x="60156" y="120313"/>
                    </a:lnTo>
                    <a:cubicBezTo>
                      <a:pt x="26933" y="120313"/>
                      <a:pt x="0" y="93380"/>
                      <a:pt x="0" y="60156"/>
                    </a:cubicBezTo>
                    <a:lnTo>
                      <a:pt x="0" y="60156"/>
                    </a:lnTo>
                    <a:cubicBezTo>
                      <a:pt x="0" y="26933"/>
                      <a:pt x="26933" y="0"/>
                      <a:pt x="60156" y="0"/>
                    </a:cubicBezTo>
                    <a:close/>
                  </a:path>
                </a:pathLst>
              </a:custGeom>
              <a:solidFill>
                <a:srgbClr val="151615"/>
              </a:solidFill>
            </p:spPr>
          </p:sp>
          <p:sp>
            <p:nvSpPr>
              <p:cNvPr name="TextBox 75" id="75"/>
              <p:cNvSpPr txBox="true"/>
              <p:nvPr/>
            </p:nvSpPr>
            <p:spPr>
              <a:xfrm>
                <a:off x="0" y="-47625"/>
                <a:ext cx="822896" cy="1679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76" id="76"/>
            <p:cNvSpPr txBox="true"/>
            <p:nvPr/>
          </p:nvSpPr>
          <p:spPr>
            <a:xfrm rot="0">
              <a:off x="330136" y="188472"/>
              <a:ext cx="3505353" cy="2343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00"/>
                </a:lnSpc>
              </a:pPr>
              <a:r>
                <a:rPr lang="en-US" sz="1200">
                  <a:solidFill>
                    <a:srgbClr val="F3F4F3"/>
                  </a:solidFill>
                  <a:latin typeface="Poppins"/>
                  <a:ea typeface="Poppins"/>
                  <a:cs typeface="Poppins"/>
                  <a:sym typeface="Poppins"/>
                </a:rPr>
                <a:t>https://github.com/Capstone-F5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3938" y="0"/>
            <a:ext cx="20335875" cy="10287000"/>
            <a:chOff x="0" y="0"/>
            <a:chExt cx="271145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600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39850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6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495069" y="4022840"/>
            <a:ext cx="19278139" cy="6784660"/>
            <a:chOff x="0" y="0"/>
            <a:chExt cx="5077370" cy="17869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77370" cy="1786906"/>
            </a:xfrm>
            <a:custGeom>
              <a:avLst/>
              <a:gdLst/>
              <a:ahLst/>
              <a:cxnLst/>
              <a:rect r="r" b="b" t="t" l="l"/>
              <a:pathLst>
                <a:path h="1786906" w="5077370">
                  <a:moveTo>
                    <a:pt x="16064" y="0"/>
                  </a:moveTo>
                  <a:lnTo>
                    <a:pt x="5061306" y="0"/>
                  </a:lnTo>
                  <a:cubicBezTo>
                    <a:pt x="5070178" y="0"/>
                    <a:pt x="5077370" y="7192"/>
                    <a:pt x="5077370" y="16064"/>
                  </a:cubicBezTo>
                  <a:lnTo>
                    <a:pt x="5077370" y="1770843"/>
                  </a:lnTo>
                  <a:cubicBezTo>
                    <a:pt x="5077370" y="1779714"/>
                    <a:pt x="5070178" y="1786906"/>
                    <a:pt x="5061306" y="1786906"/>
                  </a:cubicBezTo>
                  <a:lnTo>
                    <a:pt x="16064" y="1786906"/>
                  </a:lnTo>
                  <a:cubicBezTo>
                    <a:pt x="7192" y="1786906"/>
                    <a:pt x="0" y="1779714"/>
                    <a:pt x="0" y="1770843"/>
                  </a:cubicBezTo>
                  <a:lnTo>
                    <a:pt x="0" y="16064"/>
                  </a:lnTo>
                  <a:cubicBezTo>
                    <a:pt x="0" y="7192"/>
                    <a:pt x="7192" y="0"/>
                    <a:pt x="16064" y="0"/>
                  </a:cubicBezTo>
                  <a:close/>
                </a:path>
              </a:pathLst>
            </a:custGeom>
            <a:solidFill>
              <a:srgbClr val="FCFCFC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66675"/>
              <a:ext cx="5077370" cy="17202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494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51231" y="612360"/>
            <a:ext cx="271148" cy="286173"/>
          </a:xfrm>
          <a:custGeom>
            <a:avLst/>
            <a:gdLst/>
            <a:ahLst/>
            <a:cxnLst/>
            <a:rect r="r" b="b" t="t" l="l"/>
            <a:pathLst>
              <a:path h="286173" w="271148">
                <a:moveTo>
                  <a:pt x="0" y="0"/>
                </a:moveTo>
                <a:lnTo>
                  <a:pt x="271148" y="0"/>
                </a:lnTo>
                <a:lnTo>
                  <a:pt x="271148" y="286172"/>
                </a:lnTo>
                <a:lnTo>
                  <a:pt x="0" y="286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4512338" y="616360"/>
            <a:ext cx="3124432" cy="456813"/>
            <a:chOff x="0" y="0"/>
            <a:chExt cx="822896" cy="12031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22896" cy="120313"/>
            </a:xfrm>
            <a:custGeom>
              <a:avLst/>
              <a:gdLst/>
              <a:ahLst/>
              <a:cxnLst/>
              <a:rect r="r" b="b" t="t" l="l"/>
              <a:pathLst>
                <a:path h="120313" w="822896">
                  <a:moveTo>
                    <a:pt x="60156" y="0"/>
                  </a:moveTo>
                  <a:lnTo>
                    <a:pt x="762739" y="0"/>
                  </a:lnTo>
                  <a:cubicBezTo>
                    <a:pt x="795963" y="0"/>
                    <a:pt x="822896" y="26933"/>
                    <a:pt x="822896" y="60156"/>
                  </a:cubicBezTo>
                  <a:lnTo>
                    <a:pt x="822896" y="60156"/>
                  </a:lnTo>
                  <a:cubicBezTo>
                    <a:pt x="822896" y="93380"/>
                    <a:pt x="795963" y="120313"/>
                    <a:pt x="762739" y="120313"/>
                  </a:cubicBezTo>
                  <a:lnTo>
                    <a:pt x="60156" y="120313"/>
                  </a:lnTo>
                  <a:cubicBezTo>
                    <a:pt x="26933" y="120313"/>
                    <a:pt x="0" y="93380"/>
                    <a:pt x="0" y="60156"/>
                  </a:cubicBezTo>
                  <a:lnTo>
                    <a:pt x="0" y="60156"/>
                  </a:lnTo>
                  <a:cubicBezTo>
                    <a:pt x="0" y="26933"/>
                    <a:pt x="26933" y="0"/>
                    <a:pt x="60156" y="0"/>
                  </a:cubicBezTo>
                  <a:close/>
                </a:path>
              </a:pathLst>
            </a:custGeom>
            <a:solidFill>
              <a:srgbClr val="15161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822896" cy="167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6498500" y="9133151"/>
            <a:ext cx="760800" cy="554433"/>
          </a:xfrm>
          <a:custGeom>
            <a:avLst/>
            <a:gdLst/>
            <a:ahLst/>
            <a:cxnLst/>
            <a:rect r="r" b="b" t="t" l="l"/>
            <a:pathLst>
              <a:path h="554433" w="760800">
                <a:moveTo>
                  <a:pt x="0" y="0"/>
                </a:moveTo>
                <a:lnTo>
                  <a:pt x="760800" y="0"/>
                </a:lnTo>
                <a:lnTo>
                  <a:pt x="760800" y="554433"/>
                </a:lnTo>
                <a:lnTo>
                  <a:pt x="0" y="5544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12814" y="3704968"/>
            <a:ext cx="631771" cy="635745"/>
          </a:xfrm>
          <a:custGeom>
            <a:avLst/>
            <a:gdLst/>
            <a:ahLst/>
            <a:cxnLst/>
            <a:rect r="r" b="b" t="t" l="l"/>
            <a:pathLst>
              <a:path h="635745" w="631771">
                <a:moveTo>
                  <a:pt x="0" y="0"/>
                </a:moveTo>
                <a:lnTo>
                  <a:pt x="631772" y="0"/>
                </a:lnTo>
                <a:lnTo>
                  <a:pt x="631772" y="635744"/>
                </a:lnTo>
                <a:lnTo>
                  <a:pt x="0" y="6357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51231" y="4588362"/>
            <a:ext cx="7944375" cy="4762520"/>
          </a:xfrm>
          <a:custGeom>
            <a:avLst/>
            <a:gdLst/>
            <a:ahLst/>
            <a:cxnLst/>
            <a:rect r="r" b="b" t="t" l="l"/>
            <a:pathLst>
              <a:path h="4762520" w="7944375">
                <a:moveTo>
                  <a:pt x="0" y="0"/>
                </a:moveTo>
                <a:lnTo>
                  <a:pt x="7944375" y="0"/>
                </a:lnTo>
                <a:lnTo>
                  <a:pt x="7944375" y="4762521"/>
                </a:lnTo>
                <a:lnTo>
                  <a:pt x="0" y="476252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4568" t="-23228" r="-105420" b="-95041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690856" y="4588362"/>
            <a:ext cx="8043602" cy="4822005"/>
          </a:xfrm>
          <a:custGeom>
            <a:avLst/>
            <a:gdLst/>
            <a:ahLst/>
            <a:cxnLst/>
            <a:rect r="r" b="b" t="t" l="l"/>
            <a:pathLst>
              <a:path h="4822005" w="8043602">
                <a:moveTo>
                  <a:pt x="0" y="0"/>
                </a:moveTo>
                <a:lnTo>
                  <a:pt x="8043602" y="0"/>
                </a:lnTo>
                <a:lnTo>
                  <a:pt x="8043602" y="4822005"/>
                </a:lnTo>
                <a:lnTo>
                  <a:pt x="0" y="48220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05610" t="-23228" r="-4378" b="-95041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28700" y="686443"/>
            <a:ext cx="2871173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1599"/>
              </a:lnSpc>
              <a:buAutoNum type="arabicPeriod" startAt="1"/>
            </a:pPr>
            <a:r>
              <a:rPr lang="en-US" sz="1599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기능별 구현 현황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748364" y="621885"/>
            <a:ext cx="2791271" cy="231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b="true" sz="1600" spc="259">
                <a:solidFill>
                  <a:srgbClr val="15161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2026/09/08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760046" y="762851"/>
            <a:ext cx="2629015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sz="1200">
                <a:solidFill>
                  <a:srgbClr val="F3F4F3"/>
                </a:solidFill>
                <a:latin typeface="Poppins"/>
                <a:ea typeface="Poppins"/>
                <a:cs typeface="Poppins"/>
                <a:sym typeface="Poppins"/>
              </a:rPr>
              <a:t>https://github.com/Capstone-F5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008246" y="2598104"/>
            <a:ext cx="9147698" cy="860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6500" b="true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전체 기능 구현 현황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008246" y="1986334"/>
            <a:ext cx="4023889" cy="579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2199" spc="204" b="true">
                <a:solidFill>
                  <a:srgbClr val="151615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Implementatio</a:t>
            </a:r>
            <a:r>
              <a:rPr lang="en-US" b="true" sz="2199" spc="204">
                <a:solidFill>
                  <a:srgbClr val="151615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n status</a:t>
            </a:r>
          </a:p>
          <a:p>
            <a:pPr algn="l">
              <a:lnSpc>
                <a:spcPts val="2199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527639" y="4131228"/>
            <a:ext cx="4023889" cy="276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0"/>
              </a:lnSpc>
            </a:pPr>
            <a:r>
              <a:rPr lang="en-US" sz="1900" spc="176" b="true">
                <a:solidFill>
                  <a:srgbClr val="151615"/>
                </a:solidFill>
                <a:latin typeface="Poppins Bold"/>
                <a:ea typeface="Poppins Bold"/>
                <a:cs typeface="Poppins Bold"/>
                <a:sym typeface="Poppins Bold"/>
              </a:rPr>
              <a:t>25</a:t>
            </a:r>
            <a:r>
              <a:rPr lang="en-US" sz="1900" spc="176">
                <a:solidFill>
                  <a:srgbClr val="151615"/>
                </a:solidFill>
                <a:latin typeface="Poppins"/>
                <a:ea typeface="Poppins"/>
                <a:cs typeface="Poppins"/>
                <a:sym typeface="Poppins"/>
              </a:rPr>
              <a:t>/27 </a:t>
            </a:r>
            <a:r>
              <a:rPr lang="en-US" sz="1900" spc="176" b="true">
                <a:solidFill>
                  <a:srgbClr val="151615"/>
                </a:solidFill>
                <a:latin typeface="Poppins Bold"/>
                <a:ea typeface="Poppins Bold"/>
                <a:cs typeface="Poppins Bold"/>
                <a:sym typeface="Poppins Bold"/>
              </a:rPr>
              <a:t>완료</a:t>
            </a:r>
            <a:r>
              <a:rPr lang="en-US" sz="1900" spc="176">
                <a:solidFill>
                  <a:srgbClr val="151615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1900" spc="176" b="true">
                <a:solidFill>
                  <a:srgbClr val="151615"/>
                </a:solidFill>
                <a:latin typeface="Poppins Bold"/>
                <a:ea typeface="Poppins Bold"/>
                <a:cs typeface="Poppins Bold"/>
                <a:sym typeface="Poppins Bold"/>
              </a:rPr>
              <a:t>약</a:t>
            </a:r>
            <a:r>
              <a:rPr lang="en-US" sz="1900" spc="176">
                <a:solidFill>
                  <a:srgbClr val="15161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00" spc="176" b="true">
                <a:solidFill>
                  <a:srgbClr val="151615"/>
                </a:solidFill>
                <a:latin typeface="Poppins Bold"/>
                <a:ea typeface="Poppins Bold"/>
                <a:cs typeface="Poppins Bold"/>
                <a:sym typeface="Poppins Bold"/>
              </a:rPr>
              <a:t>93%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3938" y="0"/>
            <a:ext cx="20335875" cy="10287000"/>
            <a:chOff x="0" y="0"/>
            <a:chExt cx="271145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600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39850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6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495069" y="4022840"/>
            <a:ext cx="19278139" cy="6784660"/>
            <a:chOff x="0" y="0"/>
            <a:chExt cx="5077370" cy="17869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77370" cy="1786906"/>
            </a:xfrm>
            <a:custGeom>
              <a:avLst/>
              <a:gdLst/>
              <a:ahLst/>
              <a:cxnLst/>
              <a:rect r="r" b="b" t="t" l="l"/>
              <a:pathLst>
                <a:path h="1786906" w="5077370">
                  <a:moveTo>
                    <a:pt x="16064" y="0"/>
                  </a:moveTo>
                  <a:lnTo>
                    <a:pt x="5061306" y="0"/>
                  </a:lnTo>
                  <a:cubicBezTo>
                    <a:pt x="5070178" y="0"/>
                    <a:pt x="5077370" y="7192"/>
                    <a:pt x="5077370" y="16064"/>
                  </a:cubicBezTo>
                  <a:lnTo>
                    <a:pt x="5077370" y="1770843"/>
                  </a:lnTo>
                  <a:cubicBezTo>
                    <a:pt x="5077370" y="1779714"/>
                    <a:pt x="5070178" y="1786906"/>
                    <a:pt x="5061306" y="1786906"/>
                  </a:cubicBezTo>
                  <a:lnTo>
                    <a:pt x="16064" y="1786906"/>
                  </a:lnTo>
                  <a:cubicBezTo>
                    <a:pt x="7192" y="1786906"/>
                    <a:pt x="0" y="1779714"/>
                    <a:pt x="0" y="1770843"/>
                  </a:cubicBezTo>
                  <a:lnTo>
                    <a:pt x="0" y="16064"/>
                  </a:lnTo>
                  <a:cubicBezTo>
                    <a:pt x="0" y="7192"/>
                    <a:pt x="7192" y="0"/>
                    <a:pt x="16064" y="0"/>
                  </a:cubicBezTo>
                  <a:close/>
                </a:path>
              </a:pathLst>
            </a:custGeom>
            <a:solidFill>
              <a:srgbClr val="FCFCFC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66675"/>
              <a:ext cx="5077370" cy="17202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494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51231" y="612360"/>
            <a:ext cx="271148" cy="286173"/>
          </a:xfrm>
          <a:custGeom>
            <a:avLst/>
            <a:gdLst/>
            <a:ahLst/>
            <a:cxnLst/>
            <a:rect r="r" b="b" t="t" l="l"/>
            <a:pathLst>
              <a:path h="286173" w="271148">
                <a:moveTo>
                  <a:pt x="0" y="0"/>
                </a:moveTo>
                <a:lnTo>
                  <a:pt x="271148" y="0"/>
                </a:lnTo>
                <a:lnTo>
                  <a:pt x="271148" y="286172"/>
                </a:lnTo>
                <a:lnTo>
                  <a:pt x="0" y="286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4512338" y="616360"/>
            <a:ext cx="3124432" cy="456813"/>
            <a:chOff x="0" y="0"/>
            <a:chExt cx="822896" cy="12031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22896" cy="120313"/>
            </a:xfrm>
            <a:custGeom>
              <a:avLst/>
              <a:gdLst/>
              <a:ahLst/>
              <a:cxnLst/>
              <a:rect r="r" b="b" t="t" l="l"/>
              <a:pathLst>
                <a:path h="120313" w="822896">
                  <a:moveTo>
                    <a:pt x="60156" y="0"/>
                  </a:moveTo>
                  <a:lnTo>
                    <a:pt x="762739" y="0"/>
                  </a:lnTo>
                  <a:cubicBezTo>
                    <a:pt x="795963" y="0"/>
                    <a:pt x="822896" y="26933"/>
                    <a:pt x="822896" y="60156"/>
                  </a:cubicBezTo>
                  <a:lnTo>
                    <a:pt x="822896" y="60156"/>
                  </a:lnTo>
                  <a:cubicBezTo>
                    <a:pt x="822896" y="93380"/>
                    <a:pt x="795963" y="120313"/>
                    <a:pt x="762739" y="120313"/>
                  </a:cubicBezTo>
                  <a:lnTo>
                    <a:pt x="60156" y="120313"/>
                  </a:lnTo>
                  <a:cubicBezTo>
                    <a:pt x="26933" y="120313"/>
                    <a:pt x="0" y="93380"/>
                    <a:pt x="0" y="60156"/>
                  </a:cubicBezTo>
                  <a:lnTo>
                    <a:pt x="0" y="60156"/>
                  </a:lnTo>
                  <a:cubicBezTo>
                    <a:pt x="0" y="26933"/>
                    <a:pt x="26933" y="0"/>
                    <a:pt x="60156" y="0"/>
                  </a:cubicBezTo>
                  <a:close/>
                </a:path>
              </a:pathLst>
            </a:custGeom>
            <a:solidFill>
              <a:srgbClr val="15161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822896" cy="167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6498500" y="9133151"/>
            <a:ext cx="760800" cy="554433"/>
          </a:xfrm>
          <a:custGeom>
            <a:avLst/>
            <a:gdLst/>
            <a:ahLst/>
            <a:cxnLst/>
            <a:rect r="r" b="b" t="t" l="l"/>
            <a:pathLst>
              <a:path h="554433" w="760800">
                <a:moveTo>
                  <a:pt x="0" y="0"/>
                </a:moveTo>
                <a:lnTo>
                  <a:pt x="760800" y="0"/>
                </a:lnTo>
                <a:lnTo>
                  <a:pt x="760800" y="554433"/>
                </a:lnTo>
                <a:lnTo>
                  <a:pt x="0" y="5544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60756" y="4563931"/>
            <a:ext cx="7928120" cy="4544810"/>
          </a:xfrm>
          <a:custGeom>
            <a:avLst/>
            <a:gdLst/>
            <a:ahLst/>
            <a:cxnLst/>
            <a:rect r="r" b="b" t="t" l="l"/>
            <a:pathLst>
              <a:path h="4544810" w="7928120">
                <a:moveTo>
                  <a:pt x="0" y="0"/>
                </a:moveTo>
                <a:lnTo>
                  <a:pt x="7928119" y="0"/>
                </a:lnTo>
                <a:lnTo>
                  <a:pt x="7928119" y="4544810"/>
                </a:lnTo>
                <a:lnTo>
                  <a:pt x="0" y="45448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706" t="-128726" r="-105712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651382" y="4527559"/>
            <a:ext cx="8123822" cy="4640831"/>
          </a:xfrm>
          <a:custGeom>
            <a:avLst/>
            <a:gdLst/>
            <a:ahLst/>
            <a:cxnLst/>
            <a:rect r="r" b="b" t="t" l="l"/>
            <a:pathLst>
              <a:path h="4640831" w="8123822">
                <a:moveTo>
                  <a:pt x="0" y="0"/>
                </a:moveTo>
                <a:lnTo>
                  <a:pt x="8123822" y="0"/>
                </a:lnTo>
                <a:lnTo>
                  <a:pt x="8123822" y="4640831"/>
                </a:lnTo>
                <a:lnTo>
                  <a:pt x="0" y="46408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04369" t="-127192" r="-3913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686443"/>
            <a:ext cx="2871173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1599"/>
              </a:lnSpc>
              <a:buAutoNum type="arabicPeriod" startAt="1"/>
            </a:pPr>
            <a:r>
              <a:rPr lang="en-US" sz="1599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기능별 구현 현황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748364" y="621885"/>
            <a:ext cx="2791271" cy="231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b="true" sz="1600" spc="259">
                <a:solidFill>
                  <a:srgbClr val="15161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2026/09/08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760046" y="762851"/>
            <a:ext cx="2629015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sz="1200">
                <a:solidFill>
                  <a:srgbClr val="F3F4F3"/>
                </a:solidFill>
                <a:latin typeface="Poppins"/>
                <a:ea typeface="Poppins"/>
                <a:cs typeface="Poppins"/>
                <a:sym typeface="Poppins"/>
              </a:rPr>
              <a:t>https://github.com/Capstone-F5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008246" y="2598104"/>
            <a:ext cx="9147698" cy="860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6500" b="true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전체 기능 구현 현황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008246" y="1986334"/>
            <a:ext cx="4023889" cy="579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2199" spc="204" b="true">
                <a:solidFill>
                  <a:srgbClr val="151615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Implementatio</a:t>
            </a:r>
            <a:r>
              <a:rPr lang="en-US" b="true" sz="2199" spc="204">
                <a:solidFill>
                  <a:srgbClr val="151615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n status</a:t>
            </a:r>
          </a:p>
          <a:p>
            <a:pPr algn="l">
              <a:lnSpc>
                <a:spcPts val="2199"/>
              </a:lnSpc>
            </a:pP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712814" y="3704968"/>
            <a:ext cx="631771" cy="635745"/>
          </a:xfrm>
          <a:custGeom>
            <a:avLst/>
            <a:gdLst/>
            <a:ahLst/>
            <a:cxnLst/>
            <a:rect r="r" b="b" t="t" l="l"/>
            <a:pathLst>
              <a:path h="635745" w="631771">
                <a:moveTo>
                  <a:pt x="0" y="0"/>
                </a:moveTo>
                <a:lnTo>
                  <a:pt x="631772" y="0"/>
                </a:lnTo>
                <a:lnTo>
                  <a:pt x="631772" y="635744"/>
                </a:lnTo>
                <a:lnTo>
                  <a:pt x="0" y="6357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527639" y="4131228"/>
            <a:ext cx="4023889" cy="276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0"/>
              </a:lnSpc>
            </a:pPr>
            <a:r>
              <a:rPr lang="en-US" sz="1900" spc="176" b="true">
                <a:solidFill>
                  <a:srgbClr val="151615"/>
                </a:solidFill>
                <a:latin typeface="Poppins Bold"/>
                <a:ea typeface="Poppins Bold"/>
                <a:cs typeface="Poppins Bold"/>
                <a:sym typeface="Poppins Bold"/>
              </a:rPr>
              <a:t>25</a:t>
            </a:r>
            <a:r>
              <a:rPr lang="en-US" sz="1900" spc="176">
                <a:solidFill>
                  <a:srgbClr val="151615"/>
                </a:solidFill>
                <a:latin typeface="Poppins"/>
                <a:ea typeface="Poppins"/>
                <a:cs typeface="Poppins"/>
                <a:sym typeface="Poppins"/>
              </a:rPr>
              <a:t>/27 </a:t>
            </a:r>
            <a:r>
              <a:rPr lang="en-US" sz="1900" spc="176" b="true">
                <a:solidFill>
                  <a:srgbClr val="151615"/>
                </a:solidFill>
                <a:latin typeface="Poppins Bold"/>
                <a:ea typeface="Poppins Bold"/>
                <a:cs typeface="Poppins Bold"/>
                <a:sym typeface="Poppins Bold"/>
              </a:rPr>
              <a:t>완료</a:t>
            </a:r>
            <a:r>
              <a:rPr lang="en-US" sz="1900" spc="176">
                <a:solidFill>
                  <a:srgbClr val="151615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1900" spc="176" b="true">
                <a:solidFill>
                  <a:srgbClr val="151615"/>
                </a:solidFill>
                <a:latin typeface="Poppins Bold"/>
                <a:ea typeface="Poppins Bold"/>
                <a:cs typeface="Poppins Bold"/>
                <a:sym typeface="Poppins Bold"/>
              </a:rPr>
              <a:t>약</a:t>
            </a:r>
            <a:r>
              <a:rPr lang="en-US" sz="1900" spc="176">
                <a:solidFill>
                  <a:srgbClr val="15161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00" spc="176" b="true">
                <a:solidFill>
                  <a:srgbClr val="151615"/>
                </a:solidFill>
                <a:latin typeface="Poppins Bold"/>
                <a:ea typeface="Poppins Bold"/>
                <a:cs typeface="Poppins Bold"/>
                <a:sym typeface="Poppins Bold"/>
              </a:rPr>
              <a:t>93%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3938" y="0"/>
            <a:ext cx="20335875" cy="10287000"/>
            <a:chOff x="0" y="0"/>
            <a:chExt cx="271145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600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39850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6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495069" y="4022840"/>
            <a:ext cx="19278139" cy="6784660"/>
            <a:chOff x="0" y="0"/>
            <a:chExt cx="5077370" cy="17869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77370" cy="1786906"/>
            </a:xfrm>
            <a:custGeom>
              <a:avLst/>
              <a:gdLst/>
              <a:ahLst/>
              <a:cxnLst/>
              <a:rect r="r" b="b" t="t" l="l"/>
              <a:pathLst>
                <a:path h="1786906" w="5077370">
                  <a:moveTo>
                    <a:pt x="16064" y="0"/>
                  </a:moveTo>
                  <a:lnTo>
                    <a:pt x="5061306" y="0"/>
                  </a:lnTo>
                  <a:cubicBezTo>
                    <a:pt x="5070178" y="0"/>
                    <a:pt x="5077370" y="7192"/>
                    <a:pt x="5077370" y="16064"/>
                  </a:cubicBezTo>
                  <a:lnTo>
                    <a:pt x="5077370" y="1770843"/>
                  </a:lnTo>
                  <a:cubicBezTo>
                    <a:pt x="5077370" y="1779714"/>
                    <a:pt x="5070178" y="1786906"/>
                    <a:pt x="5061306" y="1786906"/>
                  </a:cubicBezTo>
                  <a:lnTo>
                    <a:pt x="16064" y="1786906"/>
                  </a:lnTo>
                  <a:cubicBezTo>
                    <a:pt x="7192" y="1786906"/>
                    <a:pt x="0" y="1779714"/>
                    <a:pt x="0" y="1770843"/>
                  </a:cubicBezTo>
                  <a:lnTo>
                    <a:pt x="0" y="16064"/>
                  </a:lnTo>
                  <a:cubicBezTo>
                    <a:pt x="0" y="7192"/>
                    <a:pt x="7192" y="0"/>
                    <a:pt x="16064" y="0"/>
                  </a:cubicBezTo>
                  <a:close/>
                </a:path>
              </a:pathLst>
            </a:custGeom>
            <a:solidFill>
              <a:srgbClr val="FCFCFC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66675"/>
              <a:ext cx="5077370" cy="17202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494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51231" y="612360"/>
            <a:ext cx="271148" cy="286173"/>
          </a:xfrm>
          <a:custGeom>
            <a:avLst/>
            <a:gdLst/>
            <a:ahLst/>
            <a:cxnLst/>
            <a:rect r="r" b="b" t="t" l="l"/>
            <a:pathLst>
              <a:path h="286173" w="271148">
                <a:moveTo>
                  <a:pt x="0" y="0"/>
                </a:moveTo>
                <a:lnTo>
                  <a:pt x="271148" y="0"/>
                </a:lnTo>
                <a:lnTo>
                  <a:pt x="271148" y="286172"/>
                </a:lnTo>
                <a:lnTo>
                  <a:pt x="0" y="286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686443"/>
            <a:ext cx="2871173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1599"/>
              </a:lnSpc>
              <a:buAutoNum type="arabicPeriod" startAt="1"/>
            </a:pPr>
            <a:r>
              <a:rPr lang="en-US" sz="1599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기능별 구현 현황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748364" y="621885"/>
            <a:ext cx="2791271" cy="231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b="true" sz="1600" spc="259">
                <a:solidFill>
                  <a:srgbClr val="15161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2026/09/08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4512338" y="616360"/>
            <a:ext cx="3124432" cy="456813"/>
            <a:chOff x="0" y="0"/>
            <a:chExt cx="822896" cy="12031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22896" cy="120313"/>
            </a:xfrm>
            <a:custGeom>
              <a:avLst/>
              <a:gdLst/>
              <a:ahLst/>
              <a:cxnLst/>
              <a:rect r="r" b="b" t="t" l="l"/>
              <a:pathLst>
                <a:path h="120313" w="822896">
                  <a:moveTo>
                    <a:pt x="60156" y="0"/>
                  </a:moveTo>
                  <a:lnTo>
                    <a:pt x="762739" y="0"/>
                  </a:lnTo>
                  <a:cubicBezTo>
                    <a:pt x="795963" y="0"/>
                    <a:pt x="822896" y="26933"/>
                    <a:pt x="822896" y="60156"/>
                  </a:cubicBezTo>
                  <a:lnTo>
                    <a:pt x="822896" y="60156"/>
                  </a:lnTo>
                  <a:cubicBezTo>
                    <a:pt x="822896" y="93380"/>
                    <a:pt x="795963" y="120313"/>
                    <a:pt x="762739" y="120313"/>
                  </a:cubicBezTo>
                  <a:lnTo>
                    <a:pt x="60156" y="120313"/>
                  </a:lnTo>
                  <a:cubicBezTo>
                    <a:pt x="26933" y="120313"/>
                    <a:pt x="0" y="93380"/>
                    <a:pt x="0" y="60156"/>
                  </a:cubicBezTo>
                  <a:lnTo>
                    <a:pt x="0" y="60156"/>
                  </a:lnTo>
                  <a:cubicBezTo>
                    <a:pt x="0" y="26933"/>
                    <a:pt x="26933" y="0"/>
                    <a:pt x="60156" y="0"/>
                  </a:cubicBezTo>
                  <a:close/>
                </a:path>
              </a:pathLst>
            </a:custGeom>
            <a:solidFill>
              <a:srgbClr val="15161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822896" cy="167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4760046" y="762851"/>
            <a:ext cx="2629015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sz="1200">
                <a:solidFill>
                  <a:srgbClr val="F3F4F3"/>
                </a:solidFill>
                <a:latin typeface="Poppins"/>
                <a:ea typeface="Poppins"/>
                <a:cs typeface="Poppins"/>
                <a:sym typeface="Poppins"/>
              </a:rPr>
              <a:t>https://github.com/Capstone-F5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6498500" y="9133151"/>
            <a:ext cx="760800" cy="554433"/>
          </a:xfrm>
          <a:custGeom>
            <a:avLst/>
            <a:gdLst/>
            <a:ahLst/>
            <a:cxnLst/>
            <a:rect r="r" b="b" t="t" l="l"/>
            <a:pathLst>
              <a:path h="554433" w="760800">
                <a:moveTo>
                  <a:pt x="0" y="0"/>
                </a:moveTo>
                <a:lnTo>
                  <a:pt x="760800" y="0"/>
                </a:lnTo>
                <a:lnTo>
                  <a:pt x="760800" y="554433"/>
                </a:lnTo>
                <a:lnTo>
                  <a:pt x="0" y="5544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3704305" y="3704968"/>
            <a:ext cx="631771" cy="635745"/>
          </a:xfrm>
          <a:custGeom>
            <a:avLst/>
            <a:gdLst/>
            <a:ahLst/>
            <a:cxnLst/>
            <a:rect r="r" b="b" t="t" l="l"/>
            <a:pathLst>
              <a:path h="635745" w="631771">
                <a:moveTo>
                  <a:pt x="0" y="0"/>
                </a:moveTo>
                <a:lnTo>
                  <a:pt x="631771" y="0"/>
                </a:lnTo>
                <a:lnTo>
                  <a:pt x="631771" y="635744"/>
                </a:lnTo>
                <a:lnTo>
                  <a:pt x="0" y="6357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7" id="17"/>
          <p:cNvSpPr/>
          <p:nvPr/>
        </p:nvSpPr>
        <p:spPr>
          <a:xfrm flipH="true">
            <a:off x="1324436" y="4771361"/>
            <a:ext cx="14619968" cy="0"/>
          </a:xfrm>
          <a:prstGeom prst="line">
            <a:avLst/>
          </a:prstGeom>
          <a:ln cap="rnd" w="19050">
            <a:solidFill>
              <a:srgbClr val="89857F">
                <a:alpha val="32941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H="true">
            <a:off x="1324436" y="6263832"/>
            <a:ext cx="14619968" cy="0"/>
          </a:xfrm>
          <a:prstGeom prst="line">
            <a:avLst/>
          </a:prstGeom>
          <a:ln cap="rnd" w="19050">
            <a:solidFill>
              <a:srgbClr val="89857F">
                <a:alpha val="32941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flipH="true">
            <a:off x="1324436" y="7756304"/>
            <a:ext cx="14619968" cy="0"/>
          </a:xfrm>
          <a:prstGeom prst="line">
            <a:avLst/>
          </a:prstGeom>
          <a:ln cap="rnd" w="19050">
            <a:solidFill>
              <a:srgbClr val="89857F">
                <a:alpha val="32941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flipH="true">
            <a:off x="1324436" y="9248775"/>
            <a:ext cx="14619968" cy="0"/>
          </a:xfrm>
          <a:prstGeom prst="line">
            <a:avLst/>
          </a:prstGeom>
          <a:ln cap="rnd" w="19050">
            <a:solidFill>
              <a:srgbClr val="89857F">
                <a:alpha val="32941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1" id="21"/>
          <p:cNvSpPr/>
          <p:nvPr/>
        </p:nvSpPr>
        <p:spPr>
          <a:xfrm flipH="true" flipV="false" rot="0">
            <a:off x="1314911" y="5291694"/>
            <a:ext cx="451805" cy="451805"/>
          </a:xfrm>
          <a:custGeom>
            <a:avLst/>
            <a:gdLst/>
            <a:ahLst/>
            <a:cxnLst/>
            <a:rect r="r" b="b" t="t" l="l"/>
            <a:pathLst>
              <a:path h="451805" w="451805">
                <a:moveTo>
                  <a:pt x="451805" y="0"/>
                </a:moveTo>
                <a:lnTo>
                  <a:pt x="0" y="0"/>
                </a:lnTo>
                <a:lnTo>
                  <a:pt x="0" y="451805"/>
                </a:lnTo>
                <a:lnTo>
                  <a:pt x="451805" y="451805"/>
                </a:lnTo>
                <a:lnTo>
                  <a:pt x="451805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true" flipV="false" rot="0">
            <a:off x="1314911" y="6784165"/>
            <a:ext cx="451805" cy="451805"/>
          </a:xfrm>
          <a:custGeom>
            <a:avLst/>
            <a:gdLst/>
            <a:ahLst/>
            <a:cxnLst/>
            <a:rect r="r" b="b" t="t" l="l"/>
            <a:pathLst>
              <a:path h="451805" w="451805">
                <a:moveTo>
                  <a:pt x="451805" y="0"/>
                </a:moveTo>
                <a:lnTo>
                  <a:pt x="0" y="0"/>
                </a:lnTo>
                <a:lnTo>
                  <a:pt x="0" y="451805"/>
                </a:lnTo>
                <a:lnTo>
                  <a:pt x="451805" y="451805"/>
                </a:lnTo>
                <a:lnTo>
                  <a:pt x="451805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true" flipV="false" rot="0">
            <a:off x="1314911" y="8276637"/>
            <a:ext cx="451805" cy="451805"/>
          </a:xfrm>
          <a:custGeom>
            <a:avLst/>
            <a:gdLst/>
            <a:ahLst/>
            <a:cxnLst/>
            <a:rect r="r" b="b" t="t" l="l"/>
            <a:pathLst>
              <a:path h="451805" w="451805">
                <a:moveTo>
                  <a:pt x="451805" y="0"/>
                </a:moveTo>
                <a:lnTo>
                  <a:pt x="0" y="0"/>
                </a:lnTo>
                <a:lnTo>
                  <a:pt x="0" y="451805"/>
                </a:lnTo>
                <a:lnTo>
                  <a:pt x="451805" y="451805"/>
                </a:lnTo>
                <a:lnTo>
                  <a:pt x="451805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2008246" y="2598104"/>
            <a:ext cx="9147698" cy="860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6500" b="true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핵심 기능 구현 현황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008246" y="1986334"/>
            <a:ext cx="4023889" cy="579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2199" spc="204" b="true">
                <a:solidFill>
                  <a:srgbClr val="151615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Implementatio</a:t>
            </a:r>
            <a:r>
              <a:rPr lang="en-US" b="true" sz="2199" spc="204">
                <a:solidFill>
                  <a:srgbClr val="151615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n status</a:t>
            </a:r>
          </a:p>
          <a:p>
            <a:pPr algn="l">
              <a:lnSpc>
                <a:spcPts val="2199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926104" y="5264857"/>
            <a:ext cx="3241561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음성 대화 주문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926104" y="6757329"/>
            <a:ext cx="3241561" cy="448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제스처 인식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926104" y="8249800"/>
            <a:ext cx="306098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취약계층 자동 감지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172263" y="5167712"/>
            <a:ext cx="5740118" cy="633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0"/>
              </a:lnSpc>
            </a:pPr>
            <a:r>
              <a:rPr lang="en-US" sz="16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터치 없이 AI와의 자연어 대화만으로 </a:t>
            </a:r>
          </a:p>
          <a:p>
            <a:pPr algn="ctr" marL="0" indent="0" lvl="0">
              <a:lnSpc>
                <a:spcPts val="2560"/>
              </a:lnSpc>
            </a:pPr>
            <a:r>
              <a:rPr lang="en-US" sz="16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메뉴 탐색 → 주문 → 결제 전 과정 가능하게 함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337566" y="5167712"/>
            <a:ext cx="5473558" cy="633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0"/>
              </a:lnSpc>
            </a:pPr>
            <a:r>
              <a:rPr lang="en-US" sz="16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음성 입력·응답·메뉴 검색·다국어 전환까지 </a:t>
            </a:r>
          </a:p>
          <a:p>
            <a:pPr algn="ctr" marL="0" indent="0" lvl="0">
              <a:lnSpc>
                <a:spcPts val="2560"/>
              </a:lnSpc>
            </a:pPr>
            <a:r>
              <a:rPr lang="en-US" sz="16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전 기능 구현을 완료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032135" y="4348218"/>
            <a:ext cx="4020374" cy="309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60"/>
              </a:lnSpc>
            </a:pPr>
            <a:r>
              <a:rPr lang="en-US" sz="16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목표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912381" y="4348218"/>
            <a:ext cx="4166552" cy="309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60"/>
              </a:lnSpc>
            </a:pPr>
            <a:r>
              <a:rPr lang="en-US" sz="16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구현 현황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172263" y="6644058"/>
            <a:ext cx="5740118" cy="633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0"/>
              </a:lnSpc>
            </a:pPr>
            <a:r>
              <a:rPr lang="en-US" sz="16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손동작만으로 메뉴 탐색 /선택 / 수량 조절 등</a:t>
            </a:r>
          </a:p>
          <a:p>
            <a:pPr algn="ctr" marL="0" indent="0" lvl="0">
              <a:lnSpc>
                <a:spcPts val="2560"/>
              </a:lnSpc>
            </a:pPr>
            <a:r>
              <a:rPr lang="en-US" sz="16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주문의 전 과정이 가능하게 함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204286" y="6644058"/>
            <a:ext cx="5740118" cy="633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0"/>
              </a:lnSpc>
            </a:pPr>
            <a:r>
              <a:rPr lang="en-US" sz="16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핀치·포인팅·손가락 번호·상하좌우 스와이프 인식 구현 완료</a:t>
            </a:r>
          </a:p>
          <a:p>
            <a:pPr algn="ctr" marL="0" indent="0" lvl="0">
              <a:lnSpc>
                <a:spcPts val="2560"/>
              </a:lnSpc>
            </a:pPr>
            <a:r>
              <a:rPr lang="en-US" sz="16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 손가락 번호 사용 UI 연동 작업 진행 중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172263" y="8152655"/>
            <a:ext cx="5740118" cy="633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0"/>
              </a:lnSpc>
            </a:pPr>
            <a:r>
              <a:rPr lang="en-US" sz="16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카메라로 취약계층을 자동 인식하여 적합한 입력</a:t>
            </a:r>
          </a:p>
          <a:p>
            <a:pPr algn="ctr" marL="0" indent="0" lvl="0">
              <a:lnSpc>
                <a:spcPts val="2560"/>
              </a:lnSpc>
            </a:pPr>
            <a:r>
              <a:rPr lang="en-US" sz="16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모드로 자동 전환되도록 함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204286" y="8152655"/>
            <a:ext cx="5740118" cy="633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0"/>
              </a:lnSpc>
            </a:pPr>
            <a:r>
              <a:rPr lang="en-US" sz="16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흰 지팡이 감지에 따른 모드 자동 전환을 구현 완료</a:t>
            </a:r>
          </a:p>
          <a:p>
            <a:pPr algn="ctr" marL="0" indent="0" lvl="0">
              <a:lnSpc>
                <a:spcPts val="2560"/>
              </a:lnSpc>
            </a:pPr>
            <a:r>
              <a:rPr lang="en-US" sz="16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휠체어/고령자 인식 기능은 추가 데이터 수집 후 적용 예정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3938" y="0"/>
            <a:ext cx="20335875" cy="10287000"/>
            <a:chOff x="0" y="0"/>
            <a:chExt cx="271145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600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39850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6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495069" y="4022840"/>
            <a:ext cx="19278139" cy="6784660"/>
            <a:chOff x="0" y="0"/>
            <a:chExt cx="5077370" cy="17869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77370" cy="1786906"/>
            </a:xfrm>
            <a:custGeom>
              <a:avLst/>
              <a:gdLst/>
              <a:ahLst/>
              <a:cxnLst/>
              <a:rect r="r" b="b" t="t" l="l"/>
              <a:pathLst>
                <a:path h="1786906" w="5077370">
                  <a:moveTo>
                    <a:pt x="16064" y="0"/>
                  </a:moveTo>
                  <a:lnTo>
                    <a:pt x="5061306" y="0"/>
                  </a:lnTo>
                  <a:cubicBezTo>
                    <a:pt x="5070178" y="0"/>
                    <a:pt x="5077370" y="7192"/>
                    <a:pt x="5077370" y="16064"/>
                  </a:cubicBezTo>
                  <a:lnTo>
                    <a:pt x="5077370" y="1770843"/>
                  </a:lnTo>
                  <a:cubicBezTo>
                    <a:pt x="5077370" y="1779714"/>
                    <a:pt x="5070178" y="1786906"/>
                    <a:pt x="5061306" y="1786906"/>
                  </a:cubicBezTo>
                  <a:lnTo>
                    <a:pt x="16064" y="1786906"/>
                  </a:lnTo>
                  <a:cubicBezTo>
                    <a:pt x="7192" y="1786906"/>
                    <a:pt x="0" y="1779714"/>
                    <a:pt x="0" y="1770843"/>
                  </a:cubicBezTo>
                  <a:lnTo>
                    <a:pt x="0" y="16064"/>
                  </a:lnTo>
                  <a:cubicBezTo>
                    <a:pt x="0" y="7192"/>
                    <a:pt x="7192" y="0"/>
                    <a:pt x="16064" y="0"/>
                  </a:cubicBezTo>
                  <a:close/>
                </a:path>
              </a:pathLst>
            </a:custGeom>
            <a:solidFill>
              <a:srgbClr val="FCFCFC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66675"/>
              <a:ext cx="5077370" cy="17202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494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51231" y="612360"/>
            <a:ext cx="271148" cy="286173"/>
          </a:xfrm>
          <a:custGeom>
            <a:avLst/>
            <a:gdLst/>
            <a:ahLst/>
            <a:cxnLst/>
            <a:rect r="r" b="b" t="t" l="l"/>
            <a:pathLst>
              <a:path h="286173" w="271148">
                <a:moveTo>
                  <a:pt x="0" y="0"/>
                </a:moveTo>
                <a:lnTo>
                  <a:pt x="271148" y="0"/>
                </a:lnTo>
                <a:lnTo>
                  <a:pt x="271148" y="286172"/>
                </a:lnTo>
                <a:lnTo>
                  <a:pt x="0" y="286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678870"/>
            <a:ext cx="2871173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1599"/>
              </a:lnSpc>
              <a:buAutoNum type="arabicPeriod" startAt="1"/>
            </a:pPr>
            <a:r>
              <a:rPr lang="en-US" sz="1599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기능별 구현 현황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748364" y="621885"/>
            <a:ext cx="2791271" cy="231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b="true" sz="1600" spc="259">
                <a:solidFill>
                  <a:srgbClr val="15161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2026/09/08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4512338" y="616360"/>
            <a:ext cx="3124432" cy="456813"/>
            <a:chOff x="0" y="0"/>
            <a:chExt cx="822896" cy="12031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22896" cy="120313"/>
            </a:xfrm>
            <a:custGeom>
              <a:avLst/>
              <a:gdLst/>
              <a:ahLst/>
              <a:cxnLst/>
              <a:rect r="r" b="b" t="t" l="l"/>
              <a:pathLst>
                <a:path h="120313" w="822896">
                  <a:moveTo>
                    <a:pt x="60156" y="0"/>
                  </a:moveTo>
                  <a:lnTo>
                    <a:pt x="762739" y="0"/>
                  </a:lnTo>
                  <a:cubicBezTo>
                    <a:pt x="795963" y="0"/>
                    <a:pt x="822896" y="26933"/>
                    <a:pt x="822896" y="60156"/>
                  </a:cubicBezTo>
                  <a:lnTo>
                    <a:pt x="822896" y="60156"/>
                  </a:lnTo>
                  <a:cubicBezTo>
                    <a:pt x="822896" y="93380"/>
                    <a:pt x="795963" y="120313"/>
                    <a:pt x="762739" y="120313"/>
                  </a:cubicBezTo>
                  <a:lnTo>
                    <a:pt x="60156" y="120313"/>
                  </a:lnTo>
                  <a:cubicBezTo>
                    <a:pt x="26933" y="120313"/>
                    <a:pt x="0" y="93380"/>
                    <a:pt x="0" y="60156"/>
                  </a:cubicBezTo>
                  <a:lnTo>
                    <a:pt x="0" y="60156"/>
                  </a:lnTo>
                  <a:cubicBezTo>
                    <a:pt x="0" y="26933"/>
                    <a:pt x="26933" y="0"/>
                    <a:pt x="60156" y="0"/>
                  </a:cubicBezTo>
                  <a:close/>
                </a:path>
              </a:pathLst>
            </a:custGeom>
            <a:solidFill>
              <a:srgbClr val="15161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822896" cy="167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4760046" y="762851"/>
            <a:ext cx="2629015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sz="1200">
                <a:solidFill>
                  <a:srgbClr val="F3F4F3"/>
                </a:solidFill>
                <a:latin typeface="Poppins"/>
                <a:ea typeface="Poppins"/>
                <a:cs typeface="Poppins"/>
                <a:sym typeface="Poppins"/>
              </a:rPr>
              <a:t>https://github.com/Capstone-F5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6498500" y="9133151"/>
            <a:ext cx="760800" cy="554433"/>
          </a:xfrm>
          <a:custGeom>
            <a:avLst/>
            <a:gdLst/>
            <a:ahLst/>
            <a:cxnLst/>
            <a:rect r="r" b="b" t="t" l="l"/>
            <a:pathLst>
              <a:path h="554433" w="760800">
                <a:moveTo>
                  <a:pt x="0" y="0"/>
                </a:moveTo>
                <a:lnTo>
                  <a:pt x="760800" y="0"/>
                </a:lnTo>
                <a:lnTo>
                  <a:pt x="760800" y="554433"/>
                </a:lnTo>
                <a:lnTo>
                  <a:pt x="0" y="5544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3704305" y="3704968"/>
            <a:ext cx="631771" cy="635745"/>
          </a:xfrm>
          <a:custGeom>
            <a:avLst/>
            <a:gdLst/>
            <a:ahLst/>
            <a:cxnLst/>
            <a:rect r="r" b="b" t="t" l="l"/>
            <a:pathLst>
              <a:path h="635745" w="631771">
                <a:moveTo>
                  <a:pt x="0" y="0"/>
                </a:moveTo>
                <a:lnTo>
                  <a:pt x="631771" y="0"/>
                </a:lnTo>
                <a:lnTo>
                  <a:pt x="631771" y="635744"/>
                </a:lnTo>
                <a:lnTo>
                  <a:pt x="0" y="6357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7" id="17"/>
          <p:cNvSpPr/>
          <p:nvPr/>
        </p:nvSpPr>
        <p:spPr>
          <a:xfrm flipH="true">
            <a:off x="1324436" y="4771361"/>
            <a:ext cx="14619968" cy="0"/>
          </a:xfrm>
          <a:prstGeom prst="line">
            <a:avLst/>
          </a:prstGeom>
          <a:ln cap="rnd" w="19050">
            <a:solidFill>
              <a:srgbClr val="89857F">
                <a:alpha val="32941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H="true">
            <a:off x="1324436" y="6263832"/>
            <a:ext cx="14619968" cy="0"/>
          </a:xfrm>
          <a:prstGeom prst="line">
            <a:avLst/>
          </a:prstGeom>
          <a:ln cap="rnd" w="19050">
            <a:solidFill>
              <a:srgbClr val="89857F">
                <a:alpha val="32941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flipH="true">
            <a:off x="1324436" y="7756304"/>
            <a:ext cx="14619968" cy="0"/>
          </a:xfrm>
          <a:prstGeom prst="line">
            <a:avLst/>
          </a:prstGeom>
          <a:ln cap="rnd" w="19050">
            <a:solidFill>
              <a:srgbClr val="89857F">
                <a:alpha val="32941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flipH="true">
            <a:off x="1324436" y="9248775"/>
            <a:ext cx="14619968" cy="0"/>
          </a:xfrm>
          <a:prstGeom prst="line">
            <a:avLst/>
          </a:prstGeom>
          <a:ln cap="rnd" w="19050">
            <a:solidFill>
              <a:srgbClr val="89857F">
                <a:alpha val="32941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1" id="21"/>
          <p:cNvSpPr/>
          <p:nvPr/>
        </p:nvSpPr>
        <p:spPr>
          <a:xfrm flipH="true" flipV="false" rot="0">
            <a:off x="1314911" y="5291694"/>
            <a:ext cx="451805" cy="451805"/>
          </a:xfrm>
          <a:custGeom>
            <a:avLst/>
            <a:gdLst/>
            <a:ahLst/>
            <a:cxnLst/>
            <a:rect r="r" b="b" t="t" l="l"/>
            <a:pathLst>
              <a:path h="451805" w="451805">
                <a:moveTo>
                  <a:pt x="451805" y="0"/>
                </a:moveTo>
                <a:lnTo>
                  <a:pt x="0" y="0"/>
                </a:lnTo>
                <a:lnTo>
                  <a:pt x="0" y="451805"/>
                </a:lnTo>
                <a:lnTo>
                  <a:pt x="451805" y="451805"/>
                </a:lnTo>
                <a:lnTo>
                  <a:pt x="451805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true" flipV="false" rot="0">
            <a:off x="1314911" y="6784165"/>
            <a:ext cx="451805" cy="451805"/>
          </a:xfrm>
          <a:custGeom>
            <a:avLst/>
            <a:gdLst/>
            <a:ahLst/>
            <a:cxnLst/>
            <a:rect r="r" b="b" t="t" l="l"/>
            <a:pathLst>
              <a:path h="451805" w="451805">
                <a:moveTo>
                  <a:pt x="451805" y="0"/>
                </a:moveTo>
                <a:lnTo>
                  <a:pt x="0" y="0"/>
                </a:lnTo>
                <a:lnTo>
                  <a:pt x="0" y="451805"/>
                </a:lnTo>
                <a:lnTo>
                  <a:pt x="451805" y="451805"/>
                </a:lnTo>
                <a:lnTo>
                  <a:pt x="451805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true" flipV="false" rot="0">
            <a:off x="1314911" y="8276637"/>
            <a:ext cx="451805" cy="451805"/>
          </a:xfrm>
          <a:custGeom>
            <a:avLst/>
            <a:gdLst/>
            <a:ahLst/>
            <a:cxnLst/>
            <a:rect r="r" b="b" t="t" l="l"/>
            <a:pathLst>
              <a:path h="451805" w="451805">
                <a:moveTo>
                  <a:pt x="451805" y="0"/>
                </a:moveTo>
                <a:lnTo>
                  <a:pt x="0" y="0"/>
                </a:lnTo>
                <a:lnTo>
                  <a:pt x="0" y="451805"/>
                </a:lnTo>
                <a:lnTo>
                  <a:pt x="451805" y="451805"/>
                </a:lnTo>
                <a:lnTo>
                  <a:pt x="451805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2008246" y="2598104"/>
            <a:ext cx="9147698" cy="860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6500" b="true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미구현 및 부분 구현 기능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008246" y="1986334"/>
            <a:ext cx="4023889" cy="579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2199" spc="204" b="true">
                <a:solidFill>
                  <a:srgbClr val="151615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Implementatio</a:t>
            </a:r>
            <a:r>
              <a:rPr lang="en-US" b="true" sz="2199" spc="204">
                <a:solidFill>
                  <a:srgbClr val="151615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n status</a:t>
            </a:r>
          </a:p>
          <a:p>
            <a:pPr algn="l">
              <a:lnSpc>
                <a:spcPts val="2199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926104" y="5272597"/>
            <a:ext cx="3241561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미구현 기능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926104" y="6766854"/>
            <a:ext cx="3241561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부분 구현 기능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926104" y="8261129"/>
            <a:ext cx="306098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지연 원인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172263" y="5167712"/>
            <a:ext cx="5740118" cy="633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0"/>
              </a:lnSpc>
            </a:pPr>
            <a:r>
              <a:rPr lang="en-US" sz="16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휠체어 / 고령자 인식하여 알맞은 </a:t>
            </a:r>
          </a:p>
          <a:p>
            <a:pPr algn="ctr" marL="0" indent="0" lvl="0">
              <a:lnSpc>
                <a:spcPts val="2560"/>
              </a:lnSpc>
            </a:pPr>
            <a:r>
              <a:rPr lang="en-US" sz="16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모드 자동 전환 기능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337566" y="5167712"/>
            <a:ext cx="5473558" cy="633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0"/>
              </a:lnSpc>
            </a:pPr>
            <a:r>
              <a:rPr lang="en-US" sz="16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손가락 1~10 펼침으로 메뉴 </a:t>
            </a:r>
          </a:p>
          <a:p>
            <a:pPr algn="ctr" marL="0" indent="0" lvl="0">
              <a:lnSpc>
                <a:spcPts val="2560"/>
              </a:lnSpc>
            </a:pPr>
            <a:r>
              <a:rPr lang="en-US" sz="16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선택 기능 및 UI 연동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032135" y="4348218"/>
            <a:ext cx="4020374" cy="309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60"/>
              </a:lnSpc>
            </a:pPr>
            <a:r>
              <a:rPr lang="en-US" sz="16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취약계층 인식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912381" y="4348218"/>
            <a:ext cx="4166552" cy="309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60"/>
              </a:lnSpc>
            </a:pPr>
            <a:r>
              <a:rPr lang="en-US" sz="16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제스처 인식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172263" y="6644058"/>
            <a:ext cx="5740118" cy="633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0"/>
              </a:lnSpc>
            </a:pPr>
            <a:r>
              <a:rPr lang="en-US" sz="16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시각장애인 지팡이 인식하여</a:t>
            </a:r>
          </a:p>
          <a:p>
            <a:pPr algn="ctr" marL="0" indent="0" lvl="0">
              <a:lnSpc>
                <a:spcPts val="2560"/>
              </a:lnSpc>
            </a:pPr>
            <a:r>
              <a:rPr lang="en-US" sz="16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안내 및  모드 자동 전환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204286" y="6644058"/>
            <a:ext cx="5740118" cy="633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0"/>
              </a:lnSpc>
            </a:pPr>
            <a:r>
              <a:rPr lang="en-US" sz="16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핀치·포인팅·손가락 번호·상하좌우 스와이프 </a:t>
            </a:r>
          </a:p>
          <a:p>
            <a:pPr algn="ctr" marL="0" indent="0" lvl="0">
              <a:lnSpc>
                <a:spcPts val="2560"/>
              </a:lnSpc>
            </a:pPr>
            <a:r>
              <a:rPr lang="en-US" sz="16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인식 구현 완료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172263" y="8152655"/>
            <a:ext cx="5740118" cy="633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0"/>
              </a:lnSpc>
            </a:pPr>
            <a:r>
              <a:rPr lang="en-US" sz="16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적합한 데이터 수집 및 레이블링 지연</a:t>
            </a:r>
          </a:p>
          <a:p>
            <a:pPr algn="ctr" marL="0" indent="0" lvl="0">
              <a:lnSpc>
                <a:spcPts val="2560"/>
              </a:lnSpc>
            </a:pPr>
            <a:r>
              <a:rPr lang="en-US" sz="16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구현의 상대적 난이도 낮음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204286" y="8152655"/>
            <a:ext cx="5740118" cy="633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0"/>
              </a:lnSpc>
            </a:pPr>
            <a:r>
              <a:rPr lang="en-US" sz="16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핀치, 포인팅 동작에 비하여 활용도가 </a:t>
            </a:r>
          </a:p>
          <a:p>
            <a:pPr algn="ctr" marL="0" indent="0" lvl="0">
              <a:lnSpc>
                <a:spcPts val="2560"/>
              </a:lnSpc>
            </a:pPr>
            <a:r>
              <a:rPr lang="en-US" sz="16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낮음으로 인하여 관심도 저하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3938" y="0"/>
            <a:ext cx="20335875" cy="10287000"/>
            <a:chOff x="0" y="0"/>
            <a:chExt cx="271145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600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39850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6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651231" y="612360"/>
            <a:ext cx="271148" cy="286173"/>
          </a:xfrm>
          <a:custGeom>
            <a:avLst/>
            <a:gdLst/>
            <a:ahLst/>
            <a:cxnLst/>
            <a:rect r="r" b="b" t="t" l="l"/>
            <a:pathLst>
              <a:path h="286173" w="271148">
                <a:moveTo>
                  <a:pt x="0" y="0"/>
                </a:moveTo>
                <a:lnTo>
                  <a:pt x="271148" y="0"/>
                </a:lnTo>
                <a:lnTo>
                  <a:pt x="271148" y="286172"/>
                </a:lnTo>
                <a:lnTo>
                  <a:pt x="0" y="286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686443"/>
            <a:ext cx="2871173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1599"/>
              </a:lnSpc>
              <a:buAutoNum type="arabicPeriod" startAt="1"/>
            </a:pPr>
            <a:r>
              <a:rPr lang="en-US" sz="1599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AI 모델 및 데이터 개발 현황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748364" y="621885"/>
            <a:ext cx="2791271" cy="231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b="true" sz="1600" spc="259">
                <a:solidFill>
                  <a:srgbClr val="15161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2026/09/08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4512338" y="616360"/>
            <a:ext cx="3124432" cy="456813"/>
            <a:chOff x="0" y="0"/>
            <a:chExt cx="822896" cy="12031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2896" cy="120313"/>
            </a:xfrm>
            <a:custGeom>
              <a:avLst/>
              <a:gdLst/>
              <a:ahLst/>
              <a:cxnLst/>
              <a:rect r="r" b="b" t="t" l="l"/>
              <a:pathLst>
                <a:path h="120313" w="822896">
                  <a:moveTo>
                    <a:pt x="60156" y="0"/>
                  </a:moveTo>
                  <a:lnTo>
                    <a:pt x="762739" y="0"/>
                  </a:lnTo>
                  <a:cubicBezTo>
                    <a:pt x="795963" y="0"/>
                    <a:pt x="822896" y="26933"/>
                    <a:pt x="822896" y="60156"/>
                  </a:cubicBezTo>
                  <a:lnTo>
                    <a:pt x="822896" y="60156"/>
                  </a:lnTo>
                  <a:cubicBezTo>
                    <a:pt x="822896" y="93380"/>
                    <a:pt x="795963" y="120313"/>
                    <a:pt x="762739" y="120313"/>
                  </a:cubicBezTo>
                  <a:lnTo>
                    <a:pt x="60156" y="120313"/>
                  </a:lnTo>
                  <a:cubicBezTo>
                    <a:pt x="26933" y="120313"/>
                    <a:pt x="0" y="93380"/>
                    <a:pt x="0" y="60156"/>
                  </a:cubicBezTo>
                  <a:lnTo>
                    <a:pt x="0" y="60156"/>
                  </a:lnTo>
                  <a:cubicBezTo>
                    <a:pt x="0" y="26933"/>
                    <a:pt x="26933" y="0"/>
                    <a:pt x="60156" y="0"/>
                  </a:cubicBezTo>
                  <a:close/>
                </a:path>
              </a:pathLst>
            </a:custGeom>
            <a:solidFill>
              <a:srgbClr val="15161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822896" cy="167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4760046" y="762851"/>
            <a:ext cx="2629015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sz="1200">
                <a:solidFill>
                  <a:srgbClr val="F3F4F3"/>
                </a:solidFill>
                <a:latin typeface="Poppins"/>
                <a:ea typeface="Poppins"/>
                <a:cs typeface="Poppins"/>
                <a:sym typeface="Poppins"/>
              </a:rPr>
              <a:t>https://github.com/Capstone-F5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6563014" y="1957759"/>
            <a:ext cx="631771" cy="635745"/>
          </a:xfrm>
          <a:custGeom>
            <a:avLst/>
            <a:gdLst/>
            <a:ahLst/>
            <a:cxnLst/>
            <a:rect r="r" b="b" t="t" l="l"/>
            <a:pathLst>
              <a:path h="635745" w="631771">
                <a:moveTo>
                  <a:pt x="0" y="0"/>
                </a:moveTo>
                <a:lnTo>
                  <a:pt x="631772" y="0"/>
                </a:lnTo>
                <a:lnTo>
                  <a:pt x="631772" y="635745"/>
                </a:lnTo>
                <a:lnTo>
                  <a:pt x="0" y="6357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498500" y="9133151"/>
            <a:ext cx="760800" cy="554433"/>
          </a:xfrm>
          <a:custGeom>
            <a:avLst/>
            <a:gdLst/>
            <a:ahLst/>
            <a:cxnLst/>
            <a:rect r="r" b="b" t="t" l="l"/>
            <a:pathLst>
              <a:path h="554433" w="760800">
                <a:moveTo>
                  <a:pt x="0" y="0"/>
                </a:moveTo>
                <a:lnTo>
                  <a:pt x="760800" y="0"/>
                </a:lnTo>
                <a:lnTo>
                  <a:pt x="760800" y="554433"/>
                </a:lnTo>
                <a:lnTo>
                  <a:pt x="0" y="5544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008246" y="2598104"/>
            <a:ext cx="9147698" cy="860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6500" b="true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데이터 확보 및 전처리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08246" y="1986334"/>
            <a:ext cx="7538261" cy="303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2199" spc="204" b="true">
                <a:solidFill>
                  <a:srgbClr val="151615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Data collection and preprocessing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08246" y="4429273"/>
            <a:ext cx="3371359" cy="33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6"/>
              </a:lnSpc>
            </a:pPr>
            <a:r>
              <a:rPr lang="en-US" b="true" sz="2600" spc="-78">
                <a:solidFill>
                  <a:srgbClr val="222222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데이터 수집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39935" y="5236218"/>
            <a:ext cx="4319875" cy="2616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2" indent="-280671" lvl="1">
              <a:lnSpc>
                <a:spcPts val="3640"/>
              </a:lnSpc>
              <a:buFont typeface="Arial"/>
              <a:buChar char="•"/>
            </a:pPr>
            <a:r>
              <a:rPr lang="en-US" sz="2600" spc="-78">
                <a:solidFill>
                  <a:srgbClr val="222222"/>
                </a:solidFill>
                <a:latin typeface="네모고딕"/>
                <a:ea typeface="네모고딕"/>
                <a:cs typeface="네모고딕"/>
                <a:sym typeface="네모고딕"/>
              </a:rPr>
              <a:t>Roboflow Universe</a:t>
            </a:r>
          </a:p>
          <a:p>
            <a:pPr algn="l" marL="604537" indent="-201512" lvl="2">
              <a:lnSpc>
                <a:spcPts val="1960"/>
              </a:lnSpc>
              <a:buFont typeface="Arial"/>
              <a:buChar char="⚬"/>
            </a:pPr>
            <a:r>
              <a:rPr lang="en-US" sz="1400" spc="-42">
                <a:solidFill>
                  <a:srgbClr val="222222"/>
                </a:solidFill>
                <a:latin typeface="네모고딕"/>
                <a:ea typeface="네모고딕"/>
                <a:cs typeface="네모고딕"/>
                <a:sym typeface="네모고딕"/>
              </a:rPr>
              <a:t>White cane Computer Vision Model</a:t>
            </a:r>
          </a:p>
          <a:p>
            <a:pPr algn="l" marL="604537" indent="-201512" lvl="2">
              <a:lnSpc>
                <a:spcPts val="1960"/>
              </a:lnSpc>
              <a:buFont typeface="Arial"/>
              <a:buChar char="⚬"/>
            </a:pPr>
            <a:r>
              <a:rPr lang="en-US" sz="1400" spc="-42">
                <a:solidFill>
                  <a:srgbClr val="222222"/>
                </a:solidFill>
                <a:latin typeface="네모고딕"/>
                <a:ea typeface="네모고딕"/>
                <a:cs typeface="네모고딕"/>
                <a:sym typeface="네모고딕"/>
              </a:rPr>
              <a:t>wheelchair Computer vision Model</a:t>
            </a:r>
          </a:p>
          <a:p>
            <a:pPr algn="l" marL="604537" indent="-201512" lvl="2">
              <a:lnSpc>
                <a:spcPts val="1960"/>
              </a:lnSpc>
              <a:buFont typeface="Arial"/>
              <a:buChar char="⚬"/>
            </a:pPr>
            <a:r>
              <a:rPr lang="en-US" sz="1400" spc="-42">
                <a:solidFill>
                  <a:srgbClr val="222222"/>
                </a:solidFill>
                <a:latin typeface="네모고딕"/>
                <a:ea typeface="네모고딕"/>
                <a:cs typeface="네모고딕"/>
                <a:sym typeface="네모고딕"/>
              </a:rPr>
              <a:t>People Detection Computer Vision Model</a:t>
            </a:r>
          </a:p>
          <a:p>
            <a:pPr algn="l" marL="561342" indent="-280671" lvl="1">
              <a:lnSpc>
                <a:spcPts val="3640"/>
              </a:lnSpc>
              <a:buFont typeface="Arial"/>
              <a:buChar char="•"/>
            </a:pPr>
            <a:r>
              <a:rPr lang="en-US" sz="2600" spc="-78">
                <a:solidFill>
                  <a:srgbClr val="222222"/>
                </a:solidFill>
                <a:latin typeface="네모고딕"/>
                <a:ea typeface="네모고딕"/>
                <a:cs typeface="네모고딕"/>
                <a:sym typeface="네모고딕"/>
              </a:rPr>
              <a:t>Kaggle</a:t>
            </a:r>
          </a:p>
          <a:p>
            <a:pPr algn="l" marL="604521" indent="-201507" lvl="2">
              <a:lnSpc>
                <a:spcPts val="1960"/>
              </a:lnSpc>
              <a:buFont typeface="Arial"/>
              <a:buChar char="⚬"/>
            </a:pPr>
            <a:r>
              <a:rPr lang="en-US" sz="1400" spc="-42">
                <a:solidFill>
                  <a:srgbClr val="222222"/>
                </a:solidFill>
                <a:latin typeface="네모고딕"/>
                <a:ea typeface="네모고딕"/>
                <a:cs typeface="네모고딕"/>
                <a:sym typeface="네모고딕"/>
              </a:rPr>
              <a:t>Faces: Age Detection from Images</a:t>
            </a:r>
          </a:p>
          <a:p>
            <a:pPr algn="l" marL="561342" indent="-280671" lvl="1">
              <a:lnSpc>
                <a:spcPts val="3640"/>
              </a:lnSpc>
              <a:buFont typeface="Arial"/>
              <a:buChar char="•"/>
            </a:pPr>
            <a:r>
              <a:rPr lang="en-US" sz="2600" spc="-78">
                <a:solidFill>
                  <a:srgbClr val="222222"/>
                </a:solidFill>
                <a:latin typeface="네모고딕"/>
                <a:ea typeface="네모고딕"/>
                <a:cs typeface="네모고딕"/>
                <a:sym typeface="네모고딕"/>
              </a:rPr>
              <a:t>직접 촬영</a:t>
            </a:r>
          </a:p>
          <a:p>
            <a:pPr algn="l" marL="604521" indent="-201507" lvl="2">
              <a:lnSpc>
                <a:spcPts val="1960"/>
              </a:lnSpc>
              <a:buFont typeface="Arial"/>
              <a:buChar char="⚬"/>
            </a:pPr>
            <a:r>
              <a:rPr lang="en-US" sz="1400" spc="-42">
                <a:solidFill>
                  <a:srgbClr val="222222"/>
                </a:solidFill>
                <a:latin typeface="네모고딕"/>
                <a:ea typeface="네모고딕"/>
                <a:cs typeface="네모고딕"/>
                <a:sym typeface="네모고딕"/>
              </a:rPr>
              <a:t>엣지 케이스 촬영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263753" y="5236218"/>
            <a:ext cx="3760494" cy="356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2" indent="-280671" lvl="1">
              <a:lnSpc>
                <a:spcPts val="3640"/>
              </a:lnSpc>
              <a:buFont typeface="Arial"/>
              <a:buChar char="•"/>
            </a:pPr>
            <a:r>
              <a:rPr lang="en-US" sz="2600" spc="-78">
                <a:solidFill>
                  <a:srgbClr val="222222"/>
                </a:solidFill>
                <a:latin typeface="네모고딕"/>
                <a:ea typeface="네모고딕"/>
                <a:cs typeface="네모고딕"/>
                <a:sym typeface="네모고딕"/>
              </a:rPr>
              <a:t>Roboflow Universe</a:t>
            </a:r>
          </a:p>
          <a:p>
            <a:pPr algn="l" marL="604521" indent="-201507" lvl="2">
              <a:lnSpc>
                <a:spcPts val="1960"/>
              </a:lnSpc>
              <a:buFont typeface="Arial"/>
              <a:buChar char="⚬"/>
            </a:pPr>
            <a:r>
              <a:rPr lang="en-US" sz="1400" spc="-42">
                <a:solidFill>
                  <a:srgbClr val="222222"/>
                </a:solidFill>
                <a:latin typeface="네모고딕"/>
                <a:ea typeface="네모고딕"/>
                <a:cs typeface="네모고딕"/>
                <a:sym typeface="네모고딕"/>
              </a:rPr>
              <a:t>지팡이 9,500+</a:t>
            </a:r>
          </a:p>
          <a:p>
            <a:pPr algn="l" marL="604521" indent="-201507" lvl="2">
              <a:lnSpc>
                <a:spcPts val="1960"/>
              </a:lnSpc>
              <a:buFont typeface="Arial"/>
              <a:buChar char="⚬"/>
            </a:pPr>
            <a:r>
              <a:rPr lang="en-US" sz="1400" spc="-42">
                <a:solidFill>
                  <a:srgbClr val="222222"/>
                </a:solidFill>
                <a:latin typeface="네모고딕"/>
                <a:ea typeface="네모고딕"/>
                <a:cs typeface="네모고딕"/>
                <a:sym typeface="네모고딕"/>
              </a:rPr>
              <a:t>휠체어 1,700+</a:t>
            </a:r>
          </a:p>
          <a:p>
            <a:pPr algn="l" marL="604521" indent="-201507" lvl="2">
              <a:lnSpc>
                <a:spcPts val="1960"/>
              </a:lnSpc>
              <a:buFont typeface="Arial"/>
              <a:buChar char="⚬"/>
            </a:pPr>
            <a:r>
              <a:rPr lang="en-US" sz="1400" spc="-42">
                <a:solidFill>
                  <a:srgbClr val="222222"/>
                </a:solidFill>
                <a:latin typeface="네모고딕"/>
                <a:ea typeface="네모고딕"/>
                <a:cs typeface="네모고딕"/>
                <a:sym typeface="네모고딕"/>
              </a:rPr>
              <a:t>사람 탐지 9,800+</a:t>
            </a:r>
          </a:p>
          <a:p>
            <a:pPr algn="l" marL="561342" indent="-280671" lvl="1">
              <a:lnSpc>
                <a:spcPts val="3640"/>
              </a:lnSpc>
              <a:buFont typeface="Arial"/>
              <a:buChar char="•"/>
            </a:pPr>
            <a:r>
              <a:rPr lang="en-US" sz="2600" spc="-78">
                <a:solidFill>
                  <a:srgbClr val="222222"/>
                </a:solidFill>
                <a:latin typeface="네모고딕"/>
                <a:ea typeface="네모고딕"/>
                <a:cs typeface="네모고딕"/>
                <a:sym typeface="네모고딕"/>
              </a:rPr>
              <a:t>Kaggle</a:t>
            </a:r>
          </a:p>
          <a:p>
            <a:pPr algn="l" marL="604521" indent="-201507" lvl="2">
              <a:lnSpc>
                <a:spcPts val="1960"/>
              </a:lnSpc>
              <a:buFont typeface="Arial"/>
              <a:buChar char="⚬"/>
            </a:pPr>
            <a:r>
              <a:rPr lang="en-US" sz="1400" spc="-42">
                <a:solidFill>
                  <a:srgbClr val="222222"/>
                </a:solidFill>
                <a:latin typeface="네모고딕"/>
                <a:ea typeface="네모고딕"/>
                <a:cs typeface="네모고딕"/>
                <a:sym typeface="네모고딕"/>
              </a:rPr>
              <a:t>얼굴 연령 </a:t>
            </a:r>
            <a:r>
              <a:rPr lang="en-US" sz="1400" spc="-42">
                <a:solidFill>
                  <a:srgbClr val="222222"/>
                </a:solidFill>
                <a:latin typeface="네모고딕"/>
                <a:ea typeface="네모고딕"/>
                <a:cs typeface="네모고딕"/>
                <a:sym typeface="네모고딕"/>
              </a:rPr>
              <a:t>23,200+</a:t>
            </a:r>
          </a:p>
          <a:p>
            <a:pPr algn="l" marL="561342" indent="-280671" lvl="1">
              <a:lnSpc>
                <a:spcPts val="3640"/>
              </a:lnSpc>
              <a:buFont typeface="Arial"/>
              <a:buChar char="•"/>
            </a:pPr>
            <a:r>
              <a:rPr lang="en-US" sz="2600" spc="-78">
                <a:solidFill>
                  <a:srgbClr val="222222"/>
                </a:solidFill>
                <a:latin typeface="네모고딕"/>
                <a:ea typeface="네모고딕"/>
                <a:cs typeface="네모고딕"/>
                <a:sym typeface="네모고딕"/>
              </a:rPr>
              <a:t>직접 촬영</a:t>
            </a:r>
          </a:p>
          <a:p>
            <a:pPr algn="l" marL="604521" indent="-201507" lvl="2">
              <a:lnSpc>
                <a:spcPts val="1960"/>
              </a:lnSpc>
              <a:buFont typeface="Arial"/>
              <a:buChar char="⚬"/>
            </a:pPr>
            <a:r>
              <a:rPr lang="en-US" sz="1400" spc="-42">
                <a:solidFill>
                  <a:srgbClr val="222222"/>
                </a:solidFill>
                <a:latin typeface="네모고딕"/>
                <a:ea typeface="네모고딕"/>
                <a:cs typeface="네모고딕"/>
                <a:sym typeface="네모고딕"/>
              </a:rPr>
              <a:t>엣지 케이스 250+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 spc="-78">
                <a:solidFill>
                  <a:srgbClr val="222222"/>
                </a:solidFill>
                <a:latin typeface="네모고딕"/>
                <a:ea typeface="네모고딕"/>
                <a:cs typeface="네모고딕"/>
                <a:sym typeface="네모고딕"/>
              </a:rPr>
              <a:t>데이터 분할</a:t>
            </a:r>
          </a:p>
          <a:p>
            <a:pPr algn="l" marL="604521" indent="-201507" lvl="2">
              <a:lnSpc>
                <a:spcPts val="1960"/>
              </a:lnSpc>
              <a:buFont typeface="Arial"/>
              <a:buChar char="⚬"/>
            </a:pPr>
            <a:r>
              <a:rPr lang="en-US" sz="1400" spc="-42">
                <a:solidFill>
                  <a:srgbClr val="222222"/>
                </a:solidFill>
                <a:latin typeface="네모고딕"/>
                <a:ea typeface="네모고딕"/>
                <a:cs typeface="네모고딕"/>
                <a:sym typeface="네모고딕"/>
              </a:rPr>
              <a:t>Train 70% | Test 20% | Valid 10%</a:t>
            </a:r>
          </a:p>
          <a:p>
            <a:pPr algn="l">
              <a:lnSpc>
                <a:spcPts val="1960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2518181" y="5236218"/>
            <a:ext cx="4483731" cy="332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2" indent="-280671" lvl="1">
              <a:lnSpc>
                <a:spcPts val="3640"/>
              </a:lnSpc>
              <a:buFont typeface="Arial"/>
              <a:buChar char="•"/>
            </a:pPr>
            <a:r>
              <a:rPr lang="en-US" sz="2600" spc="-78">
                <a:solidFill>
                  <a:srgbClr val="222222"/>
                </a:solidFill>
                <a:latin typeface="네모고딕"/>
                <a:ea typeface="네모고딕"/>
                <a:cs typeface="네모고딕"/>
                <a:sym typeface="네모고딕"/>
              </a:rPr>
              <a:t>이미지 규격 표준화</a:t>
            </a:r>
          </a:p>
          <a:p>
            <a:pPr algn="l" marL="604521" indent="-201507" lvl="2">
              <a:lnSpc>
                <a:spcPts val="1960"/>
              </a:lnSpc>
              <a:buFont typeface="Arial"/>
              <a:buChar char="⚬"/>
            </a:pPr>
            <a:r>
              <a:rPr lang="en-US" sz="1400" spc="-42">
                <a:solidFill>
                  <a:srgbClr val="222222"/>
                </a:solidFill>
                <a:latin typeface="네모고딕"/>
                <a:ea typeface="네모고딕"/>
                <a:cs typeface="네모고딕"/>
                <a:sym typeface="네모고딕"/>
              </a:rPr>
              <a:t>320x320으로 입력 해상도를 통일</a:t>
            </a:r>
          </a:p>
          <a:p>
            <a:pPr algn="l" marL="561342" indent="-280671" lvl="1">
              <a:lnSpc>
                <a:spcPts val="3640"/>
              </a:lnSpc>
              <a:buFont typeface="Arial"/>
              <a:buChar char="•"/>
            </a:pPr>
            <a:r>
              <a:rPr lang="en-US" sz="2600" spc="-78">
                <a:solidFill>
                  <a:srgbClr val="222222"/>
                </a:solidFill>
                <a:latin typeface="네모고딕"/>
                <a:ea typeface="네모고딕"/>
                <a:cs typeface="네모고딕"/>
                <a:sym typeface="네모고딕"/>
              </a:rPr>
              <a:t>포맷 통합 및 픽셀 정규화</a:t>
            </a:r>
          </a:p>
          <a:p>
            <a:pPr algn="l" marL="604521" indent="-201507" lvl="2">
              <a:lnSpc>
                <a:spcPts val="1960"/>
              </a:lnSpc>
              <a:buFont typeface="Arial"/>
              <a:buChar char="⚬"/>
            </a:pPr>
            <a:r>
              <a:rPr lang="en-US" sz="1400" spc="-42">
                <a:solidFill>
                  <a:srgbClr val="222222"/>
                </a:solidFill>
                <a:latin typeface="네모고딕"/>
                <a:ea typeface="네모고딕"/>
                <a:cs typeface="네모고딕"/>
                <a:sym typeface="네모고딕"/>
              </a:rPr>
              <a:t>다양한 레이블 양식을 YOLO 포멧으로 변환</a:t>
            </a:r>
          </a:p>
          <a:p>
            <a:pPr algn="l" marL="604521" indent="-201507" lvl="2">
              <a:lnSpc>
                <a:spcPts val="1960"/>
              </a:lnSpc>
              <a:buFont typeface="Arial"/>
              <a:buChar char="⚬"/>
            </a:pPr>
            <a:r>
              <a:rPr lang="en-US" sz="1400" spc="-42">
                <a:solidFill>
                  <a:srgbClr val="222222"/>
                </a:solidFill>
                <a:latin typeface="네모고딕"/>
                <a:ea typeface="네모고딕"/>
                <a:cs typeface="네모고딕"/>
                <a:sym typeface="네모고딕"/>
              </a:rPr>
              <a:t>픽셀 값 스케일링 및 정규푼포화를 진행</a:t>
            </a:r>
          </a:p>
          <a:p>
            <a:pPr algn="l" marL="561342" indent="-280671" lvl="1">
              <a:lnSpc>
                <a:spcPts val="3640"/>
              </a:lnSpc>
              <a:buFont typeface="Arial"/>
              <a:buChar char="•"/>
            </a:pPr>
            <a:r>
              <a:rPr lang="en-US" sz="2600" spc="-78">
                <a:solidFill>
                  <a:srgbClr val="222222"/>
                </a:solidFill>
                <a:latin typeface="네모고딕"/>
                <a:ea typeface="네모고딕"/>
                <a:cs typeface="네모고딕"/>
                <a:sym typeface="네모고딕"/>
              </a:rPr>
              <a:t>AI 활용 자동 레이블링</a:t>
            </a:r>
          </a:p>
          <a:p>
            <a:pPr algn="l" marL="604521" indent="-201507" lvl="2">
              <a:lnSpc>
                <a:spcPts val="1960"/>
              </a:lnSpc>
              <a:buFont typeface="Arial"/>
              <a:buChar char="⚬"/>
            </a:pPr>
            <a:r>
              <a:rPr lang="en-US" sz="1400" spc="-42">
                <a:solidFill>
                  <a:srgbClr val="222222"/>
                </a:solidFill>
                <a:latin typeface="네모고딕"/>
                <a:ea typeface="네모고딕"/>
                <a:cs typeface="네모고딕"/>
                <a:sym typeface="네모고딕"/>
              </a:rPr>
              <a:t>통합 과정에서 서로 미 레이블된 데이터 레이블링</a:t>
            </a:r>
          </a:p>
          <a:p>
            <a:pPr algn="l" marL="604521" indent="-201507" lvl="2">
              <a:lnSpc>
                <a:spcPts val="1960"/>
              </a:lnSpc>
              <a:buFont typeface="Arial"/>
              <a:buChar char="⚬"/>
            </a:pPr>
            <a:r>
              <a:rPr lang="en-US" sz="1400" spc="-42">
                <a:solidFill>
                  <a:srgbClr val="222222"/>
                </a:solidFill>
                <a:latin typeface="네모고딕"/>
                <a:ea typeface="네모고딕"/>
                <a:cs typeface="네모고딕"/>
                <a:sym typeface="네모고딕"/>
              </a:rPr>
              <a:t>직접 촬영한 엣지 데이터 레이블링</a:t>
            </a:r>
          </a:p>
          <a:p>
            <a:pPr algn="l" marL="561342" indent="-280671" lvl="1">
              <a:lnSpc>
                <a:spcPts val="3640"/>
              </a:lnSpc>
              <a:buFont typeface="Arial"/>
              <a:buChar char="•"/>
            </a:pPr>
            <a:r>
              <a:rPr lang="en-US" sz="2600" spc="-78">
                <a:solidFill>
                  <a:srgbClr val="222222"/>
                </a:solidFill>
                <a:latin typeface="네모고딕"/>
                <a:ea typeface="네모고딕"/>
                <a:cs typeface="네모고딕"/>
                <a:sym typeface="네모고딕"/>
              </a:rPr>
              <a:t>데이터 증강</a:t>
            </a:r>
          </a:p>
          <a:p>
            <a:pPr algn="l" marL="604521" indent="-201507" lvl="2">
              <a:lnSpc>
                <a:spcPts val="1960"/>
              </a:lnSpc>
              <a:buFont typeface="Arial"/>
              <a:buChar char="⚬"/>
            </a:pPr>
            <a:r>
              <a:rPr lang="en-US" sz="1400" spc="-42">
                <a:solidFill>
                  <a:srgbClr val="222222"/>
                </a:solidFill>
                <a:latin typeface="네모고딕"/>
                <a:ea typeface="네모고딕"/>
                <a:cs typeface="네모고딕"/>
                <a:sym typeface="네모고딕"/>
              </a:rPr>
              <a:t>다양한 조명 등을 고려하여 데이터 증강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460201" y="4429273"/>
            <a:ext cx="3367004" cy="33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6"/>
              </a:lnSpc>
            </a:pPr>
            <a:r>
              <a:rPr lang="en-US" b="true" sz="2600" spc="-78">
                <a:solidFill>
                  <a:srgbClr val="222222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데이터 규모 및 구성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907800" y="4429273"/>
            <a:ext cx="3367004" cy="33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6"/>
              </a:lnSpc>
            </a:pPr>
            <a:r>
              <a:rPr lang="en-US" b="true" sz="2600" spc="-78">
                <a:solidFill>
                  <a:srgbClr val="222222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데이터 전처리</a:t>
            </a:r>
          </a:p>
        </p:txBody>
      </p:sp>
      <p:sp>
        <p:nvSpPr>
          <p:cNvPr name="AutoShape 22" id="22"/>
          <p:cNvSpPr/>
          <p:nvPr/>
        </p:nvSpPr>
        <p:spPr>
          <a:xfrm>
            <a:off x="6308725" y="4942115"/>
            <a:ext cx="0" cy="4489634"/>
          </a:xfrm>
          <a:prstGeom prst="line">
            <a:avLst/>
          </a:prstGeom>
          <a:ln cap="rnd" w="19050">
            <a:solidFill>
              <a:srgbClr val="89857F">
                <a:alpha val="32941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11934825" y="4942115"/>
            <a:ext cx="0" cy="4489634"/>
          </a:xfrm>
          <a:prstGeom prst="line">
            <a:avLst/>
          </a:prstGeom>
          <a:ln cap="rnd" w="19050">
            <a:solidFill>
              <a:srgbClr val="89857F">
                <a:alpha val="32941"/>
              </a:srgbClr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3938" y="0"/>
            <a:ext cx="20335875" cy="10287000"/>
            <a:chOff x="0" y="0"/>
            <a:chExt cx="271145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600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39850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6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651231" y="612360"/>
            <a:ext cx="271148" cy="286173"/>
          </a:xfrm>
          <a:custGeom>
            <a:avLst/>
            <a:gdLst/>
            <a:ahLst/>
            <a:cxnLst/>
            <a:rect r="r" b="b" t="t" l="l"/>
            <a:pathLst>
              <a:path h="286173" w="271148">
                <a:moveTo>
                  <a:pt x="0" y="0"/>
                </a:moveTo>
                <a:lnTo>
                  <a:pt x="271148" y="0"/>
                </a:lnTo>
                <a:lnTo>
                  <a:pt x="271148" y="286172"/>
                </a:lnTo>
                <a:lnTo>
                  <a:pt x="0" y="286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748364" y="621885"/>
            <a:ext cx="2791271" cy="231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b="true" sz="1600" spc="259">
                <a:solidFill>
                  <a:srgbClr val="15161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2026/09/08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4512338" y="616360"/>
            <a:ext cx="3124432" cy="456813"/>
            <a:chOff x="0" y="0"/>
            <a:chExt cx="822896" cy="12031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22896" cy="120313"/>
            </a:xfrm>
            <a:custGeom>
              <a:avLst/>
              <a:gdLst/>
              <a:ahLst/>
              <a:cxnLst/>
              <a:rect r="r" b="b" t="t" l="l"/>
              <a:pathLst>
                <a:path h="120313" w="822896">
                  <a:moveTo>
                    <a:pt x="60156" y="0"/>
                  </a:moveTo>
                  <a:lnTo>
                    <a:pt x="762739" y="0"/>
                  </a:lnTo>
                  <a:cubicBezTo>
                    <a:pt x="795963" y="0"/>
                    <a:pt x="822896" y="26933"/>
                    <a:pt x="822896" y="60156"/>
                  </a:cubicBezTo>
                  <a:lnTo>
                    <a:pt x="822896" y="60156"/>
                  </a:lnTo>
                  <a:cubicBezTo>
                    <a:pt x="822896" y="93380"/>
                    <a:pt x="795963" y="120313"/>
                    <a:pt x="762739" y="120313"/>
                  </a:cubicBezTo>
                  <a:lnTo>
                    <a:pt x="60156" y="120313"/>
                  </a:lnTo>
                  <a:cubicBezTo>
                    <a:pt x="26933" y="120313"/>
                    <a:pt x="0" y="93380"/>
                    <a:pt x="0" y="60156"/>
                  </a:cubicBezTo>
                  <a:lnTo>
                    <a:pt x="0" y="60156"/>
                  </a:lnTo>
                  <a:cubicBezTo>
                    <a:pt x="0" y="26933"/>
                    <a:pt x="26933" y="0"/>
                    <a:pt x="60156" y="0"/>
                  </a:cubicBezTo>
                  <a:close/>
                </a:path>
              </a:pathLst>
            </a:custGeom>
            <a:solidFill>
              <a:srgbClr val="15161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822896" cy="167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4760046" y="762851"/>
            <a:ext cx="2629015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sz="1200">
                <a:solidFill>
                  <a:srgbClr val="F3F4F3"/>
                </a:solidFill>
                <a:latin typeface="Poppins"/>
                <a:ea typeface="Poppins"/>
                <a:cs typeface="Poppins"/>
                <a:sym typeface="Poppins"/>
              </a:rPr>
              <a:t>https://github.com/Capstone-F5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8828114" y="2474279"/>
            <a:ext cx="631771" cy="635745"/>
          </a:xfrm>
          <a:custGeom>
            <a:avLst/>
            <a:gdLst/>
            <a:ahLst/>
            <a:cxnLst/>
            <a:rect r="r" b="b" t="t" l="l"/>
            <a:pathLst>
              <a:path h="635745" w="631771">
                <a:moveTo>
                  <a:pt x="0" y="0"/>
                </a:moveTo>
                <a:lnTo>
                  <a:pt x="631772" y="0"/>
                </a:lnTo>
                <a:lnTo>
                  <a:pt x="631772" y="635745"/>
                </a:lnTo>
                <a:lnTo>
                  <a:pt x="0" y="6357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498500" y="9133151"/>
            <a:ext cx="760800" cy="554433"/>
          </a:xfrm>
          <a:custGeom>
            <a:avLst/>
            <a:gdLst/>
            <a:ahLst/>
            <a:cxnLst/>
            <a:rect r="r" b="b" t="t" l="l"/>
            <a:pathLst>
              <a:path h="554433" w="760800">
                <a:moveTo>
                  <a:pt x="0" y="0"/>
                </a:moveTo>
                <a:lnTo>
                  <a:pt x="760800" y="0"/>
                </a:lnTo>
                <a:lnTo>
                  <a:pt x="760800" y="554433"/>
                </a:lnTo>
                <a:lnTo>
                  <a:pt x="0" y="5544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008246" y="2598104"/>
            <a:ext cx="9147698" cy="860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6500" b="true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AI 모델 구현 현황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08246" y="1986334"/>
            <a:ext cx="4023889" cy="303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2199" spc="204" b="true">
                <a:solidFill>
                  <a:srgbClr val="151615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AI Development Process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08246" y="3720223"/>
            <a:ext cx="4841291" cy="262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4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F5 팀의 베리어프리 키오스크 동작에 활용되는 AI 모델입니다.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005410" y="3458530"/>
            <a:ext cx="2277180" cy="2277180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1615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008246" y="6646455"/>
            <a:ext cx="2277180" cy="2277180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ACAC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006828" y="6646455"/>
            <a:ext cx="2277180" cy="2277180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FCFC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005410" y="6646455"/>
            <a:ext cx="2277180" cy="2277180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ACACA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003992" y="6646455"/>
            <a:ext cx="2277180" cy="2277180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FCFC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4002574" y="6646455"/>
            <a:ext cx="2277180" cy="2277180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ACACA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8215808" y="4115790"/>
            <a:ext cx="1856383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F3F4F3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F5</a:t>
            </a:r>
          </a:p>
          <a:p>
            <a:pPr algn="ctr" marL="0" indent="0" lvl="0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F3F4F3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키오스크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218645" y="6770280"/>
            <a:ext cx="1856383" cy="358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TTS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217226" y="6810974"/>
            <a:ext cx="1856383" cy="358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LLM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215577" y="7577083"/>
            <a:ext cx="1856383" cy="358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GPT-4o-mini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096435" y="7577083"/>
            <a:ext cx="2100803" cy="358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OpenAI Whisper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093633" y="7577083"/>
            <a:ext cx="2100803" cy="358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OpenAI TTS-1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928014" y="7400871"/>
            <a:ext cx="2429135" cy="966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Mediapipe</a:t>
            </a: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Scikit-Learn</a:t>
            </a:r>
          </a:p>
          <a:p>
            <a:pPr algn="ctr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MLP, 128-&gt;64-&gt;32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926596" y="7577083"/>
            <a:ext cx="2429135" cy="614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YOLO v8n</a:t>
            </a:r>
          </a:p>
          <a:p>
            <a:pPr algn="ctr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INT8 Quantization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215808" y="6810974"/>
            <a:ext cx="1856383" cy="358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TTS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216040" y="6810974"/>
            <a:ext cx="1856383" cy="358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Gesture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212972" y="6810974"/>
            <a:ext cx="1856383" cy="711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Object Detection</a:t>
            </a:r>
          </a:p>
        </p:txBody>
      </p:sp>
      <p:sp>
        <p:nvSpPr>
          <p:cNvPr name="Freeform 45" id="45"/>
          <p:cNvSpPr/>
          <p:nvPr/>
        </p:nvSpPr>
        <p:spPr>
          <a:xfrm>
            <a:off x="3146836" y="6189255"/>
            <a:ext cx="11994328" cy="457200"/>
          </a:xfrm>
          <a:custGeom>
            <a:avLst/>
            <a:gdLst/>
            <a:ahLst/>
            <a:cxnLst/>
            <a:rect r="r" b="b" t="t" l="l"/>
            <a:pathLst>
              <a:path h="457200" w="11994328">
                <a:moveTo>
                  <a:pt x="11994328" y="457201"/>
                </a:moveTo>
                <a:lnTo>
                  <a:pt x="11994328" y="228600"/>
                </a:lnTo>
                <a:cubicBezTo>
                  <a:pt x="11994328" y="102348"/>
                  <a:pt x="11891981" y="0"/>
                  <a:pt x="11765728" y="0"/>
                </a:cubicBezTo>
                <a:lnTo>
                  <a:pt x="228600" y="0"/>
                </a:lnTo>
                <a:cubicBezTo>
                  <a:pt x="167972" y="0"/>
                  <a:pt x="109826" y="24085"/>
                  <a:pt x="66956" y="66955"/>
                </a:cubicBezTo>
                <a:cubicBezTo>
                  <a:pt x="24085" y="109826"/>
                  <a:pt x="0" y="167972"/>
                  <a:pt x="0" y="228600"/>
                </a:cubicBezTo>
                <a:lnTo>
                  <a:pt x="0" y="457201"/>
                </a:lnTo>
              </a:path>
            </a:pathLst>
          </a:custGeom>
          <a:ln cap="rnd" w="38100">
            <a:solidFill>
              <a:srgbClr val="151615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46" id="46"/>
          <p:cNvSpPr/>
          <p:nvPr/>
        </p:nvSpPr>
        <p:spPr>
          <a:xfrm>
            <a:off x="6145418" y="5735710"/>
            <a:ext cx="2998582" cy="910745"/>
          </a:xfrm>
          <a:custGeom>
            <a:avLst/>
            <a:gdLst/>
            <a:ahLst/>
            <a:cxnLst/>
            <a:rect r="r" b="b" t="t" l="l"/>
            <a:pathLst>
              <a:path h="910745" w="2998582">
                <a:moveTo>
                  <a:pt x="2998582" y="0"/>
                </a:moveTo>
                <a:lnTo>
                  <a:pt x="2998582" y="226773"/>
                </a:lnTo>
                <a:cubicBezTo>
                  <a:pt x="2998582" y="286917"/>
                  <a:pt x="2974690" y="344597"/>
                  <a:pt x="2932162" y="387125"/>
                </a:cubicBezTo>
                <a:cubicBezTo>
                  <a:pt x="2889634" y="429653"/>
                  <a:pt x="2831953" y="453545"/>
                  <a:pt x="2771810" y="453545"/>
                </a:cubicBezTo>
                <a:lnTo>
                  <a:pt x="228600" y="453545"/>
                </a:lnTo>
                <a:cubicBezTo>
                  <a:pt x="167971" y="453545"/>
                  <a:pt x="109826" y="477630"/>
                  <a:pt x="66955" y="520500"/>
                </a:cubicBezTo>
                <a:cubicBezTo>
                  <a:pt x="24084" y="563371"/>
                  <a:pt x="0" y="621517"/>
                  <a:pt x="0" y="682145"/>
                </a:cubicBezTo>
                <a:lnTo>
                  <a:pt x="0" y="910746"/>
                </a:lnTo>
              </a:path>
            </a:pathLst>
          </a:custGeom>
          <a:ln cap="rnd" w="38100">
            <a:solidFill>
              <a:srgbClr val="151615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47" id="47"/>
          <p:cNvSpPr/>
          <p:nvPr/>
        </p:nvSpPr>
        <p:spPr>
          <a:xfrm>
            <a:off x="9144000" y="6191083"/>
            <a:ext cx="0" cy="455373"/>
          </a:xfrm>
          <a:custGeom>
            <a:avLst/>
            <a:gdLst/>
            <a:ahLst/>
            <a:cxnLst/>
            <a:rect r="r" b="b" t="t" l="l"/>
            <a:pathLst>
              <a:path h="455373" w="0">
                <a:moveTo>
                  <a:pt x="0" y="0"/>
                </a:moveTo>
                <a:lnTo>
                  <a:pt x="0" y="455373"/>
                </a:lnTo>
              </a:path>
            </a:pathLst>
          </a:custGeom>
          <a:ln cap="rnd" w="38100">
            <a:solidFill>
              <a:srgbClr val="151615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48" id="48"/>
          <p:cNvSpPr/>
          <p:nvPr/>
        </p:nvSpPr>
        <p:spPr>
          <a:xfrm>
            <a:off x="9144000" y="5735710"/>
            <a:ext cx="2998582" cy="910745"/>
          </a:xfrm>
          <a:custGeom>
            <a:avLst/>
            <a:gdLst/>
            <a:ahLst/>
            <a:cxnLst/>
            <a:rect r="r" b="b" t="t" l="l"/>
            <a:pathLst>
              <a:path h="910745" w="2998582">
                <a:moveTo>
                  <a:pt x="0" y="0"/>
                </a:moveTo>
                <a:lnTo>
                  <a:pt x="0" y="226773"/>
                </a:lnTo>
                <a:cubicBezTo>
                  <a:pt x="0" y="286917"/>
                  <a:pt x="23892" y="344597"/>
                  <a:pt x="66420" y="387125"/>
                </a:cubicBezTo>
                <a:cubicBezTo>
                  <a:pt x="108948" y="429653"/>
                  <a:pt x="166629" y="453545"/>
                  <a:pt x="226772" y="453545"/>
                </a:cubicBezTo>
                <a:lnTo>
                  <a:pt x="2769982" y="453545"/>
                </a:lnTo>
                <a:cubicBezTo>
                  <a:pt x="2830611" y="453545"/>
                  <a:pt x="2888756" y="477630"/>
                  <a:pt x="2931626" y="520500"/>
                </a:cubicBezTo>
                <a:cubicBezTo>
                  <a:pt x="2974498" y="563371"/>
                  <a:pt x="2998582" y="621517"/>
                  <a:pt x="2998582" y="682145"/>
                </a:cubicBezTo>
                <a:lnTo>
                  <a:pt x="2998582" y="910746"/>
                </a:lnTo>
              </a:path>
            </a:pathLst>
          </a:custGeom>
          <a:ln cap="rnd" w="38100">
            <a:solidFill>
              <a:srgbClr val="151615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49" id="49"/>
          <p:cNvSpPr/>
          <p:nvPr/>
        </p:nvSpPr>
        <p:spPr>
          <a:xfrm>
            <a:off x="9144000" y="5735710"/>
            <a:ext cx="5997164" cy="910745"/>
          </a:xfrm>
          <a:custGeom>
            <a:avLst/>
            <a:gdLst/>
            <a:ahLst/>
            <a:cxnLst/>
            <a:rect r="r" b="b" t="t" l="l"/>
            <a:pathLst>
              <a:path h="910745" w="5997164">
                <a:moveTo>
                  <a:pt x="0" y="0"/>
                </a:moveTo>
                <a:lnTo>
                  <a:pt x="0" y="226773"/>
                </a:lnTo>
                <a:cubicBezTo>
                  <a:pt x="0" y="286917"/>
                  <a:pt x="23892" y="344597"/>
                  <a:pt x="66420" y="387125"/>
                </a:cubicBezTo>
                <a:cubicBezTo>
                  <a:pt x="108948" y="429653"/>
                  <a:pt x="166629" y="453545"/>
                  <a:pt x="226772" y="453545"/>
                </a:cubicBezTo>
                <a:lnTo>
                  <a:pt x="5768564" y="453545"/>
                </a:lnTo>
                <a:cubicBezTo>
                  <a:pt x="5829193" y="453545"/>
                  <a:pt x="5887338" y="477630"/>
                  <a:pt x="5930209" y="520500"/>
                </a:cubicBezTo>
                <a:cubicBezTo>
                  <a:pt x="5973080" y="563371"/>
                  <a:pt x="5997164" y="621517"/>
                  <a:pt x="5997164" y="682145"/>
                </a:cubicBezTo>
                <a:lnTo>
                  <a:pt x="5997164" y="910746"/>
                </a:lnTo>
              </a:path>
            </a:pathLst>
          </a:custGeom>
          <a:ln cap="rnd" w="38100">
            <a:solidFill>
              <a:srgbClr val="151615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50" id="50"/>
          <p:cNvSpPr txBox="true"/>
          <p:nvPr/>
        </p:nvSpPr>
        <p:spPr>
          <a:xfrm rot="0">
            <a:off x="1028700" y="686443"/>
            <a:ext cx="2871173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1599"/>
              </a:lnSpc>
              <a:buAutoNum type="arabicPeriod" startAt="1"/>
            </a:pPr>
            <a:r>
              <a:rPr lang="en-US" sz="1599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AI 모델 및 데이터 개발 현황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3938" y="0"/>
            <a:ext cx="20335875" cy="10287000"/>
            <a:chOff x="0" y="0"/>
            <a:chExt cx="271145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600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39850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6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495069" y="4022840"/>
            <a:ext cx="19278139" cy="6784660"/>
            <a:chOff x="0" y="0"/>
            <a:chExt cx="5077370" cy="17869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77370" cy="1786906"/>
            </a:xfrm>
            <a:custGeom>
              <a:avLst/>
              <a:gdLst/>
              <a:ahLst/>
              <a:cxnLst/>
              <a:rect r="r" b="b" t="t" l="l"/>
              <a:pathLst>
                <a:path h="1786906" w="5077370">
                  <a:moveTo>
                    <a:pt x="16064" y="0"/>
                  </a:moveTo>
                  <a:lnTo>
                    <a:pt x="5061306" y="0"/>
                  </a:lnTo>
                  <a:cubicBezTo>
                    <a:pt x="5070178" y="0"/>
                    <a:pt x="5077370" y="7192"/>
                    <a:pt x="5077370" y="16064"/>
                  </a:cubicBezTo>
                  <a:lnTo>
                    <a:pt x="5077370" y="1770843"/>
                  </a:lnTo>
                  <a:cubicBezTo>
                    <a:pt x="5077370" y="1779714"/>
                    <a:pt x="5070178" y="1786906"/>
                    <a:pt x="5061306" y="1786906"/>
                  </a:cubicBezTo>
                  <a:lnTo>
                    <a:pt x="16064" y="1786906"/>
                  </a:lnTo>
                  <a:cubicBezTo>
                    <a:pt x="7192" y="1786906"/>
                    <a:pt x="0" y="1779714"/>
                    <a:pt x="0" y="1770843"/>
                  </a:cubicBezTo>
                  <a:lnTo>
                    <a:pt x="0" y="16064"/>
                  </a:lnTo>
                  <a:cubicBezTo>
                    <a:pt x="0" y="7192"/>
                    <a:pt x="7192" y="0"/>
                    <a:pt x="16064" y="0"/>
                  </a:cubicBezTo>
                  <a:close/>
                </a:path>
              </a:pathLst>
            </a:custGeom>
            <a:solidFill>
              <a:srgbClr val="FCFCFC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66675"/>
              <a:ext cx="5077370" cy="17202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494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51231" y="612360"/>
            <a:ext cx="271148" cy="286173"/>
          </a:xfrm>
          <a:custGeom>
            <a:avLst/>
            <a:gdLst/>
            <a:ahLst/>
            <a:cxnLst/>
            <a:rect r="r" b="b" t="t" l="l"/>
            <a:pathLst>
              <a:path h="286173" w="271148">
                <a:moveTo>
                  <a:pt x="0" y="0"/>
                </a:moveTo>
                <a:lnTo>
                  <a:pt x="271148" y="0"/>
                </a:lnTo>
                <a:lnTo>
                  <a:pt x="271148" y="286172"/>
                </a:lnTo>
                <a:lnTo>
                  <a:pt x="0" y="286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4512338" y="616360"/>
            <a:ext cx="3124432" cy="456813"/>
            <a:chOff x="0" y="0"/>
            <a:chExt cx="822896" cy="12031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22896" cy="120313"/>
            </a:xfrm>
            <a:custGeom>
              <a:avLst/>
              <a:gdLst/>
              <a:ahLst/>
              <a:cxnLst/>
              <a:rect r="r" b="b" t="t" l="l"/>
              <a:pathLst>
                <a:path h="120313" w="822896">
                  <a:moveTo>
                    <a:pt x="60156" y="0"/>
                  </a:moveTo>
                  <a:lnTo>
                    <a:pt x="762739" y="0"/>
                  </a:lnTo>
                  <a:cubicBezTo>
                    <a:pt x="795963" y="0"/>
                    <a:pt x="822896" y="26933"/>
                    <a:pt x="822896" y="60156"/>
                  </a:cubicBezTo>
                  <a:lnTo>
                    <a:pt x="822896" y="60156"/>
                  </a:lnTo>
                  <a:cubicBezTo>
                    <a:pt x="822896" y="93380"/>
                    <a:pt x="795963" y="120313"/>
                    <a:pt x="762739" y="120313"/>
                  </a:cubicBezTo>
                  <a:lnTo>
                    <a:pt x="60156" y="120313"/>
                  </a:lnTo>
                  <a:cubicBezTo>
                    <a:pt x="26933" y="120313"/>
                    <a:pt x="0" y="93380"/>
                    <a:pt x="0" y="60156"/>
                  </a:cubicBezTo>
                  <a:lnTo>
                    <a:pt x="0" y="60156"/>
                  </a:lnTo>
                  <a:cubicBezTo>
                    <a:pt x="0" y="26933"/>
                    <a:pt x="26933" y="0"/>
                    <a:pt x="60156" y="0"/>
                  </a:cubicBezTo>
                  <a:close/>
                </a:path>
              </a:pathLst>
            </a:custGeom>
            <a:solidFill>
              <a:srgbClr val="15161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822896" cy="167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6498500" y="9133151"/>
            <a:ext cx="760800" cy="554433"/>
          </a:xfrm>
          <a:custGeom>
            <a:avLst/>
            <a:gdLst/>
            <a:ahLst/>
            <a:cxnLst/>
            <a:rect r="r" b="b" t="t" l="l"/>
            <a:pathLst>
              <a:path h="554433" w="760800">
                <a:moveTo>
                  <a:pt x="0" y="0"/>
                </a:moveTo>
                <a:lnTo>
                  <a:pt x="760800" y="0"/>
                </a:lnTo>
                <a:lnTo>
                  <a:pt x="760800" y="554433"/>
                </a:lnTo>
                <a:lnTo>
                  <a:pt x="0" y="5544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832515" y="3704968"/>
            <a:ext cx="631771" cy="635745"/>
          </a:xfrm>
          <a:custGeom>
            <a:avLst/>
            <a:gdLst/>
            <a:ahLst/>
            <a:cxnLst/>
            <a:rect r="r" b="b" t="t" l="l"/>
            <a:pathLst>
              <a:path h="635745" w="631771">
                <a:moveTo>
                  <a:pt x="0" y="0"/>
                </a:moveTo>
                <a:lnTo>
                  <a:pt x="631771" y="0"/>
                </a:lnTo>
                <a:lnTo>
                  <a:pt x="631771" y="635744"/>
                </a:lnTo>
                <a:lnTo>
                  <a:pt x="0" y="6357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9017744" y="5588952"/>
            <a:ext cx="451805" cy="451805"/>
          </a:xfrm>
          <a:custGeom>
            <a:avLst/>
            <a:gdLst/>
            <a:ahLst/>
            <a:cxnLst/>
            <a:rect r="r" b="b" t="t" l="l"/>
            <a:pathLst>
              <a:path h="451805" w="451805">
                <a:moveTo>
                  <a:pt x="451804" y="0"/>
                </a:moveTo>
                <a:lnTo>
                  <a:pt x="0" y="0"/>
                </a:lnTo>
                <a:lnTo>
                  <a:pt x="0" y="451805"/>
                </a:lnTo>
                <a:lnTo>
                  <a:pt x="451804" y="451805"/>
                </a:lnTo>
                <a:lnTo>
                  <a:pt x="451804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0">
            <a:off x="9017744" y="8573895"/>
            <a:ext cx="451805" cy="451805"/>
          </a:xfrm>
          <a:custGeom>
            <a:avLst/>
            <a:gdLst/>
            <a:ahLst/>
            <a:cxnLst/>
            <a:rect r="r" b="b" t="t" l="l"/>
            <a:pathLst>
              <a:path h="451805" w="451805">
                <a:moveTo>
                  <a:pt x="451804" y="0"/>
                </a:moveTo>
                <a:lnTo>
                  <a:pt x="0" y="0"/>
                </a:lnTo>
                <a:lnTo>
                  <a:pt x="0" y="451805"/>
                </a:lnTo>
                <a:lnTo>
                  <a:pt x="451804" y="451805"/>
                </a:lnTo>
                <a:lnTo>
                  <a:pt x="451804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008246" y="2569529"/>
            <a:ext cx="9147698" cy="751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 b="true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모델 성능 평가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08246" y="1967284"/>
            <a:ext cx="4023889" cy="288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spc="186" b="true">
                <a:solidFill>
                  <a:srgbClr val="15161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 Performance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899873" y="4334534"/>
            <a:ext cx="6286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true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사용한 평가 지표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899873" y="7563509"/>
            <a:ext cx="6286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true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현재 성능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748348" y="4334534"/>
            <a:ext cx="73342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true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LLM 테스트 시나리오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3899873" y="4686959"/>
            <a:ext cx="6286500" cy="781050"/>
            <a:chOff x="0" y="0"/>
            <a:chExt cx="8382000" cy="1041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3820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8382000">
                  <a:moveTo>
                    <a:pt x="203200" y="0"/>
                  </a:moveTo>
                  <a:lnTo>
                    <a:pt x="8178800" y="0"/>
                  </a:lnTo>
                  <a:cubicBezTo>
                    <a:pt x="8291024" y="0"/>
                    <a:pt x="8382000" y="90976"/>
                    <a:pt x="8382000" y="203200"/>
                  </a:cubicBezTo>
                  <a:lnTo>
                    <a:pt x="8382000" y="838200"/>
                  </a:lnTo>
                  <a:cubicBezTo>
                    <a:pt x="8382000" y="950424"/>
                    <a:pt x="8291024" y="1041400"/>
                    <a:pt x="8178800" y="1041400"/>
                  </a:cubicBezTo>
                  <a:lnTo>
                    <a:pt x="203200" y="1041400"/>
                  </a:lnTo>
                  <a:cubicBezTo>
                    <a:pt x="90976" y="1041400"/>
                    <a:pt x="0" y="950424"/>
                    <a:pt x="0" y="8382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3F4F3"/>
            </a:solidFill>
            <a:ln w="9525" cap="sq">
              <a:solidFill>
                <a:srgbClr val="CACACA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8382000" cy="1069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4109423" y="4881269"/>
            <a:ext cx="200025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제스처 MLP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233498" y="4869204"/>
            <a:ext cx="3714750" cy="713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25"/>
              </a:lnSpc>
              <a:spcBef>
                <a:spcPct val="0"/>
              </a:spcBef>
            </a:pPr>
            <a:r>
              <a:rPr lang="en-US" sz="1700" strike="noStrike" u="none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분류 리포트, </a:t>
            </a:r>
            <a:r>
              <a:rPr lang="en-US" sz="1700" strike="noStrike" u="none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혼동행렬</a:t>
            </a:r>
          </a:p>
          <a:p>
            <a:pPr algn="l" marL="0" indent="0" lvl="0">
              <a:lnSpc>
                <a:spcPts val="1375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(Precision/Recall/F1-score)</a:t>
            </a:r>
          </a:p>
          <a:p>
            <a:pPr algn="l" marL="0" indent="0" lvl="0">
              <a:lnSpc>
                <a:spcPts val="2125"/>
              </a:lnSpc>
              <a:spcBef>
                <a:spcPct val="0"/>
              </a:spcBef>
            </a:pPr>
          </a:p>
        </p:txBody>
      </p:sp>
      <p:grpSp>
        <p:nvGrpSpPr>
          <p:cNvPr name="Group 26" id="26"/>
          <p:cNvGrpSpPr/>
          <p:nvPr/>
        </p:nvGrpSpPr>
        <p:grpSpPr>
          <a:xfrm rot="0">
            <a:off x="3899873" y="5582309"/>
            <a:ext cx="6286500" cy="781050"/>
            <a:chOff x="0" y="0"/>
            <a:chExt cx="8382000" cy="1041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3820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8382000">
                  <a:moveTo>
                    <a:pt x="203200" y="0"/>
                  </a:moveTo>
                  <a:lnTo>
                    <a:pt x="8178800" y="0"/>
                  </a:lnTo>
                  <a:cubicBezTo>
                    <a:pt x="8291024" y="0"/>
                    <a:pt x="8382000" y="90976"/>
                    <a:pt x="8382000" y="203200"/>
                  </a:cubicBezTo>
                  <a:lnTo>
                    <a:pt x="8382000" y="838200"/>
                  </a:lnTo>
                  <a:cubicBezTo>
                    <a:pt x="8382000" y="950424"/>
                    <a:pt x="8291024" y="1041400"/>
                    <a:pt x="8178800" y="1041400"/>
                  </a:cubicBezTo>
                  <a:lnTo>
                    <a:pt x="203200" y="1041400"/>
                  </a:lnTo>
                  <a:cubicBezTo>
                    <a:pt x="90976" y="1041400"/>
                    <a:pt x="0" y="950424"/>
                    <a:pt x="0" y="8382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3F4F3"/>
            </a:solidFill>
            <a:ln w="9525" cap="sq">
              <a:solidFill>
                <a:srgbClr val="CACACA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8382000" cy="1069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4137998" y="5767229"/>
            <a:ext cx="200025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LLM 에이전트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233498" y="5825831"/>
            <a:ext cx="3714750" cy="274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25"/>
              </a:lnSpc>
              <a:spcBef>
                <a:spcPct val="0"/>
              </a:spcBef>
            </a:pPr>
            <a:r>
              <a:rPr lang="en-US" sz="17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테스트 시나리오 통과 여부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3899873" y="6477659"/>
            <a:ext cx="6286500" cy="781050"/>
            <a:chOff x="0" y="0"/>
            <a:chExt cx="8382000" cy="1041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3820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8382000">
                  <a:moveTo>
                    <a:pt x="203200" y="0"/>
                  </a:moveTo>
                  <a:lnTo>
                    <a:pt x="8178800" y="0"/>
                  </a:lnTo>
                  <a:cubicBezTo>
                    <a:pt x="8291024" y="0"/>
                    <a:pt x="8382000" y="90976"/>
                    <a:pt x="8382000" y="203200"/>
                  </a:cubicBezTo>
                  <a:lnTo>
                    <a:pt x="8382000" y="838200"/>
                  </a:lnTo>
                  <a:cubicBezTo>
                    <a:pt x="8382000" y="950424"/>
                    <a:pt x="8291024" y="1041400"/>
                    <a:pt x="8178800" y="1041400"/>
                  </a:cubicBezTo>
                  <a:lnTo>
                    <a:pt x="203200" y="1041400"/>
                  </a:lnTo>
                  <a:cubicBezTo>
                    <a:pt x="90976" y="1041400"/>
                    <a:pt x="0" y="950424"/>
                    <a:pt x="0" y="8382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3F4F3"/>
            </a:solidFill>
            <a:ln w="9525" cap="sq">
              <a:solidFill>
                <a:srgbClr val="CACACA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8382000" cy="1069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4109423" y="6684986"/>
            <a:ext cx="2425866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YOLO 모델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233498" y="6721181"/>
            <a:ext cx="3714750" cy="274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25"/>
              </a:lnSpc>
              <a:spcBef>
                <a:spcPct val="0"/>
              </a:spcBef>
            </a:pPr>
            <a:r>
              <a:rPr lang="en-US" sz="1700" strike="noStrike" u="none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신뢰도 분포</a:t>
            </a:r>
            <a:r>
              <a:rPr lang="en-US" sz="1700" strike="noStrike" u="none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, mAP@0.5 IoU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3899873" y="7896884"/>
            <a:ext cx="6286500" cy="552450"/>
            <a:chOff x="0" y="0"/>
            <a:chExt cx="8382000" cy="7366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382000" cy="736600"/>
            </a:xfrm>
            <a:custGeom>
              <a:avLst/>
              <a:gdLst/>
              <a:ahLst/>
              <a:cxnLst/>
              <a:rect r="r" b="b" t="t" l="l"/>
              <a:pathLst>
                <a:path h="736600" w="8382000">
                  <a:moveTo>
                    <a:pt x="177800" y="0"/>
                  </a:moveTo>
                  <a:lnTo>
                    <a:pt x="8204200" y="0"/>
                  </a:lnTo>
                  <a:cubicBezTo>
                    <a:pt x="8302396" y="0"/>
                    <a:pt x="8382000" y="79604"/>
                    <a:pt x="8382000" y="177800"/>
                  </a:cubicBezTo>
                  <a:lnTo>
                    <a:pt x="8382000" y="558800"/>
                  </a:lnTo>
                  <a:cubicBezTo>
                    <a:pt x="8382000" y="656996"/>
                    <a:pt x="8302396" y="736600"/>
                    <a:pt x="8204200" y="736600"/>
                  </a:cubicBezTo>
                  <a:lnTo>
                    <a:pt x="177800" y="736600"/>
                  </a:lnTo>
                  <a:cubicBezTo>
                    <a:pt x="79604" y="736600"/>
                    <a:pt x="0" y="656996"/>
                    <a:pt x="0" y="5588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FCFCFC"/>
            </a:solidFill>
            <a:ln w="9525" cap="sq">
              <a:solidFill>
                <a:srgbClr val="CACACA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8382000" cy="765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3978501" y="7948128"/>
            <a:ext cx="895350" cy="449961"/>
            <a:chOff x="0" y="0"/>
            <a:chExt cx="812800" cy="40847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408475"/>
            </a:xfrm>
            <a:custGeom>
              <a:avLst/>
              <a:gdLst/>
              <a:ahLst/>
              <a:cxnLst/>
              <a:rect r="r" b="b" t="t" l="l"/>
              <a:pathLst>
                <a:path h="408475" w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281475"/>
                  </a:lnTo>
                  <a:cubicBezTo>
                    <a:pt x="812800" y="315158"/>
                    <a:pt x="799420" y="347461"/>
                    <a:pt x="775603" y="371278"/>
                  </a:cubicBezTo>
                  <a:cubicBezTo>
                    <a:pt x="751785" y="395095"/>
                    <a:pt x="719482" y="408475"/>
                    <a:pt x="685800" y="408475"/>
                  </a:cubicBezTo>
                  <a:lnTo>
                    <a:pt x="127000" y="408475"/>
                  </a:lnTo>
                  <a:cubicBezTo>
                    <a:pt x="56860" y="408475"/>
                    <a:pt x="0" y="351615"/>
                    <a:pt x="0" y="281475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E0B52F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812800" cy="437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151615"/>
                  </a:solidFill>
                  <a:latin typeface="네모고딕 Medium"/>
                  <a:ea typeface="네모고딕 Medium"/>
                  <a:cs typeface="네모고딕 Medium"/>
                  <a:sym typeface="네모고딕 Medium"/>
                </a:rPr>
                <a:t>LLM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5109548" y="8038489"/>
            <a:ext cx="4810125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7종 시나리오 자동화 테스트 통과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3899873" y="8516009"/>
            <a:ext cx="6286500" cy="552450"/>
            <a:chOff x="0" y="0"/>
            <a:chExt cx="8382000" cy="7366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382000" cy="736600"/>
            </a:xfrm>
            <a:custGeom>
              <a:avLst/>
              <a:gdLst/>
              <a:ahLst/>
              <a:cxnLst/>
              <a:rect r="r" b="b" t="t" l="l"/>
              <a:pathLst>
                <a:path h="736600" w="8382000">
                  <a:moveTo>
                    <a:pt x="177800" y="0"/>
                  </a:moveTo>
                  <a:lnTo>
                    <a:pt x="8204200" y="0"/>
                  </a:lnTo>
                  <a:cubicBezTo>
                    <a:pt x="8302396" y="0"/>
                    <a:pt x="8382000" y="79604"/>
                    <a:pt x="8382000" y="177800"/>
                  </a:cubicBezTo>
                  <a:lnTo>
                    <a:pt x="8382000" y="558800"/>
                  </a:lnTo>
                  <a:cubicBezTo>
                    <a:pt x="8382000" y="656996"/>
                    <a:pt x="8302396" y="736600"/>
                    <a:pt x="8204200" y="736600"/>
                  </a:cubicBezTo>
                  <a:lnTo>
                    <a:pt x="177800" y="736600"/>
                  </a:lnTo>
                  <a:cubicBezTo>
                    <a:pt x="79604" y="736600"/>
                    <a:pt x="0" y="656996"/>
                    <a:pt x="0" y="5588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FCFCFC"/>
            </a:solidFill>
            <a:ln w="9525" cap="sq">
              <a:solidFill>
                <a:srgbClr val="CACACA"/>
              </a:solidFill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8382000" cy="765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3978501" y="8563634"/>
            <a:ext cx="895350" cy="449961"/>
            <a:chOff x="0" y="0"/>
            <a:chExt cx="812800" cy="40847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12800" cy="408475"/>
            </a:xfrm>
            <a:custGeom>
              <a:avLst/>
              <a:gdLst/>
              <a:ahLst/>
              <a:cxnLst/>
              <a:rect r="r" b="b" t="t" l="l"/>
              <a:pathLst>
                <a:path h="408475" w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281475"/>
                  </a:lnTo>
                  <a:cubicBezTo>
                    <a:pt x="812800" y="315158"/>
                    <a:pt x="799420" y="347461"/>
                    <a:pt x="775603" y="371278"/>
                  </a:cubicBezTo>
                  <a:cubicBezTo>
                    <a:pt x="751785" y="395095"/>
                    <a:pt x="719482" y="408475"/>
                    <a:pt x="685800" y="408475"/>
                  </a:cubicBezTo>
                  <a:lnTo>
                    <a:pt x="127000" y="408475"/>
                  </a:lnTo>
                  <a:cubicBezTo>
                    <a:pt x="56860" y="408475"/>
                    <a:pt x="0" y="351615"/>
                    <a:pt x="0" y="281475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E0B52F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28575"/>
              <a:ext cx="812800" cy="437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151615"/>
                  </a:solidFill>
                  <a:latin typeface="네모고딕 Medium"/>
                  <a:ea typeface="네모고딕 Medium"/>
                  <a:cs typeface="네모고딕 Medium"/>
                  <a:sym typeface="네모고딕 Medium"/>
                </a:rPr>
                <a:t>제스처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5109548" y="8657614"/>
            <a:ext cx="4810125" cy="240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true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정적 제스처 정확도: 92.7% | 동적 제스처 정확도: 91%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3899873" y="9135134"/>
            <a:ext cx="6286500" cy="552450"/>
            <a:chOff x="0" y="0"/>
            <a:chExt cx="8382000" cy="7366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382000" cy="736600"/>
            </a:xfrm>
            <a:custGeom>
              <a:avLst/>
              <a:gdLst/>
              <a:ahLst/>
              <a:cxnLst/>
              <a:rect r="r" b="b" t="t" l="l"/>
              <a:pathLst>
                <a:path h="736600" w="8382000">
                  <a:moveTo>
                    <a:pt x="177800" y="0"/>
                  </a:moveTo>
                  <a:lnTo>
                    <a:pt x="8204200" y="0"/>
                  </a:lnTo>
                  <a:cubicBezTo>
                    <a:pt x="8302396" y="0"/>
                    <a:pt x="8382000" y="79604"/>
                    <a:pt x="8382000" y="177800"/>
                  </a:cubicBezTo>
                  <a:lnTo>
                    <a:pt x="8382000" y="558800"/>
                  </a:lnTo>
                  <a:cubicBezTo>
                    <a:pt x="8382000" y="656996"/>
                    <a:pt x="8302396" y="736600"/>
                    <a:pt x="8204200" y="736600"/>
                  </a:cubicBezTo>
                  <a:lnTo>
                    <a:pt x="177800" y="736600"/>
                  </a:lnTo>
                  <a:cubicBezTo>
                    <a:pt x="79604" y="736600"/>
                    <a:pt x="0" y="656996"/>
                    <a:pt x="0" y="5588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FCFCFC"/>
            </a:solidFill>
            <a:ln w="9525" cap="sq">
              <a:solidFill>
                <a:srgbClr val="CACACA"/>
              </a:solidFill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8382000" cy="765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3978501" y="9166788"/>
            <a:ext cx="895350" cy="472631"/>
            <a:chOff x="0" y="0"/>
            <a:chExt cx="812800" cy="42905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12800" cy="429055"/>
            </a:xfrm>
            <a:custGeom>
              <a:avLst/>
              <a:gdLst/>
              <a:ahLst/>
              <a:cxnLst/>
              <a:rect r="r" b="b" t="t" l="l"/>
              <a:pathLst>
                <a:path h="429055" w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302055"/>
                  </a:lnTo>
                  <a:cubicBezTo>
                    <a:pt x="812800" y="335737"/>
                    <a:pt x="799420" y="368040"/>
                    <a:pt x="775603" y="391857"/>
                  </a:cubicBezTo>
                  <a:cubicBezTo>
                    <a:pt x="751785" y="415674"/>
                    <a:pt x="719482" y="429055"/>
                    <a:pt x="685800" y="429055"/>
                  </a:cubicBezTo>
                  <a:lnTo>
                    <a:pt x="127000" y="429055"/>
                  </a:lnTo>
                  <a:cubicBezTo>
                    <a:pt x="56860" y="429055"/>
                    <a:pt x="0" y="372195"/>
                    <a:pt x="0" y="302055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E0B52F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812800" cy="4576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151615"/>
                  </a:solidFill>
                  <a:latin typeface="네모고딕 Medium"/>
                  <a:ea typeface="네모고딕 Medium"/>
                  <a:cs typeface="네모고딕 Medium"/>
                  <a:sym typeface="네모고딕 Medium"/>
                </a:rPr>
                <a:t>YOLO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5109548" y="9268484"/>
            <a:ext cx="4810125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mAP50 97.4% , mAP90-50 79.3% 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10748348" y="4686959"/>
            <a:ext cx="3946354" cy="311307"/>
            <a:chOff x="0" y="0"/>
            <a:chExt cx="812800" cy="6411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12800" cy="64118"/>
            </a:xfrm>
            <a:custGeom>
              <a:avLst/>
              <a:gdLst/>
              <a:ahLst/>
              <a:cxnLst/>
              <a:rect r="r" b="b" t="t" l="l"/>
              <a:pathLst>
                <a:path h="64118" w="812800">
                  <a:moveTo>
                    <a:pt x="32059" y="0"/>
                  </a:moveTo>
                  <a:lnTo>
                    <a:pt x="780741" y="0"/>
                  </a:lnTo>
                  <a:cubicBezTo>
                    <a:pt x="789244" y="0"/>
                    <a:pt x="797398" y="3378"/>
                    <a:pt x="803410" y="9390"/>
                  </a:cubicBezTo>
                  <a:cubicBezTo>
                    <a:pt x="809422" y="15402"/>
                    <a:pt x="812800" y="23556"/>
                    <a:pt x="812800" y="32059"/>
                  </a:cubicBezTo>
                  <a:lnTo>
                    <a:pt x="812800" y="32059"/>
                  </a:lnTo>
                  <a:cubicBezTo>
                    <a:pt x="812800" y="40561"/>
                    <a:pt x="809422" y="48716"/>
                    <a:pt x="803410" y="54728"/>
                  </a:cubicBezTo>
                  <a:cubicBezTo>
                    <a:pt x="797398" y="60740"/>
                    <a:pt x="789244" y="64118"/>
                    <a:pt x="780741" y="64118"/>
                  </a:cubicBezTo>
                  <a:lnTo>
                    <a:pt x="32059" y="64118"/>
                  </a:lnTo>
                  <a:cubicBezTo>
                    <a:pt x="23556" y="64118"/>
                    <a:pt x="15402" y="60740"/>
                    <a:pt x="9390" y="54728"/>
                  </a:cubicBezTo>
                  <a:cubicBezTo>
                    <a:pt x="3378" y="48716"/>
                    <a:pt x="0" y="40561"/>
                    <a:pt x="0" y="32059"/>
                  </a:cubicBezTo>
                  <a:lnTo>
                    <a:pt x="0" y="32059"/>
                  </a:lnTo>
                  <a:cubicBezTo>
                    <a:pt x="0" y="23556"/>
                    <a:pt x="3378" y="15402"/>
                    <a:pt x="9390" y="9390"/>
                  </a:cubicBezTo>
                  <a:cubicBezTo>
                    <a:pt x="15402" y="3378"/>
                    <a:pt x="23556" y="0"/>
                    <a:pt x="32059" y="0"/>
                  </a:cubicBezTo>
                  <a:close/>
                </a:path>
              </a:pathLst>
            </a:custGeom>
            <a:solidFill>
              <a:srgbClr val="151615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28575"/>
              <a:ext cx="812800" cy="92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10891223" y="4725059"/>
            <a:ext cx="1384984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pc="42" strike="noStrike" u="none">
                <a:solidFill>
                  <a:srgbClr val="FCFCFC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번호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10748348" y="5053941"/>
            <a:ext cx="7144928" cy="3959654"/>
            <a:chOff x="0" y="0"/>
            <a:chExt cx="9526570" cy="5279538"/>
          </a:xfrm>
        </p:grpSpPr>
        <p:grpSp>
          <p:nvGrpSpPr>
            <p:cNvPr name="Group 62" id="62"/>
            <p:cNvGrpSpPr/>
            <p:nvPr/>
          </p:nvGrpSpPr>
          <p:grpSpPr>
            <a:xfrm rot="0">
              <a:off x="785" y="0"/>
              <a:ext cx="5261806" cy="675382"/>
              <a:chOff x="0" y="0"/>
              <a:chExt cx="812800" cy="104327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812800" cy="104327"/>
              </a:xfrm>
              <a:custGeom>
                <a:avLst/>
                <a:gdLst/>
                <a:ahLst/>
                <a:cxnLst/>
                <a:rect r="r" b="b" t="t" l="l"/>
                <a:pathLst>
                  <a:path h="104327" w="812800">
                    <a:moveTo>
                      <a:pt x="37274" y="0"/>
                    </a:moveTo>
                    <a:lnTo>
                      <a:pt x="775526" y="0"/>
                    </a:lnTo>
                    <a:cubicBezTo>
                      <a:pt x="785412" y="0"/>
                      <a:pt x="794892" y="3927"/>
                      <a:pt x="801883" y="10917"/>
                    </a:cubicBezTo>
                    <a:cubicBezTo>
                      <a:pt x="808873" y="17908"/>
                      <a:pt x="812800" y="27388"/>
                      <a:pt x="812800" y="37274"/>
                    </a:cubicBezTo>
                    <a:lnTo>
                      <a:pt x="812800" y="67053"/>
                    </a:lnTo>
                    <a:cubicBezTo>
                      <a:pt x="812800" y="76939"/>
                      <a:pt x="808873" y="86420"/>
                      <a:pt x="801883" y="93410"/>
                    </a:cubicBezTo>
                    <a:cubicBezTo>
                      <a:pt x="794892" y="100400"/>
                      <a:pt x="785412" y="104327"/>
                      <a:pt x="775526" y="104327"/>
                    </a:cubicBezTo>
                    <a:lnTo>
                      <a:pt x="37274" y="104327"/>
                    </a:lnTo>
                    <a:cubicBezTo>
                      <a:pt x="27388" y="104327"/>
                      <a:pt x="17908" y="100400"/>
                      <a:pt x="10917" y="93410"/>
                    </a:cubicBezTo>
                    <a:cubicBezTo>
                      <a:pt x="3927" y="86420"/>
                      <a:pt x="0" y="76939"/>
                      <a:pt x="0" y="67053"/>
                    </a:cubicBezTo>
                    <a:lnTo>
                      <a:pt x="0" y="37274"/>
                    </a:lnTo>
                    <a:cubicBezTo>
                      <a:pt x="0" y="27388"/>
                      <a:pt x="3927" y="17908"/>
                      <a:pt x="10917" y="10917"/>
                    </a:cubicBezTo>
                    <a:cubicBezTo>
                      <a:pt x="17908" y="3927"/>
                      <a:pt x="27388" y="0"/>
                      <a:pt x="3727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CACACA"/>
                </a:solidFill>
                <a:prstDash val="solid"/>
                <a:miter/>
              </a:ln>
            </p:spPr>
          </p:sp>
          <p:sp>
            <p:nvSpPr>
              <p:cNvPr name="TextBox 64" id="64"/>
              <p:cNvSpPr txBox="true"/>
              <p:nvPr/>
            </p:nvSpPr>
            <p:spPr>
              <a:xfrm>
                <a:off x="0" y="-28575"/>
                <a:ext cx="812800" cy="1329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5" id="65"/>
            <p:cNvSpPr txBox="true"/>
            <p:nvPr/>
          </p:nvSpPr>
          <p:spPr>
            <a:xfrm rot="0">
              <a:off x="292885" y="204129"/>
              <a:ext cx="431800" cy="2893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19"/>
                </a:lnSpc>
              </a:pPr>
              <a:r>
                <a:rPr lang="en-US" sz="1299" b="true">
                  <a:solidFill>
                    <a:srgbClr val="E0B52F"/>
                  </a:solidFill>
                  <a:latin typeface="네모고딕 Medium"/>
                  <a:ea typeface="네모고딕 Medium"/>
                  <a:cs typeface="네모고딕 Medium"/>
                  <a:sym typeface="네모고딕 Medium"/>
                </a:rPr>
                <a:t>01</a:t>
              </a:r>
            </a:p>
          </p:txBody>
        </p:sp>
        <p:sp>
          <p:nvSpPr>
            <p:cNvPr name="TextBox 66" id="66"/>
            <p:cNvSpPr txBox="true"/>
            <p:nvPr/>
          </p:nvSpPr>
          <p:spPr>
            <a:xfrm rot="0">
              <a:off x="889785" y="156716"/>
              <a:ext cx="8636000" cy="352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040"/>
                </a:lnSpc>
                <a:spcBef>
                  <a:spcPct val="0"/>
                </a:spcBef>
              </a:pPr>
              <a:r>
                <a:rPr lang="en-US" sz="1700" strike="noStrike" u="none">
                  <a:solidFill>
                    <a:srgbClr val="151615"/>
                  </a:solidFill>
                  <a:latin typeface="네모고딕"/>
                  <a:ea typeface="네모고딕"/>
                  <a:cs typeface="네모고딕"/>
                  <a:sym typeface="네모고딕"/>
                </a:rPr>
                <a:t>외국어 첫 발화 시 해당 언어 응답</a:t>
              </a:r>
            </a:p>
          </p:txBody>
        </p:sp>
        <p:grpSp>
          <p:nvGrpSpPr>
            <p:cNvPr name="Group 67" id="67"/>
            <p:cNvGrpSpPr/>
            <p:nvPr/>
          </p:nvGrpSpPr>
          <p:grpSpPr>
            <a:xfrm rot="0">
              <a:off x="0" y="767359"/>
              <a:ext cx="5261806" cy="675382"/>
              <a:chOff x="0" y="0"/>
              <a:chExt cx="812800" cy="104327"/>
            </a:xfrm>
          </p:grpSpPr>
          <p:sp>
            <p:nvSpPr>
              <p:cNvPr name="Freeform 68" id="68"/>
              <p:cNvSpPr/>
              <p:nvPr/>
            </p:nvSpPr>
            <p:spPr>
              <a:xfrm flipH="false" flipV="false" rot="0">
                <a:off x="0" y="0"/>
                <a:ext cx="812800" cy="104327"/>
              </a:xfrm>
              <a:custGeom>
                <a:avLst/>
                <a:gdLst/>
                <a:ahLst/>
                <a:cxnLst/>
                <a:rect r="r" b="b" t="t" l="l"/>
                <a:pathLst>
                  <a:path h="104327" w="812800">
                    <a:moveTo>
                      <a:pt x="37274" y="0"/>
                    </a:moveTo>
                    <a:lnTo>
                      <a:pt x="775526" y="0"/>
                    </a:lnTo>
                    <a:cubicBezTo>
                      <a:pt x="785412" y="0"/>
                      <a:pt x="794892" y="3927"/>
                      <a:pt x="801883" y="10917"/>
                    </a:cubicBezTo>
                    <a:cubicBezTo>
                      <a:pt x="808873" y="17908"/>
                      <a:pt x="812800" y="27388"/>
                      <a:pt x="812800" y="37274"/>
                    </a:cubicBezTo>
                    <a:lnTo>
                      <a:pt x="812800" y="67053"/>
                    </a:lnTo>
                    <a:cubicBezTo>
                      <a:pt x="812800" y="76939"/>
                      <a:pt x="808873" y="86420"/>
                      <a:pt x="801883" y="93410"/>
                    </a:cubicBezTo>
                    <a:cubicBezTo>
                      <a:pt x="794892" y="100400"/>
                      <a:pt x="785412" y="104327"/>
                      <a:pt x="775526" y="104327"/>
                    </a:cubicBezTo>
                    <a:lnTo>
                      <a:pt x="37274" y="104327"/>
                    </a:lnTo>
                    <a:cubicBezTo>
                      <a:pt x="27388" y="104327"/>
                      <a:pt x="17908" y="100400"/>
                      <a:pt x="10917" y="93410"/>
                    </a:cubicBezTo>
                    <a:cubicBezTo>
                      <a:pt x="3927" y="86420"/>
                      <a:pt x="0" y="76939"/>
                      <a:pt x="0" y="67053"/>
                    </a:cubicBezTo>
                    <a:lnTo>
                      <a:pt x="0" y="37274"/>
                    </a:lnTo>
                    <a:cubicBezTo>
                      <a:pt x="0" y="27388"/>
                      <a:pt x="3927" y="17908"/>
                      <a:pt x="10917" y="10917"/>
                    </a:cubicBezTo>
                    <a:cubicBezTo>
                      <a:pt x="17908" y="3927"/>
                      <a:pt x="27388" y="0"/>
                      <a:pt x="37274" y="0"/>
                    </a:cubicBezTo>
                    <a:close/>
                  </a:path>
                </a:pathLst>
              </a:custGeom>
              <a:solidFill>
                <a:srgbClr val="F3F4F3"/>
              </a:solidFill>
              <a:ln w="9525" cap="sq">
                <a:solidFill>
                  <a:srgbClr val="CACACA"/>
                </a:solidFill>
                <a:prstDash val="solid"/>
                <a:miter/>
              </a:ln>
            </p:spPr>
          </p:sp>
          <p:sp>
            <p:nvSpPr>
              <p:cNvPr name="TextBox 69" id="69"/>
              <p:cNvSpPr txBox="true"/>
              <p:nvPr/>
            </p:nvSpPr>
            <p:spPr>
              <a:xfrm>
                <a:off x="0" y="-28575"/>
                <a:ext cx="812800" cy="1329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0" id="70"/>
            <p:cNvSpPr txBox="true"/>
            <p:nvPr/>
          </p:nvSpPr>
          <p:spPr>
            <a:xfrm rot="0">
              <a:off x="292100" y="971489"/>
              <a:ext cx="431800" cy="2893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19"/>
                </a:lnSpc>
              </a:pPr>
              <a:r>
                <a:rPr lang="en-US" sz="1299" b="true">
                  <a:solidFill>
                    <a:srgbClr val="E0B52F"/>
                  </a:solidFill>
                  <a:latin typeface="네모고딕 Medium"/>
                  <a:ea typeface="네모고딕 Medium"/>
                  <a:cs typeface="네모고딕 Medium"/>
                  <a:sym typeface="네모고딕 Medium"/>
                </a:rPr>
                <a:t>02</a:t>
              </a:r>
            </a:p>
          </p:txBody>
        </p:sp>
        <p:sp>
          <p:nvSpPr>
            <p:cNvPr name="TextBox 71" id="71"/>
            <p:cNvSpPr txBox="true"/>
            <p:nvPr/>
          </p:nvSpPr>
          <p:spPr>
            <a:xfrm rot="0">
              <a:off x="890570" y="965139"/>
              <a:ext cx="8636000" cy="352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151615"/>
                  </a:solidFill>
                  <a:latin typeface="네모고딕"/>
                  <a:ea typeface="네모고딕"/>
                  <a:cs typeface="네모고딕"/>
                  <a:sym typeface="네모고딕"/>
                </a:rPr>
                <a:t>매장/포장 유형 강제 질문 여부</a:t>
              </a:r>
            </a:p>
          </p:txBody>
        </p:sp>
        <p:grpSp>
          <p:nvGrpSpPr>
            <p:cNvPr name="Group 72" id="72"/>
            <p:cNvGrpSpPr/>
            <p:nvPr/>
          </p:nvGrpSpPr>
          <p:grpSpPr>
            <a:xfrm rot="0">
              <a:off x="785" y="1534719"/>
              <a:ext cx="5261806" cy="675382"/>
              <a:chOff x="0" y="0"/>
              <a:chExt cx="812800" cy="104327"/>
            </a:xfrm>
          </p:grpSpPr>
          <p:sp>
            <p:nvSpPr>
              <p:cNvPr name="Freeform 73" id="73"/>
              <p:cNvSpPr/>
              <p:nvPr/>
            </p:nvSpPr>
            <p:spPr>
              <a:xfrm flipH="false" flipV="false" rot="0">
                <a:off x="0" y="0"/>
                <a:ext cx="812800" cy="104327"/>
              </a:xfrm>
              <a:custGeom>
                <a:avLst/>
                <a:gdLst/>
                <a:ahLst/>
                <a:cxnLst/>
                <a:rect r="r" b="b" t="t" l="l"/>
                <a:pathLst>
                  <a:path h="104327" w="812800">
                    <a:moveTo>
                      <a:pt x="37274" y="0"/>
                    </a:moveTo>
                    <a:lnTo>
                      <a:pt x="775526" y="0"/>
                    </a:lnTo>
                    <a:cubicBezTo>
                      <a:pt x="785412" y="0"/>
                      <a:pt x="794892" y="3927"/>
                      <a:pt x="801883" y="10917"/>
                    </a:cubicBezTo>
                    <a:cubicBezTo>
                      <a:pt x="808873" y="17908"/>
                      <a:pt x="812800" y="27388"/>
                      <a:pt x="812800" y="37274"/>
                    </a:cubicBezTo>
                    <a:lnTo>
                      <a:pt x="812800" y="67053"/>
                    </a:lnTo>
                    <a:cubicBezTo>
                      <a:pt x="812800" y="76939"/>
                      <a:pt x="808873" y="86420"/>
                      <a:pt x="801883" y="93410"/>
                    </a:cubicBezTo>
                    <a:cubicBezTo>
                      <a:pt x="794892" y="100400"/>
                      <a:pt x="785412" y="104327"/>
                      <a:pt x="775526" y="104327"/>
                    </a:cubicBezTo>
                    <a:lnTo>
                      <a:pt x="37274" y="104327"/>
                    </a:lnTo>
                    <a:cubicBezTo>
                      <a:pt x="27388" y="104327"/>
                      <a:pt x="17908" y="100400"/>
                      <a:pt x="10917" y="93410"/>
                    </a:cubicBezTo>
                    <a:cubicBezTo>
                      <a:pt x="3927" y="86420"/>
                      <a:pt x="0" y="76939"/>
                      <a:pt x="0" y="67053"/>
                    </a:cubicBezTo>
                    <a:lnTo>
                      <a:pt x="0" y="37274"/>
                    </a:lnTo>
                    <a:cubicBezTo>
                      <a:pt x="0" y="27388"/>
                      <a:pt x="3927" y="17908"/>
                      <a:pt x="10917" y="10917"/>
                    </a:cubicBezTo>
                    <a:cubicBezTo>
                      <a:pt x="17908" y="3927"/>
                      <a:pt x="27388" y="0"/>
                      <a:pt x="3727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CACACA"/>
                </a:solidFill>
                <a:prstDash val="solid"/>
                <a:miter/>
              </a:ln>
            </p:spPr>
          </p:sp>
          <p:sp>
            <p:nvSpPr>
              <p:cNvPr name="TextBox 74" id="74"/>
              <p:cNvSpPr txBox="true"/>
              <p:nvPr/>
            </p:nvSpPr>
            <p:spPr>
              <a:xfrm>
                <a:off x="0" y="-28575"/>
                <a:ext cx="812800" cy="1329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5" id="75"/>
            <p:cNvSpPr txBox="true"/>
            <p:nvPr/>
          </p:nvSpPr>
          <p:spPr>
            <a:xfrm rot="0">
              <a:off x="292885" y="1738848"/>
              <a:ext cx="431800" cy="2893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19"/>
                </a:lnSpc>
              </a:pPr>
              <a:r>
                <a:rPr lang="en-US" sz="1299" b="true">
                  <a:solidFill>
                    <a:srgbClr val="E0B52F"/>
                  </a:solidFill>
                  <a:latin typeface="네모고딕 Medium"/>
                  <a:ea typeface="네모고딕 Medium"/>
                  <a:cs typeface="네모고딕 Medium"/>
                  <a:sym typeface="네모고딕 Medium"/>
                </a:rPr>
                <a:t>03</a:t>
              </a:r>
            </a:p>
          </p:txBody>
        </p:sp>
        <p:sp>
          <p:nvSpPr>
            <p:cNvPr name="TextBox 76" id="76"/>
            <p:cNvSpPr txBox="true"/>
            <p:nvPr/>
          </p:nvSpPr>
          <p:spPr>
            <a:xfrm rot="0">
              <a:off x="889785" y="1691435"/>
              <a:ext cx="8636000" cy="352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151615"/>
                  </a:solidFill>
                  <a:latin typeface="네모고딕"/>
                  <a:ea typeface="네모고딕"/>
                  <a:cs typeface="네모고딕"/>
                  <a:sym typeface="네모고딕"/>
                </a:rPr>
                <a:t>결제 수단 선택 로직</a:t>
              </a:r>
            </a:p>
          </p:txBody>
        </p:sp>
        <p:grpSp>
          <p:nvGrpSpPr>
            <p:cNvPr name="Group 77" id="77"/>
            <p:cNvGrpSpPr/>
            <p:nvPr/>
          </p:nvGrpSpPr>
          <p:grpSpPr>
            <a:xfrm rot="0">
              <a:off x="785" y="2302078"/>
              <a:ext cx="5261806" cy="675382"/>
              <a:chOff x="0" y="0"/>
              <a:chExt cx="812800" cy="104327"/>
            </a:xfrm>
          </p:grpSpPr>
          <p:sp>
            <p:nvSpPr>
              <p:cNvPr name="Freeform 78" id="78"/>
              <p:cNvSpPr/>
              <p:nvPr/>
            </p:nvSpPr>
            <p:spPr>
              <a:xfrm flipH="false" flipV="false" rot="0">
                <a:off x="0" y="0"/>
                <a:ext cx="812800" cy="104327"/>
              </a:xfrm>
              <a:custGeom>
                <a:avLst/>
                <a:gdLst/>
                <a:ahLst/>
                <a:cxnLst/>
                <a:rect r="r" b="b" t="t" l="l"/>
                <a:pathLst>
                  <a:path h="104327" w="812800">
                    <a:moveTo>
                      <a:pt x="37274" y="0"/>
                    </a:moveTo>
                    <a:lnTo>
                      <a:pt x="775526" y="0"/>
                    </a:lnTo>
                    <a:cubicBezTo>
                      <a:pt x="785412" y="0"/>
                      <a:pt x="794892" y="3927"/>
                      <a:pt x="801883" y="10917"/>
                    </a:cubicBezTo>
                    <a:cubicBezTo>
                      <a:pt x="808873" y="17908"/>
                      <a:pt x="812800" y="27388"/>
                      <a:pt x="812800" y="37274"/>
                    </a:cubicBezTo>
                    <a:lnTo>
                      <a:pt x="812800" y="67053"/>
                    </a:lnTo>
                    <a:cubicBezTo>
                      <a:pt x="812800" y="76939"/>
                      <a:pt x="808873" y="86420"/>
                      <a:pt x="801883" y="93410"/>
                    </a:cubicBezTo>
                    <a:cubicBezTo>
                      <a:pt x="794892" y="100400"/>
                      <a:pt x="785412" y="104327"/>
                      <a:pt x="775526" y="104327"/>
                    </a:cubicBezTo>
                    <a:lnTo>
                      <a:pt x="37274" y="104327"/>
                    </a:lnTo>
                    <a:cubicBezTo>
                      <a:pt x="27388" y="104327"/>
                      <a:pt x="17908" y="100400"/>
                      <a:pt x="10917" y="93410"/>
                    </a:cubicBezTo>
                    <a:cubicBezTo>
                      <a:pt x="3927" y="86420"/>
                      <a:pt x="0" y="76939"/>
                      <a:pt x="0" y="67053"/>
                    </a:cubicBezTo>
                    <a:lnTo>
                      <a:pt x="0" y="37274"/>
                    </a:lnTo>
                    <a:cubicBezTo>
                      <a:pt x="0" y="27388"/>
                      <a:pt x="3927" y="17908"/>
                      <a:pt x="10917" y="10917"/>
                    </a:cubicBezTo>
                    <a:cubicBezTo>
                      <a:pt x="17908" y="3927"/>
                      <a:pt x="27388" y="0"/>
                      <a:pt x="37274" y="0"/>
                    </a:cubicBezTo>
                    <a:close/>
                  </a:path>
                </a:pathLst>
              </a:custGeom>
              <a:solidFill>
                <a:srgbClr val="F3F4F3"/>
              </a:solidFill>
              <a:ln w="9525" cap="sq">
                <a:solidFill>
                  <a:srgbClr val="CACACA"/>
                </a:solidFill>
                <a:prstDash val="solid"/>
                <a:miter/>
              </a:ln>
            </p:spPr>
          </p:sp>
          <p:sp>
            <p:nvSpPr>
              <p:cNvPr name="TextBox 79" id="79"/>
              <p:cNvSpPr txBox="true"/>
              <p:nvPr/>
            </p:nvSpPr>
            <p:spPr>
              <a:xfrm>
                <a:off x="0" y="-28575"/>
                <a:ext cx="812800" cy="1329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0" id="80"/>
            <p:cNvSpPr txBox="true"/>
            <p:nvPr/>
          </p:nvSpPr>
          <p:spPr>
            <a:xfrm rot="0">
              <a:off x="292885" y="2518907"/>
              <a:ext cx="431800" cy="2893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19"/>
                </a:lnSpc>
              </a:pPr>
              <a:r>
                <a:rPr lang="en-US" sz="1299" b="true">
                  <a:solidFill>
                    <a:srgbClr val="E0B52F"/>
                  </a:solidFill>
                  <a:latin typeface="네모고딕 Medium"/>
                  <a:ea typeface="네모고딕 Medium"/>
                  <a:cs typeface="네모고딕 Medium"/>
                  <a:sym typeface="네모고딕 Medium"/>
                </a:rPr>
                <a:t>04</a:t>
              </a:r>
            </a:p>
          </p:txBody>
        </p:sp>
        <p:sp>
          <p:nvSpPr>
            <p:cNvPr name="TextBox 81" id="81"/>
            <p:cNvSpPr txBox="true"/>
            <p:nvPr/>
          </p:nvSpPr>
          <p:spPr>
            <a:xfrm rot="0">
              <a:off x="889785" y="2458794"/>
              <a:ext cx="8636000" cy="352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151615"/>
                  </a:solidFill>
                  <a:latin typeface="네모고딕"/>
                  <a:ea typeface="네모고딕"/>
                  <a:cs typeface="네모고딕"/>
                  <a:sym typeface="네모고딕"/>
                </a:rPr>
                <a:t>세트/단품 선택 유도</a:t>
              </a:r>
            </a:p>
          </p:txBody>
        </p:sp>
        <p:grpSp>
          <p:nvGrpSpPr>
            <p:cNvPr name="Group 82" id="82"/>
            <p:cNvGrpSpPr/>
            <p:nvPr/>
          </p:nvGrpSpPr>
          <p:grpSpPr>
            <a:xfrm rot="0">
              <a:off x="9525" y="3069438"/>
              <a:ext cx="5261806" cy="675382"/>
              <a:chOff x="0" y="0"/>
              <a:chExt cx="812800" cy="104327"/>
            </a:xfrm>
          </p:grpSpPr>
          <p:sp>
            <p:nvSpPr>
              <p:cNvPr name="Freeform 83" id="83"/>
              <p:cNvSpPr/>
              <p:nvPr/>
            </p:nvSpPr>
            <p:spPr>
              <a:xfrm flipH="false" flipV="false" rot="0">
                <a:off x="0" y="0"/>
                <a:ext cx="812800" cy="104327"/>
              </a:xfrm>
              <a:custGeom>
                <a:avLst/>
                <a:gdLst/>
                <a:ahLst/>
                <a:cxnLst/>
                <a:rect r="r" b="b" t="t" l="l"/>
                <a:pathLst>
                  <a:path h="104327" w="812800">
                    <a:moveTo>
                      <a:pt x="37274" y="0"/>
                    </a:moveTo>
                    <a:lnTo>
                      <a:pt x="775526" y="0"/>
                    </a:lnTo>
                    <a:cubicBezTo>
                      <a:pt x="785412" y="0"/>
                      <a:pt x="794892" y="3927"/>
                      <a:pt x="801883" y="10917"/>
                    </a:cubicBezTo>
                    <a:cubicBezTo>
                      <a:pt x="808873" y="17908"/>
                      <a:pt x="812800" y="27388"/>
                      <a:pt x="812800" y="37274"/>
                    </a:cubicBezTo>
                    <a:lnTo>
                      <a:pt x="812800" y="67053"/>
                    </a:lnTo>
                    <a:cubicBezTo>
                      <a:pt x="812800" y="76939"/>
                      <a:pt x="808873" y="86420"/>
                      <a:pt x="801883" y="93410"/>
                    </a:cubicBezTo>
                    <a:cubicBezTo>
                      <a:pt x="794892" y="100400"/>
                      <a:pt x="785412" y="104327"/>
                      <a:pt x="775526" y="104327"/>
                    </a:cubicBezTo>
                    <a:lnTo>
                      <a:pt x="37274" y="104327"/>
                    </a:lnTo>
                    <a:cubicBezTo>
                      <a:pt x="27388" y="104327"/>
                      <a:pt x="17908" y="100400"/>
                      <a:pt x="10917" y="93410"/>
                    </a:cubicBezTo>
                    <a:cubicBezTo>
                      <a:pt x="3927" y="86420"/>
                      <a:pt x="0" y="76939"/>
                      <a:pt x="0" y="67053"/>
                    </a:cubicBezTo>
                    <a:lnTo>
                      <a:pt x="0" y="37274"/>
                    </a:lnTo>
                    <a:cubicBezTo>
                      <a:pt x="0" y="27388"/>
                      <a:pt x="3927" y="17908"/>
                      <a:pt x="10917" y="10917"/>
                    </a:cubicBezTo>
                    <a:cubicBezTo>
                      <a:pt x="17908" y="3927"/>
                      <a:pt x="27388" y="0"/>
                      <a:pt x="3727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CACACA"/>
                </a:solidFill>
                <a:prstDash val="solid"/>
                <a:miter/>
              </a:ln>
            </p:spPr>
          </p:sp>
          <p:sp>
            <p:nvSpPr>
              <p:cNvPr name="TextBox 84" id="84"/>
              <p:cNvSpPr txBox="true"/>
              <p:nvPr/>
            </p:nvSpPr>
            <p:spPr>
              <a:xfrm>
                <a:off x="0" y="-28575"/>
                <a:ext cx="812800" cy="1329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5" id="85"/>
            <p:cNvSpPr txBox="true"/>
            <p:nvPr/>
          </p:nvSpPr>
          <p:spPr>
            <a:xfrm rot="0">
              <a:off x="301625" y="3282163"/>
              <a:ext cx="431800" cy="2893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19"/>
                </a:lnSpc>
              </a:pPr>
              <a:r>
                <a:rPr lang="en-US" sz="1299" b="true">
                  <a:solidFill>
                    <a:srgbClr val="E0B52F"/>
                  </a:solidFill>
                  <a:latin typeface="네모고딕 Medium"/>
                  <a:ea typeface="네모고딕 Medium"/>
                  <a:cs typeface="네모고딕 Medium"/>
                  <a:sym typeface="네모고딕 Medium"/>
                </a:rPr>
                <a:t>05</a:t>
              </a:r>
            </a:p>
          </p:txBody>
        </p:sp>
        <p:sp>
          <p:nvSpPr>
            <p:cNvPr name="TextBox 86" id="86"/>
            <p:cNvSpPr txBox="true"/>
            <p:nvPr/>
          </p:nvSpPr>
          <p:spPr>
            <a:xfrm rot="0">
              <a:off x="881045" y="3226153"/>
              <a:ext cx="8636000" cy="352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151615"/>
                  </a:solidFill>
                  <a:latin typeface="네모고딕"/>
                  <a:ea typeface="네모고딕"/>
                  <a:cs typeface="네모고딕"/>
                  <a:sym typeface="네모고딕"/>
                </a:rPr>
                <a:t>세트 구성 옵션 새로 묻기</a:t>
              </a:r>
            </a:p>
          </p:txBody>
        </p:sp>
        <p:grpSp>
          <p:nvGrpSpPr>
            <p:cNvPr name="Group 87" id="87"/>
            <p:cNvGrpSpPr/>
            <p:nvPr/>
          </p:nvGrpSpPr>
          <p:grpSpPr>
            <a:xfrm rot="0">
              <a:off x="9525" y="3836797"/>
              <a:ext cx="5261806" cy="675382"/>
              <a:chOff x="0" y="0"/>
              <a:chExt cx="812800" cy="104327"/>
            </a:xfrm>
          </p:grpSpPr>
          <p:sp>
            <p:nvSpPr>
              <p:cNvPr name="Freeform 88" id="88"/>
              <p:cNvSpPr/>
              <p:nvPr/>
            </p:nvSpPr>
            <p:spPr>
              <a:xfrm flipH="false" flipV="false" rot="0">
                <a:off x="0" y="0"/>
                <a:ext cx="812800" cy="104327"/>
              </a:xfrm>
              <a:custGeom>
                <a:avLst/>
                <a:gdLst/>
                <a:ahLst/>
                <a:cxnLst/>
                <a:rect r="r" b="b" t="t" l="l"/>
                <a:pathLst>
                  <a:path h="104327" w="812800">
                    <a:moveTo>
                      <a:pt x="37274" y="0"/>
                    </a:moveTo>
                    <a:lnTo>
                      <a:pt x="775526" y="0"/>
                    </a:lnTo>
                    <a:cubicBezTo>
                      <a:pt x="785412" y="0"/>
                      <a:pt x="794892" y="3927"/>
                      <a:pt x="801883" y="10917"/>
                    </a:cubicBezTo>
                    <a:cubicBezTo>
                      <a:pt x="808873" y="17908"/>
                      <a:pt x="812800" y="27388"/>
                      <a:pt x="812800" y="37274"/>
                    </a:cubicBezTo>
                    <a:lnTo>
                      <a:pt x="812800" y="67053"/>
                    </a:lnTo>
                    <a:cubicBezTo>
                      <a:pt x="812800" y="76939"/>
                      <a:pt x="808873" y="86420"/>
                      <a:pt x="801883" y="93410"/>
                    </a:cubicBezTo>
                    <a:cubicBezTo>
                      <a:pt x="794892" y="100400"/>
                      <a:pt x="785412" y="104327"/>
                      <a:pt x="775526" y="104327"/>
                    </a:cubicBezTo>
                    <a:lnTo>
                      <a:pt x="37274" y="104327"/>
                    </a:lnTo>
                    <a:cubicBezTo>
                      <a:pt x="27388" y="104327"/>
                      <a:pt x="17908" y="100400"/>
                      <a:pt x="10917" y="93410"/>
                    </a:cubicBezTo>
                    <a:cubicBezTo>
                      <a:pt x="3927" y="86420"/>
                      <a:pt x="0" y="76939"/>
                      <a:pt x="0" y="67053"/>
                    </a:cubicBezTo>
                    <a:lnTo>
                      <a:pt x="0" y="37274"/>
                    </a:lnTo>
                    <a:cubicBezTo>
                      <a:pt x="0" y="27388"/>
                      <a:pt x="3927" y="17908"/>
                      <a:pt x="10917" y="10917"/>
                    </a:cubicBezTo>
                    <a:cubicBezTo>
                      <a:pt x="17908" y="3927"/>
                      <a:pt x="27388" y="0"/>
                      <a:pt x="37274" y="0"/>
                    </a:cubicBezTo>
                    <a:close/>
                  </a:path>
                </a:pathLst>
              </a:custGeom>
              <a:solidFill>
                <a:srgbClr val="F3F4F3"/>
              </a:solidFill>
              <a:ln w="9525" cap="sq">
                <a:solidFill>
                  <a:srgbClr val="CACACA"/>
                </a:solidFill>
                <a:prstDash val="solid"/>
                <a:miter/>
              </a:ln>
            </p:spPr>
          </p:sp>
          <p:sp>
            <p:nvSpPr>
              <p:cNvPr name="TextBox 89" id="89"/>
              <p:cNvSpPr txBox="true"/>
              <p:nvPr/>
            </p:nvSpPr>
            <p:spPr>
              <a:xfrm>
                <a:off x="0" y="-28575"/>
                <a:ext cx="812800" cy="1329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90" id="90"/>
            <p:cNvSpPr txBox="true"/>
            <p:nvPr/>
          </p:nvSpPr>
          <p:spPr>
            <a:xfrm rot="0">
              <a:off x="301625" y="4036822"/>
              <a:ext cx="485775" cy="2893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19"/>
                </a:lnSpc>
              </a:pPr>
              <a:r>
                <a:rPr lang="en-US" sz="1299" b="true">
                  <a:solidFill>
                    <a:srgbClr val="E0B52F"/>
                  </a:solidFill>
                  <a:latin typeface="네모고딕 Medium"/>
                  <a:ea typeface="네모고딕 Medium"/>
                  <a:cs typeface="네모고딕 Medium"/>
                  <a:sym typeface="네모고딕 Medium"/>
                </a:rPr>
                <a:t>06</a:t>
              </a:r>
            </a:p>
          </p:txBody>
        </p:sp>
        <p:sp>
          <p:nvSpPr>
            <p:cNvPr name="TextBox 91" id="91"/>
            <p:cNvSpPr txBox="true"/>
            <p:nvPr/>
          </p:nvSpPr>
          <p:spPr>
            <a:xfrm rot="0">
              <a:off x="881045" y="4027509"/>
              <a:ext cx="8636000" cy="352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040"/>
                </a:lnSpc>
                <a:spcBef>
                  <a:spcPct val="0"/>
                </a:spcBef>
              </a:pPr>
              <a:r>
                <a:rPr lang="en-US" sz="1700" strike="noStrike" u="none">
                  <a:solidFill>
                    <a:srgbClr val="151615"/>
                  </a:solidFill>
                  <a:latin typeface="네모고딕"/>
                  <a:ea typeface="네모고딕"/>
                  <a:cs typeface="네모고딕"/>
                  <a:sym typeface="네모고딕"/>
                </a:rPr>
                <a:t>외국어 응답 순도 (한글 혼입 없음)</a:t>
              </a:r>
            </a:p>
          </p:txBody>
        </p:sp>
        <p:grpSp>
          <p:nvGrpSpPr>
            <p:cNvPr name="Group 92" id="92"/>
            <p:cNvGrpSpPr/>
            <p:nvPr/>
          </p:nvGrpSpPr>
          <p:grpSpPr>
            <a:xfrm rot="0">
              <a:off x="9525" y="4604156"/>
              <a:ext cx="5261806" cy="675382"/>
              <a:chOff x="0" y="0"/>
              <a:chExt cx="812800" cy="104327"/>
            </a:xfrm>
          </p:grpSpPr>
          <p:sp>
            <p:nvSpPr>
              <p:cNvPr name="Freeform 93" id="93"/>
              <p:cNvSpPr/>
              <p:nvPr/>
            </p:nvSpPr>
            <p:spPr>
              <a:xfrm flipH="false" flipV="false" rot="0">
                <a:off x="0" y="0"/>
                <a:ext cx="812800" cy="104327"/>
              </a:xfrm>
              <a:custGeom>
                <a:avLst/>
                <a:gdLst/>
                <a:ahLst/>
                <a:cxnLst/>
                <a:rect r="r" b="b" t="t" l="l"/>
                <a:pathLst>
                  <a:path h="104327" w="812800">
                    <a:moveTo>
                      <a:pt x="37274" y="0"/>
                    </a:moveTo>
                    <a:lnTo>
                      <a:pt x="775526" y="0"/>
                    </a:lnTo>
                    <a:cubicBezTo>
                      <a:pt x="785412" y="0"/>
                      <a:pt x="794892" y="3927"/>
                      <a:pt x="801883" y="10917"/>
                    </a:cubicBezTo>
                    <a:cubicBezTo>
                      <a:pt x="808873" y="17908"/>
                      <a:pt x="812800" y="27388"/>
                      <a:pt x="812800" y="37274"/>
                    </a:cubicBezTo>
                    <a:lnTo>
                      <a:pt x="812800" y="67053"/>
                    </a:lnTo>
                    <a:cubicBezTo>
                      <a:pt x="812800" y="76939"/>
                      <a:pt x="808873" y="86420"/>
                      <a:pt x="801883" y="93410"/>
                    </a:cubicBezTo>
                    <a:cubicBezTo>
                      <a:pt x="794892" y="100400"/>
                      <a:pt x="785412" y="104327"/>
                      <a:pt x="775526" y="104327"/>
                    </a:cubicBezTo>
                    <a:lnTo>
                      <a:pt x="37274" y="104327"/>
                    </a:lnTo>
                    <a:cubicBezTo>
                      <a:pt x="27388" y="104327"/>
                      <a:pt x="17908" y="100400"/>
                      <a:pt x="10917" y="93410"/>
                    </a:cubicBezTo>
                    <a:cubicBezTo>
                      <a:pt x="3927" y="86420"/>
                      <a:pt x="0" y="76939"/>
                      <a:pt x="0" y="67053"/>
                    </a:cubicBezTo>
                    <a:lnTo>
                      <a:pt x="0" y="37274"/>
                    </a:lnTo>
                    <a:cubicBezTo>
                      <a:pt x="0" y="27388"/>
                      <a:pt x="3927" y="17908"/>
                      <a:pt x="10917" y="10917"/>
                    </a:cubicBezTo>
                    <a:cubicBezTo>
                      <a:pt x="17908" y="3927"/>
                      <a:pt x="27388" y="0"/>
                      <a:pt x="3727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CACACA"/>
                </a:solidFill>
                <a:prstDash val="solid"/>
                <a:miter/>
              </a:ln>
            </p:spPr>
          </p:sp>
          <p:sp>
            <p:nvSpPr>
              <p:cNvPr name="TextBox 94" id="94"/>
              <p:cNvSpPr txBox="true"/>
              <p:nvPr/>
            </p:nvSpPr>
            <p:spPr>
              <a:xfrm>
                <a:off x="0" y="-28575"/>
                <a:ext cx="812800" cy="1329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95" id="95"/>
            <p:cNvSpPr txBox="true"/>
            <p:nvPr/>
          </p:nvSpPr>
          <p:spPr>
            <a:xfrm rot="0">
              <a:off x="301625" y="4815612"/>
              <a:ext cx="431800" cy="2893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819"/>
                </a:lnSpc>
                <a:spcBef>
                  <a:spcPct val="0"/>
                </a:spcBef>
              </a:pPr>
              <a:r>
                <a:rPr lang="en-US" b="true" sz="1299" strike="noStrike" u="none">
                  <a:solidFill>
                    <a:srgbClr val="E0B52F"/>
                  </a:solidFill>
                  <a:latin typeface="네모고딕 Medium"/>
                  <a:ea typeface="네모고딕 Medium"/>
                  <a:cs typeface="네모고딕 Medium"/>
                  <a:sym typeface="네모고딕 Medium"/>
                </a:rPr>
                <a:t>07</a:t>
              </a:r>
            </a:p>
          </p:txBody>
        </p:sp>
        <p:sp>
          <p:nvSpPr>
            <p:cNvPr name="TextBox 96" id="96"/>
            <p:cNvSpPr txBox="true"/>
            <p:nvPr/>
          </p:nvSpPr>
          <p:spPr>
            <a:xfrm rot="0">
              <a:off x="881045" y="4760872"/>
              <a:ext cx="8636000" cy="352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151615"/>
                  </a:solidFill>
                  <a:latin typeface="네모고딕"/>
                  <a:ea typeface="네모고딕"/>
                  <a:cs typeface="네모고딕"/>
                  <a:sym typeface="네모고딕"/>
                </a:rPr>
                <a:t>환각 방지 및 장바구니 무결성</a:t>
              </a:r>
            </a:p>
          </p:txBody>
        </p:sp>
      </p:grpSp>
      <p:sp>
        <p:nvSpPr>
          <p:cNvPr name="TextBox 97" id="97"/>
          <p:cNvSpPr txBox="true"/>
          <p:nvPr/>
        </p:nvSpPr>
        <p:spPr>
          <a:xfrm rot="0">
            <a:off x="1028700" y="686443"/>
            <a:ext cx="2871173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1599"/>
              </a:lnSpc>
              <a:buAutoNum type="arabicPeriod" startAt="1"/>
            </a:pPr>
            <a:r>
              <a:rPr lang="en-US" sz="1599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AI 모델 및 데이터 개발 현황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11415098" y="4715534"/>
            <a:ext cx="88783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FCFCFC"/>
                </a:solidFill>
                <a:latin typeface="네모고딕"/>
                <a:ea typeface="네모고딕"/>
                <a:cs typeface="네모고딕"/>
                <a:sym typeface="네모고딕"/>
              </a:rPr>
              <a:t>검증 항목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4760046" y="762851"/>
            <a:ext cx="2629015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sz="1200">
                <a:solidFill>
                  <a:srgbClr val="F3F4F3"/>
                </a:solidFill>
                <a:latin typeface="Poppins"/>
                <a:ea typeface="Poppins"/>
                <a:cs typeface="Poppins"/>
                <a:sym typeface="Poppins"/>
              </a:rPr>
              <a:t>https://github.com/Capstone-F5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7748364" y="621885"/>
            <a:ext cx="2791271" cy="231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b="true" sz="1600" spc="259">
                <a:solidFill>
                  <a:srgbClr val="15161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2026/09/08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3938" y="0"/>
            <a:ext cx="20335875" cy="10287000"/>
            <a:chOff x="0" y="0"/>
            <a:chExt cx="271145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600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39850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6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2003648" y="3884423"/>
            <a:ext cx="6975196" cy="2688950"/>
            <a:chOff x="0" y="0"/>
            <a:chExt cx="1837089" cy="70820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37089" cy="708201"/>
            </a:xfrm>
            <a:custGeom>
              <a:avLst/>
              <a:gdLst/>
              <a:ahLst/>
              <a:cxnLst/>
              <a:rect r="r" b="b" t="t" l="l"/>
              <a:pathLst>
                <a:path h="708201" w="1837089">
                  <a:moveTo>
                    <a:pt x="33298" y="0"/>
                  </a:moveTo>
                  <a:lnTo>
                    <a:pt x="1803791" y="0"/>
                  </a:lnTo>
                  <a:cubicBezTo>
                    <a:pt x="1812622" y="0"/>
                    <a:pt x="1821092" y="3508"/>
                    <a:pt x="1827336" y="9753"/>
                  </a:cubicBezTo>
                  <a:cubicBezTo>
                    <a:pt x="1833581" y="15997"/>
                    <a:pt x="1837089" y="24467"/>
                    <a:pt x="1837089" y="33298"/>
                  </a:cubicBezTo>
                  <a:lnTo>
                    <a:pt x="1837089" y="674903"/>
                  </a:lnTo>
                  <a:cubicBezTo>
                    <a:pt x="1837089" y="683734"/>
                    <a:pt x="1833581" y="692204"/>
                    <a:pt x="1827336" y="698448"/>
                  </a:cubicBezTo>
                  <a:cubicBezTo>
                    <a:pt x="1821092" y="704693"/>
                    <a:pt x="1812622" y="708201"/>
                    <a:pt x="1803791" y="708201"/>
                  </a:cubicBezTo>
                  <a:lnTo>
                    <a:pt x="33298" y="708201"/>
                  </a:lnTo>
                  <a:cubicBezTo>
                    <a:pt x="14908" y="708201"/>
                    <a:pt x="0" y="693293"/>
                    <a:pt x="0" y="674903"/>
                  </a:cubicBezTo>
                  <a:lnTo>
                    <a:pt x="0" y="33298"/>
                  </a:lnTo>
                  <a:cubicBezTo>
                    <a:pt x="0" y="24467"/>
                    <a:pt x="3508" y="15997"/>
                    <a:pt x="9753" y="9753"/>
                  </a:cubicBezTo>
                  <a:cubicBezTo>
                    <a:pt x="15997" y="3508"/>
                    <a:pt x="24467" y="0"/>
                    <a:pt x="33298" y="0"/>
                  </a:cubicBezTo>
                  <a:close/>
                </a:path>
              </a:pathLst>
            </a:custGeom>
            <a:solidFill>
              <a:srgbClr val="FCFCFC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66675"/>
              <a:ext cx="1837089" cy="6415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49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309156" y="3884423"/>
            <a:ext cx="6975196" cy="2688950"/>
            <a:chOff x="0" y="0"/>
            <a:chExt cx="1837089" cy="70820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37089" cy="708201"/>
            </a:xfrm>
            <a:custGeom>
              <a:avLst/>
              <a:gdLst/>
              <a:ahLst/>
              <a:cxnLst/>
              <a:rect r="r" b="b" t="t" l="l"/>
              <a:pathLst>
                <a:path h="708201" w="1837089">
                  <a:moveTo>
                    <a:pt x="33298" y="0"/>
                  </a:moveTo>
                  <a:lnTo>
                    <a:pt x="1803791" y="0"/>
                  </a:lnTo>
                  <a:cubicBezTo>
                    <a:pt x="1812622" y="0"/>
                    <a:pt x="1821092" y="3508"/>
                    <a:pt x="1827336" y="9753"/>
                  </a:cubicBezTo>
                  <a:cubicBezTo>
                    <a:pt x="1833581" y="15997"/>
                    <a:pt x="1837089" y="24467"/>
                    <a:pt x="1837089" y="33298"/>
                  </a:cubicBezTo>
                  <a:lnTo>
                    <a:pt x="1837089" y="674903"/>
                  </a:lnTo>
                  <a:cubicBezTo>
                    <a:pt x="1837089" y="683734"/>
                    <a:pt x="1833581" y="692204"/>
                    <a:pt x="1827336" y="698448"/>
                  </a:cubicBezTo>
                  <a:cubicBezTo>
                    <a:pt x="1821092" y="704693"/>
                    <a:pt x="1812622" y="708201"/>
                    <a:pt x="1803791" y="708201"/>
                  </a:cubicBezTo>
                  <a:lnTo>
                    <a:pt x="33298" y="708201"/>
                  </a:lnTo>
                  <a:cubicBezTo>
                    <a:pt x="14908" y="708201"/>
                    <a:pt x="0" y="693293"/>
                    <a:pt x="0" y="674903"/>
                  </a:cubicBezTo>
                  <a:lnTo>
                    <a:pt x="0" y="33298"/>
                  </a:lnTo>
                  <a:cubicBezTo>
                    <a:pt x="0" y="24467"/>
                    <a:pt x="3508" y="15997"/>
                    <a:pt x="9753" y="9753"/>
                  </a:cubicBezTo>
                  <a:cubicBezTo>
                    <a:pt x="15997" y="3508"/>
                    <a:pt x="24467" y="0"/>
                    <a:pt x="33298" y="0"/>
                  </a:cubicBezTo>
                  <a:close/>
                </a:path>
              </a:pathLst>
            </a:custGeom>
            <a:solidFill>
              <a:srgbClr val="FCFCFC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66675"/>
              <a:ext cx="1837089" cy="6415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49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10800000">
            <a:off x="2003648" y="6754348"/>
            <a:ext cx="14285302" cy="2656020"/>
            <a:chOff x="0" y="0"/>
            <a:chExt cx="3332163" cy="61953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32163" cy="619538"/>
            </a:xfrm>
            <a:custGeom>
              <a:avLst/>
              <a:gdLst/>
              <a:ahLst/>
              <a:cxnLst/>
              <a:rect r="r" b="b" t="t" l="l"/>
              <a:pathLst>
                <a:path h="619538" w="3332163">
                  <a:moveTo>
                    <a:pt x="3255963" y="0"/>
                  </a:moveTo>
                  <a:cubicBezTo>
                    <a:pt x="3294063" y="0"/>
                    <a:pt x="3332163" y="25400"/>
                    <a:pt x="3332163" y="63500"/>
                  </a:cubicBezTo>
                  <a:lnTo>
                    <a:pt x="3332163" y="416338"/>
                  </a:lnTo>
                  <a:cubicBezTo>
                    <a:pt x="3332163" y="454438"/>
                    <a:pt x="3294063" y="492538"/>
                    <a:pt x="3255963" y="492538"/>
                  </a:cubicBezTo>
                  <a:lnTo>
                    <a:pt x="266700" y="492538"/>
                  </a:lnTo>
                  <a:lnTo>
                    <a:pt x="127000" y="619538"/>
                  </a:lnTo>
                  <a:lnTo>
                    <a:pt x="127000" y="492538"/>
                  </a:lnTo>
                  <a:lnTo>
                    <a:pt x="76200" y="492538"/>
                  </a:lnTo>
                  <a:cubicBezTo>
                    <a:pt x="38100" y="492538"/>
                    <a:pt x="0" y="454438"/>
                    <a:pt x="0" y="416338"/>
                  </a:cubicBezTo>
                  <a:lnTo>
                    <a:pt x="0" y="63500"/>
                  </a:lnTo>
                  <a:cubicBezTo>
                    <a:pt x="0" y="25400"/>
                    <a:pt x="38100" y="0"/>
                    <a:pt x="76200" y="0"/>
                  </a:cubicBezTo>
                  <a:lnTo>
                    <a:pt x="3255963" y="0"/>
                  </a:lnTo>
                  <a:close/>
                </a:path>
              </a:pathLst>
            </a:custGeom>
            <a:solidFill>
              <a:srgbClr val="CACACA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63500" y="130175"/>
              <a:ext cx="3205163" cy="2988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494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651231" y="612360"/>
            <a:ext cx="271148" cy="286173"/>
          </a:xfrm>
          <a:custGeom>
            <a:avLst/>
            <a:gdLst/>
            <a:ahLst/>
            <a:cxnLst/>
            <a:rect r="r" b="b" t="t" l="l"/>
            <a:pathLst>
              <a:path h="286173" w="271148">
                <a:moveTo>
                  <a:pt x="0" y="0"/>
                </a:moveTo>
                <a:lnTo>
                  <a:pt x="271148" y="0"/>
                </a:lnTo>
                <a:lnTo>
                  <a:pt x="271148" y="286172"/>
                </a:lnTo>
                <a:lnTo>
                  <a:pt x="0" y="286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7748364" y="621885"/>
            <a:ext cx="2791271" cy="231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b="true" sz="1600" spc="259">
                <a:solidFill>
                  <a:srgbClr val="15161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2026/09/08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4512338" y="616360"/>
            <a:ext cx="3124432" cy="456813"/>
            <a:chOff x="0" y="0"/>
            <a:chExt cx="822896" cy="12031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22896" cy="120313"/>
            </a:xfrm>
            <a:custGeom>
              <a:avLst/>
              <a:gdLst/>
              <a:ahLst/>
              <a:cxnLst/>
              <a:rect r="r" b="b" t="t" l="l"/>
              <a:pathLst>
                <a:path h="120313" w="822896">
                  <a:moveTo>
                    <a:pt x="60156" y="0"/>
                  </a:moveTo>
                  <a:lnTo>
                    <a:pt x="762739" y="0"/>
                  </a:lnTo>
                  <a:cubicBezTo>
                    <a:pt x="795963" y="0"/>
                    <a:pt x="822896" y="26933"/>
                    <a:pt x="822896" y="60156"/>
                  </a:cubicBezTo>
                  <a:lnTo>
                    <a:pt x="822896" y="60156"/>
                  </a:lnTo>
                  <a:cubicBezTo>
                    <a:pt x="822896" y="93380"/>
                    <a:pt x="795963" y="120313"/>
                    <a:pt x="762739" y="120313"/>
                  </a:cubicBezTo>
                  <a:lnTo>
                    <a:pt x="60156" y="120313"/>
                  </a:lnTo>
                  <a:cubicBezTo>
                    <a:pt x="26933" y="120313"/>
                    <a:pt x="0" y="93380"/>
                    <a:pt x="0" y="60156"/>
                  </a:cubicBezTo>
                  <a:lnTo>
                    <a:pt x="0" y="60156"/>
                  </a:lnTo>
                  <a:cubicBezTo>
                    <a:pt x="0" y="26933"/>
                    <a:pt x="26933" y="0"/>
                    <a:pt x="60156" y="0"/>
                  </a:cubicBezTo>
                  <a:close/>
                </a:path>
              </a:pathLst>
            </a:custGeom>
            <a:solidFill>
              <a:srgbClr val="151615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822896" cy="167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4760046" y="762851"/>
            <a:ext cx="2629015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sz="1200">
                <a:solidFill>
                  <a:srgbClr val="F3F4F3"/>
                </a:solidFill>
                <a:latin typeface="Poppins"/>
                <a:ea typeface="Poppins"/>
                <a:cs typeface="Poppins"/>
                <a:sym typeface="Poppins"/>
              </a:rPr>
              <a:t>https://github.com/Capstone-F5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6498500" y="9133151"/>
            <a:ext cx="760800" cy="554433"/>
          </a:xfrm>
          <a:custGeom>
            <a:avLst/>
            <a:gdLst/>
            <a:ahLst/>
            <a:cxnLst/>
            <a:rect r="r" b="b" t="t" l="l"/>
            <a:pathLst>
              <a:path h="554433" w="760800">
                <a:moveTo>
                  <a:pt x="0" y="0"/>
                </a:moveTo>
                <a:lnTo>
                  <a:pt x="760800" y="0"/>
                </a:lnTo>
                <a:lnTo>
                  <a:pt x="760800" y="554433"/>
                </a:lnTo>
                <a:lnTo>
                  <a:pt x="0" y="5544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6563014" y="1957759"/>
            <a:ext cx="631771" cy="635745"/>
          </a:xfrm>
          <a:custGeom>
            <a:avLst/>
            <a:gdLst/>
            <a:ahLst/>
            <a:cxnLst/>
            <a:rect r="r" b="b" t="t" l="l"/>
            <a:pathLst>
              <a:path h="635745" w="631771">
                <a:moveTo>
                  <a:pt x="0" y="0"/>
                </a:moveTo>
                <a:lnTo>
                  <a:pt x="631772" y="0"/>
                </a:lnTo>
                <a:lnTo>
                  <a:pt x="631772" y="635745"/>
                </a:lnTo>
                <a:lnTo>
                  <a:pt x="0" y="63574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2439446" y="4500072"/>
            <a:ext cx="1457652" cy="1457652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1615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742180" y="4500072"/>
            <a:ext cx="1457652" cy="1457652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1615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2008246" y="2598104"/>
            <a:ext cx="9147698" cy="860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6500" b="true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AI 기능 개선 계획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008246" y="1986334"/>
            <a:ext cx="4023889" cy="303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2199" spc="204" b="true">
                <a:solidFill>
                  <a:srgbClr val="151615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AI Improvement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438445" y="4982456"/>
            <a:ext cx="1435586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3F4F3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정확도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764246" y="4982381"/>
            <a:ext cx="1435586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3F4F3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최적화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246051" y="4613261"/>
            <a:ext cx="4271739" cy="1280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0"/>
              </a:lnSpc>
            </a:pPr>
            <a:r>
              <a:rPr lang="en-US" sz="16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- 제스처: 동적 스와이프 데이터 보강</a:t>
            </a:r>
          </a:p>
          <a:p>
            <a:pPr algn="l">
              <a:lnSpc>
                <a:spcPts val="2560"/>
              </a:lnSpc>
            </a:pPr>
            <a:r>
              <a:rPr lang="en-US" sz="16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- YOLO: 휠체어 카테고리 데이터셋 추가 학습 </a:t>
            </a:r>
          </a:p>
          <a:p>
            <a:pPr algn="l">
              <a:lnSpc>
                <a:spcPts val="2560"/>
              </a:lnSpc>
            </a:pPr>
            <a:r>
              <a:rPr lang="en-US" sz="16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- STT: 첫 응답 지연 원인 분석 및 초기 인식 정</a:t>
            </a:r>
          </a:p>
          <a:p>
            <a:pPr algn="l">
              <a:lnSpc>
                <a:spcPts val="2560"/>
              </a:lnSpc>
            </a:pPr>
            <a:r>
              <a:rPr lang="en-US" sz="16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- LLM: 엣지 케이스 시나리오 추가 발굴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590357" y="4555164"/>
            <a:ext cx="4271739" cy="1280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0"/>
              </a:lnSpc>
            </a:pPr>
            <a:r>
              <a:rPr lang="en-US" sz="16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- YOLO: 이미 INT8 양자화 적용</a:t>
            </a:r>
          </a:p>
          <a:p>
            <a:pPr algn="l">
              <a:lnSpc>
                <a:spcPts val="2560"/>
              </a:lnSpc>
            </a:pPr>
            <a:r>
              <a:rPr lang="en-US" sz="16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- 제스처: 라즈베리파이 실행 가능 여부 검증</a:t>
            </a:r>
          </a:p>
          <a:p>
            <a:pPr algn="l">
              <a:lnSpc>
                <a:spcPts val="2560"/>
              </a:lnSpc>
            </a:pPr>
            <a:r>
              <a:rPr lang="en-US" sz="16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- LLM: AgentExecutor 반복 최적화</a:t>
            </a:r>
          </a:p>
          <a:p>
            <a:pPr algn="l">
              <a:lnSpc>
                <a:spcPts val="2560"/>
              </a:lnSpc>
            </a:pPr>
            <a:r>
              <a:rPr lang="en-US" sz="16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- 라즈베리파이에서 실제 성능 측정 후 병목 파악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273165" y="7563973"/>
            <a:ext cx="7741669" cy="16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별도 설정 없이 카메라 앞에 서기만 해도 시스템이 사용자 유형을 자동으로 파악하고, 시각장애인·휠체어·일반 사용자 각각에게 최적화된 입력 모드로 전환되는 완전 자동 </a:t>
            </a:r>
          </a:p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배리어프리 인터페이스 구현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28700" y="686443"/>
            <a:ext cx="2871173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1599"/>
              </a:lnSpc>
              <a:buAutoNum type="arabicPeriod" startAt="1"/>
            </a:pPr>
            <a:r>
              <a:rPr lang="en-US" sz="1599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AI 모델 및 데이터 개발 현황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3938" y="0"/>
            <a:ext cx="20335875" cy="10287000"/>
            <a:chOff x="0" y="0"/>
            <a:chExt cx="271145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600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39850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6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495069" y="4022840"/>
            <a:ext cx="19278139" cy="6784660"/>
            <a:chOff x="0" y="0"/>
            <a:chExt cx="5077370" cy="17869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77370" cy="1786906"/>
            </a:xfrm>
            <a:custGeom>
              <a:avLst/>
              <a:gdLst/>
              <a:ahLst/>
              <a:cxnLst/>
              <a:rect r="r" b="b" t="t" l="l"/>
              <a:pathLst>
                <a:path h="1786906" w="5077370">
                  <a:moveTo>
                    <a:pt x="16064" y="0"/>
                  </a:moveTo>
                  <a:lnTo>
                    <a:pt x="5061306" y="0"/>
                  </a:lnTo>
                  <a:cubicBezTo>
                    <a:pt x="5070178" y="0"/>
                    <a:pt x="5077370" y="7192"/>
                    <a:pt x="5077370" y="16064"/>
                  </a:cubicBezTo>
                  <a:lnTo>
                    <a:pt x="5077370" y="1770843"/>
                  </a:lnTo>
                  <a:cubicBezTo>
                    <a:pt x="5077370" y="1779714"/>
                    <a:pt x="5070178" y="1786906"/>
                    <a:pt x="5061306" y="1786906"/>
                  </a:cubicBezTo>
                  <a:lnTo>
                    <a:pt x="16064" y="1786906"/>
                  </a:lnTo>
                  <a:cubicBezTo>
                    <a:pt x="7192" y="1786906"/>
                    <a:pt x="0" y="1779714"/>
                    <a:pt x="0" y="1770843"/>
                  </a:cubicBezTo>
                  <a:lnTo>
                    <a:pt x="0" y="16064"/>
                  </a:lnTo>
                  <a:cubicBezTo>
                    <a:pt x="0" y="7192"/>
                    <a:pt x="7192" y="0"/>
                    <a:pt x="16064" y="0"/>
                  </a:cubicBezTo>
                  <a:close/>
                </a:path>
              </a:pathLst>
            </a:custGeom>
            <a:solidFill>
              <a:srgbClr val="FCFCFC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66675"/>
              <a:ext cx="5077370" cy="17202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494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51231" y="612360"/>
            <a:ext cx="271148" cy="286173"/>
          </a:xfrm>
          <a:custGeom>
            <a:avLst/>
            <a:gdLst/>
            <a:ahLst/>
            <a:cxnLst/>
            <a:rect r="r" b="b" t="t" l="l"/>
            <a:pathLst>
              <a:path h="286173" w="271148">
                <a:moveTo>
                  <a:pt x="0" y="0"/>
                </a:moveTo>
                <a:lnTo>
                  <a:pt x="271148" y="0"/>
                </a:lnTo>
                <a:lnTo>
                  <a:pt x="271148" y="286172"/>
                </a:lnTo>
                <a:lnTo>
                  <a:pt x="0" y="286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4512338" y="616360"/>
            <a:ext cx="3124432" cy="456813"/>
            <a:chOff x="0" y="0"/>
            <a:chExt cx="822896" cy="12031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22896" cy="120313"/>
            </a:xfrm>
            <a:custGeom>
              <a:avLst/>
              <a:gdLst/>
              <a:ahLst/>
              <a:cxnLst/>
              <a:rect r="r" b="b" t="t" l="l"/>
              <a:pathLst>
                <a:path h="120313" w="822896">
                  <a:moveTo>
                    <a:pt x="60156" y="0"/>
                  </a:moveTo>
                  <a:lnTo>
                    <a:pt x="762739" y="0"/>
                  </a:lnTo>
                  <a:cubicBezTo>
                    <a:pt x="795963" y="0"/>
                    <a:pt x="822896" y="26933"/>
                    <a:pt x="822896" y="60156"/>
                  </a:cubicBezTo>
                  <a:lnTo>
                    <a:pt x="822896" y="60156"/>
                  </a:lnTo>
                  <a:cubicBezTo>
                    <a:pt x="822896" y="93380"/>
                    <a:pt x="795963" y="120313"/>
                    <a:pt x="762739" y="120313"/>
                  </a:cubicBezTo>
                  <a:lnTo>
                    <a:pt x="60156" y="120313"/>
                  </a:lnTo>
                  <a:cubicBezTo>
                    <a:pt x="26933" y="120313"/>
                    <a:pt x="0" y="93380"/>
                    <a:pt x="0" y="60156"/>
                  </a:cubicBezTo>
                  <a:lnTo>
                    <a:pt x="0" y="60156"/>
                  </a:lnTo>
                  <a:cubicBezTo>
                    <a:pt x="0" y="26933"/>
                    <a:pt x="26933" y="0"/>
                    <a:pt x="60156" y="0"/>
                  </a:cubicBezTo>
                  <a:close/>
                </a:path>
              </a:pathLst>
            </a:custGeom>
            <a:solidFill>
              <a:srgbClr val="15161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822896" cy="167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6498500" y="9133151"/>
            <a:ext cx="760800" cy="554433"/>
          </a:xfrm>
          <a:custGeom>
            <a:avLst/>
            <a:gdLst/>
            <a:ahLst/>
            <a:cxnLst/>
            <a:rect r="r" b="b" t="t" l="l"/>
            <a:pathLst>
              <a:path h="554433" w="760800">
                <a:moveTo>
                  <a:pt x="0" y="0"/>
                </a:moveTo>
                <a:lnTo>
                  <a:pt x="760800" y="0"/>
                </a:lnTo>
                <a:lnTo>
                  <a:pt x="760800" y="554433"/>
                </a:lnTo>
                <a:lnTo>
                  <a:pt x="0" y="5544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704305" y="3704968"/>
            <a:ext cx="631771" cy="635745"/>
          </a:xfrm>
          <a:custGeom>
            <a:avLst/>
            <a:gdLst/>
            <a:ahLst/>
            <a:cxnLst/>
            <a:rect r="r" b="b" t="t" l="l"/>
            <a:pathLst>
              <a:path h="635745" w="631771">
                <a:moveTo>
                  <a:pt x="0" y="0"/>
                </a:moveTo>
                <a:lnTo>
                  <a:pt x="631771" y="0"/>
                </a:lnTo>
                <a:lnTo>
                  <a:pt x="631771" y="635744"/>
                </a:lnTo>
                <a:lnTo>
                  <a:pt x="0" y="6357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786805" y="4692891"/>
            <a:ext cx="12203737" cy="876300"/>
            <a:chOff x="0" y="0"/>
            <a:chExt cx="16271649" cy="1168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271649" cy="1168400"/>
            </a:xfrm>
            <a:custGeom>
              <a:avLst/>
              <a:gdLst/>
              <a:ahLst/>
              <a:cxnLst/>
              <a:rect r="r" b="b" t="t" l="l"/>
              <a:pathLst>
                <a:path h="1168400" w="16271649">
                  <a:moveTo>
                    <a:pt x="117910" y="0"/>
                  </a:moveTo>
                  <a:lnTo>
                    <a:pt x="16153738" y="0"/>
                  </a:lnTo>
                  <a:cubicBezTo>
                    <a:pt x="16218858" y="0"/>
                    <a:pt x="16271649" y="56860"/>
                    <a:pt x="16271649" y="127000"/>
                  </a:cubicBezTo>
                  <a:lnTo>
                    <a:pt x="16271649" y="1041400"/>
                  </a:lnTo>
                  <a:cubicBezTo>
                    <a:pt x="16271649" y="1111540"/>
                    <a:pt x="16218858" y="1168400"/>
                    <a:pt x="16153738" y="1168400"/>
                  </a:cubicBezTo>
                  <a:lnTo>
                    <a:pt x="117910" y="1168400"/>
                  </a:lnTo>
                  <a:cubicBezTo>
                    <a:pt x="52790" y="1168400"/>
                    <a:pt x="0" y="1111540"/>
                    <a:pt x="0" y="1041400"/>
                  </a:cubicBezTo>
                  <a:lnTo>
                    <a:pt x="0" y="127000"/>
                  </a:lnTo>
                  <a:cubicBezTo>
                    <a:pt x="0" y="56860"/>
                    <a:pt x="52790" y="0"/>
                    <a:pt x="117910" y="0"/>
                  </a:cubicBezTo>
                  <a:close/>
                </a:path>
              </a:pathLst>
            </a:custGeom>
            <a:solidFill>
              <a:srgbClr val="F1F0EE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6271649" cy="1206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58255" y="4826241"/>
            <a:ext cx="609600" cy="609600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630849" y="0"/>
                    <a:pt x="812800" y="181951"/>
                    <a:pt x="812800" y="406400"/>
                  </a:cubicBezTo>
                  <a:cubicBezTo>
                    <a:pt x="812800" y="630849"/>
                    <a:pt x="630849" y="812800"/>
                    <a:pt x="406400" y="812800"/>
                  </a:cubicBezTo>
                  <a:cubicBezTo>
                    <a:pt x="181951" y="812800"/>
                    <a:pt x="0" y="630849"/>
                    <a:pt x="0" y="406400"/>
                  </a:cubicBez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151615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86805" y="5683491"/>
            <a:ext cx="12203737" cy="876300"/>
            <a:chOff x="0" y="0"/>
            <a:chExt cx="16271649" cy="1168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271649" cy="1168400"/>
            </a:xfrm>
            <a:custGeom>
              <a:avLst/>
              <a:gdLst/>
              <a:ahLst/>
              <a:cxnLst/>
              <a:rect r="r" b="b" t="t" l="l"/>
              <a:pathLst>
                <a:path h="1168400" w="16271649">
                  <a:moveTo>
                    <a:pt x="117910" y="0"/>
                  </a:moveTo>
                  <a:lnTo>
                    <a:pt x="16153738" y="0"/>
                  </a:lnTo>
                  <a:cubicBezTo>
                    <a:pt x="16218858" y="0"/>
                    <a:pt x="16271649" y="56860"/>
                    <a:pt x="16271649" y="127000"/>
                  </a:cubicBezTo>
                  <a:lnTo>
                    <a:pt x="16271649" y="1041400"/>
                  </a:lnTo>
                  <a:cubicBezTo>
                    <a:pt x="16271649" y="1111540"/>
                    <a:pt x="16218858" y="1168400"/>
                    <a:pt x="16153738" y="1168400"/>
                  </a:cubicBezTo>
                  <a:lnTo>
                    <a:pt x="117910" y="1168400"/>
                  </a:lnTo>
                  <a:cubicBezTo>
                    <a:pt x="52790" y="1168400"/>
                    <a:pt x="0" y="1111540"/>
                    <a:pt x="0" y="1041400"/>
                  </a:cubicBezTo>
                  <a:lnTo>
                    <a:pt x="0" y="127000"/>
                  </a:lnTo>
                  <a:cubicBezTo>
                    <a:pt x="0" y="56860"/>
                    <a:pt x="52790" y="0"/>
                    <a:pt x="117910" y="0"/>
                  </a:cubicBezTo>
                  <a:close/>
                </a:path>
              </a:pathLst>
            </a:custGeom>
            <a:solidFill>
              <a:srgbClr val="F1F0EE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6271649" cy="1206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58255" y="5816841"/>
            <a:ext cx="609600" cy="609600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630849" y="0"/>
                    <a:pt x="812800" y="181951"/>
                    <a:pt x="812800" y="406400"/>
                  </a:cubicBezTo>
                  <a:cubicBezTo>
                    <a:pt x="812800" y="630849"/>
                    <a:pt x="630849" y="812800"/>
                    <a:pt x="406400" y="812800"/>
                  </a:cubicBezTo>
                  <a:cubicBezTo>
                    <a:pt x="181951" y="812800"/>
                    <a:pt x="0" y="630849"/>
                    <a:pt x="0" y="406400"/>
                  </a:cubicBez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151615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86805" y="6674091"/>
            <a:ext cx="12203737" cy="876300"/>
            <a:chOff x="0" y="0"/>
            <a:chExt cx="16271649" cy="1168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6271649" cy="1168400"/>
            </a:xfrm>
            <a:custGeom>
              <a:avLst/>
              <a:gdLst/>
              <a:ahLst/>
              <a:cxnLst/>
              <a:rect r="r" b="b" t="t" l="l"/>
              <a:pathLst>
                <a:path h="1168400" w="16271649">
                  <a:moveTo>
                    <a:pt x="117910" y="0"/>
                  </a:moveTo>
                  <a:lnTo>
                    <a:pt x="16153738" y="0"/>
                  </a:lnTo>
                  <a:cubicBezTo>
                    <a:pt x="16218858" y="0"/>
                    <a:pt x="16271649" y="56860"/>
                    <a:pt x="16271649" y="127000"/>
                  </a:cubicBezTo>
                  <a:lnTo>
                    <a:pt x="16271649" y="1041400"/>
                  </a:lnTo>
                  <a:cubicBezTo>
                    <a:pt x="16271649" y="1111540"/>
                    <a:pt x="16218858" y="1168400"/>
                    <a:pt x="16153738" y="1168400"/>
                  </a:cubicBezTo>
                  <a:lnTo>
                    <a:pt x="117910" y="1168400"/>
                  </a:lnTo>
                  <a:cubicBezTo>
                    <a:pt x="52790" y="1168400"/>
                    <a:pt x="0" y="1111540"/>
                    <a:pt x="0" y="1041400"/>
                  </a:cubicBezTo>
                  <a:lnTo>
                    <a:pt x="0" y="127000"/>
                  </a:lnTo>
                  <a:cubicBezTo>
                    <a:pt x="0" y="56860"/>
                    <a:pt x="52790" y="0"/>
                    <a:pt x="117910" y="0"/>
                  </a:cubicBezTo>
                  <a:close/>
                </a:path>
              </a:pathLst>
            </a:custGeom>
            <a:solidFill>
              <a:srgbClr val="F1F0EE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6271649" cy="1206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58255" y="6807441"/>
            <a:ext cx="609600" cy="609600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630849" y="0"/>
                    <a:pt x="812800" y="181951"/>
                    <a:pt x="812800" y="406400"/>
                  </a:cubicBezTo>
                  <a:cubicBezTo>
                    <a:pt x="812800" y="630849"/>
                    <a:pt x="630849" y="812800"/>
                    <a:pt x="406400" y="812800"/>
                  </a:cubicBezTo>
                  <a:cubicBezTo>
                    <a:pt x="181951" y="812800"/>
                    <a:pt x="0" y="630849"/>
                    <a:pt x="0" y="406400"/>
                  </a:cubicBez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151615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86805" y="7664691"/>
            <a:ext cx="12203737" cy="876300"/>
            <a:chOff x="0" y="0"/>
            <a:chExt cx="16271649" cy="1168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6271649" cy="1168400"/>
            </a:xfrm>
            <a:custGeom>
              <a:avLst/>
              <a:gdLst/>
              <a:ahLst/>
              <a:cxnLst/>
              <a:rect r="r" b="b" t="t" l="l"/>
              <a:pathLst>
                <a:path h="1168400" w="16271649">
                  <a:moveTo>
                    <a:pt x="117910" y="0"/>
                  </a:moveTo>
                  <a:lnTo>
                    <a:pt x="16153738" y="0"/>
                  </a:lnTo>
                  <a:cubicBezTo>
                    <a:pt x="16218858" y="0"/>
                    <a:pt x="16271649" y="56860"/>
                    <a:pt x="16271649" y="127000"/>
                  </a:cubicBezTo>
                  <a:lnTo>
                    <a:pt x="16271649" y="1041400"/>
                  </a:lnTo>
                  <a:cubicBezTo>
                    <a:pt x="16271649" y="1111540"/>
                    <a:pt x="16218858" y="1168400"/>
                    <a:pt x="16153738" y="1168400"/>
                  </a:cubicBezTo>
                  <a:lnTo>
                    <a:pt x="117910" y="1168400"/>
                  </a:lnTo>
                  <a:cubicBezTo>
                    <a:pt x="52790" y="1168400"/>
                    <a:pt x="0" y="1111540"/>
                    <a:pt x="0" y="1041400"/>
                  </a:cubicBezTo>
                  <a:lnTo>
                    <a:pt x="0" y="127000"/>
                  </a:lnTo>
                  <a:cubicBezTo>
                    <a:pt x="0" y="56860"/>
                    <a:pt x="52790" y="0"/>
                    <a:pt x="117910" y="0"/>
                  </a:cubicBezTo>
                  <a:close/>
                </a:path>
              </a:pathLst>
            </a:custGeom>
            <a:solidFill>
              <a:srgbClr val="F1F0EE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6271649" cy="1206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58255" y="7798041"/>
            <a:ext cx="609600" cy="609600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630849" y="0"/>
                    <a:pt x="812800" y="181951"/>
                    <a:pt x="812800" y="406400"/>
                  </a:cubicBezTo>
                  <a:cubicBezTo>
                    <a:pt x="812800" y="630849"/>
                    <a:pt x="630849" y="812800"/>
                    <a:pt x="406400" y="812800"/>
                  </a:cubicBezTo>
                  <a:cubicBezTo>
                    <a:pt x="181951" y="812800"/>
                    <a:pt x="0" y="630849"/>
                    <a:pt x="0" y="406400"/>
                  </a:cubicBez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151615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86805" y="8655291"/>
            <a:ext cx="12203737" cy="876300"/>
            <a:chOff x="0" y="0"/>
            <a:chExt cx="16271649" cy="1168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6271649" cy="1168400"/>
            </a:xfrm>
            <a:custGeom>
              <a:avLst/>
              <a:gdLst/>
              <a:ahLst/>
              <a:cxnLst/>
              <a:rect r="r" b="b" t="t" l="l"/>
              <a:pathLst>
                <a:path h="1168400" w="16271649">
                  <a:moveTo>
                    <a:pt x="117910" y="0"/>
                  </a:moveTo>
                  <a:lnTo>
                    <a:pt x="16153738" y="0"/>
                  </a:lnTo>
                  <a:cubicBezTo>
                    <a:pt x="16218858" y="0"/>
                    <a:pt x="16271649" y="56860"/>
                    <a:pt x="16271649" y="127000"/>
                  </a:cubicBezTo>
                  <a:lnTo>
                    <a:pt x="16271649" y="1041400"/>
                  </a:lnTo>
                  <a:cubicBezTo>
                    <a:pt x="16271649" y="1111540"/>
                    <a:pt x="16218858" y="1168400"/>
                    <a:pt x="16153738" y="1168400"/>
                  </a:cubicBezTo>
                  <a:lnTo>
                    <a:pt x="117910" y="1168400"/>
                  </a:lnTo>
                  <a:cubicBezTo>
                    <a:pt x="52790" y="1168400"/>
                    <a:pt x="0" y="1111540"/>
                    <a:pt x="0" y="1041400"/>
                  </a:cubicBezTo>
                  <a:lnTo>
                    <a:pt x="0" y="127000"/>
                  </a:lnTo>
                  <a:cubicBezTo>
                    <a:pt x="0" y="56860"/>
                    <a:pt x="52790" y="0"/>
                    <a:pt x="117910" y="0"/>
                  </a:cubicBezTo>
                  <a:close/>
                </a:path>
              </a:pathLst>
            </a:custGeom>
            <a:solidFill>
              <a:srgbClr val="F1F0EE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6271649" cy="1206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58255" y="8788641"/>
            <a:ext cx="609600" cy="609600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630849" y="0"/>
                    <a:pt x="812800" y="181951"/>
                    <a:pt x="812800" y="406400"/>
                  </a:cubicBezTo>
                  <a:cubicBezTo>
                    <a:pt x="812800" y="630849"/>
                    <a:pt x="630849" y="812800"/>
                    <a:pt x="406400" y="812800"/>
                  </a:cubicBezTo>
                  <a:cubicBezTo>
                    <a:pt x="181951" y="812800"/>
                    <a:pt x="0" y="630849"/>
                    <a:pt x="0" y="406400"/>
                  </a:cubicBez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151615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216996" y="4692891"/>
            <a:ext cx="3661904" cy="3848100"/>
            <a:chOff x="0" y="0"/>
            <a:chExt cx="964452" cy="101349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64452" cy="1013491"/>
            </a:xfrm>
            <a:custGeom>
              <a:avLst/>
              <a:gdLst/>
              <a:ahLst/>
              <a:cxnLst/>
              <a:rect r="r" b="b" t="t" l="l"/>
              <a:pathLst>
                <a:path h="1013491" w="964452">
                  <a:moveTo>
                    <a:pt x="42284" y="0"/>
                  </a:moveTo>
                  <a:lnTo>
                    <a:pt x="922169" y="0"/>
                  </a:lnTo>
                  <a:cubicBezTo>
                    <a:pt x="945521" y="0"/>
                    <a:pt x="964452" y="18931"/>
                    <a:pt x="964452" y="42284"/>
                  </a:cubicBezTo>
                  <a:lnTo>
                    <a:pt x="964452" y="971208"/>
                  </a:lnTo>
                  <a:cubicBezTo>
                    <a:pt x="964452" y="994560"/>
                    <a:pt x="945521" y="1013491"/>
                    <a:pt x="922169" y="1013491"/>
                  </a:cubicBezTo>
                  <a:lnTo>
                    <a:pt x="42284" y="1013491"/>
                  </a:lnTo>
                  <a:cubicBezTo>
                    <a:pt x="18931" y="1013491"/>
                    <a:pt x="0" y="994560"/>
                    <a:pt x="0" y="971208"/>
                  </a:cubicBezTo>
                  <a:lnTo>
                    <a:pt x="0" y="42284"/>
                  </a:lnTo>
                  <a:cubicBezTo>
                    <a:pt x="0" y="18931"/>
                    <a:pt x="18931" y="0"/>
                    <a:pt x="42284" y="0"/>
                  </a:cubicBez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964452" cy="10611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EFEEED"/>
                  </a:solidFill>
                  <a:latin typeface="네모고딕"/>
                  <a:ea typeface="네모고딕"/>
                  <a:cs typeface="네모고딕"/>
                  <a:sym typeface="네모고딕"/>
                </a:rPr>
                <a:t>프론트엔드↔백엔드: 완료</a:t>
              </a:r>
            </a:p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EFEEED"/>
                  </a:solidFill>
                  <a:latin typeface="네모고딕"/>
                  <a:ea typeface="네모고딕"/>
                  <a:cs typeface="네모고딕"/>
                  <a:sym typeface="네모고딕"/>
                </a:rPr>
                <a:t>백엔드↔DB/LLM: 완료</a:t>
              </a:r>
            </a:p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EFEEED"/>
                  </a:solidFill>
                  <a:latin typeface="네모고딕"/>
                  <a:ea typeface="네모고딕"/>
                  <a:cs typeface="네모고딕"/>
                  <a:sym typeface="네모고딕"/>
                </a:rPr>
                <a:t>키오스크↔관리자: 완료</a:t>
              </a:r>
            </a:p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EFEEED"/>
                  </a:solidFill>
                  <a:latin typeface="네모고딕"/>
                  <a:ea typeface="네모고딕"/>
                  <a:cs typeface="네모고딕"/>
                  <a:sym typeface="네모고딕"/>
                </a:rPr>
                <a:t>SW-HW: 진행중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7748364" y="621885"/>
            <a:ext cx="2791271" cy="231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b="true" sz="1600" spc="259">
                <a:solidFill>
                  <a:srgbClr val="15161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2026/09/08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760046" y="762851"/>
            <a:ext cx="2629015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sz="1200">
                <a:solidFill>
                  <a:srgbClr val="F3F4F3"/>
                </a:solidFill>
                <a:latin typeface="Poppins"/>
                <a:ea typeface="Poppins"/>
                <a:cs typeface="Poppins"/>
                <a:sym typeface="Poppins"/>
              </a:rPr>
              <a:t>https://github.com/Capstone-F5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008246" y="2598104"/>
            <a:ext cx="9147698" cy="860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6500" b="true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시스템 통합 현황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008246" y="1986334"/>
            <a:ext cx="4023889" cy="303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2199" spc="204" b="true">
                <a:solidFill>
                  <a:srgbClr val="151615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System Integration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58255" y="4921491"/>
            <a:ext cx="609600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F3F4F3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720255" y="4984038"/>
            <a:ext cx="11944350" cy="34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199" b="true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사용자 접점:</a:t>
            </a:r>
            <a:r>
              <a:rPr lang="en-US" sz="2199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 키오스크 화면 (음성·제스처·터치), 관리자 웹 대시보드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58255" y="5912091"/>
            <a:ext cx="609600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F3F4F3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720255" y="5982576"/>
            <a:ext cx="11944350" cy="34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199" b="true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프론트엔드:</a:t>
            </a:r>
            <a:r>
              <a:rPr lang="en-US" sz="2199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 React 키오스크 앱 / React 관리자 앱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4168539" y="4904981"/>
            <a:ext cx="1758818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400" b="true">
                <a:solidFill>
                  <a:srgbClr val="FFFFFF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연동 현황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58255" y="6902691"/>
            <a:ext cx="609600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F3F4F3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720255" y="6973176"/>
            <a:ext cx="11944350" cy="34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199" b="true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백엔드:</a:t>
            </a:r>
            <a:r>
              <a:rPr lang="en-US" sz="2199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 FastAPI 서버 (REST API · WebSocket · SSE)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58255" y="7893291"/>
            <a:ext cx="609600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F3F4F3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720255" y="7955838"/>
            <a:ext cx="11944350" cy="34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199" b="true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AI 모듈:</a:t>
            </a:r>
            <a:r>
              <a:rPr lang="en-US" sz="2199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 STT(Whisper) / GPT-4o-mini / TTS / RAG(FAISS) / 제스처 MLP / YOLO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958255" y="8883891"/>
            <a:ext cx="609600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F3F4F3"/>
                </a:solidFill>
                <a:latin typeface="Poppins Bold"/>
                <a:ea typeface="Poppins Bold"/>
                <a:cs typeface="Poppins Bold"/>
                <a:sym typeface="Poppins Bold"/>
              </a:rPr>
              <a:t>5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720255" y="8954376"/>
            <a:ext cx="11944350" cy="34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199" b="true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데이터·인프라:</a:t>
            </a:r>
            <a:r>
              <a:rPr lang="en-US" sz="2199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 MySQL DB / OpenAI API / Cloudflare Tunnel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028700" y="686443"/>
            <a:ext cx="2871173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1599"/>
              </a:lnSpc>
              <a:buAutoNum type="arabicPeriod" startAt="1"/>
            </a:pPr>
            <a:r>
              <a:rPr lang="en-US" sz="1599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시스템 통합 및 실행 결과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3938" y="0"/>
            <a:ext cx="20335875" cy="10287000"/>
            <a:chOff x="0" y="0"/>
            <a:chExt cx="271145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600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39850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6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651231" y="612360"/>
            <a:ext cx="271148" cy="286173"/>
          </a:xfrm>
          <a:custGeom>
            <a:avLst/>
            <a:gdLst/>
            <a:ahLst/>
            <a:cxnLst/>
            <a:rect r="r" b="b" t="t" l="l"/>
            <a:pathLst>
              <a:path h="286173" w="271148">
                <a:moveTo>
                  <a:pt x="0" y="0"/>
                </a:moveTo>
                <a:lnTo>
                  <a:pt x="271148" y="0"/>
                </a:lnTo>
                <a:lnTo>
                  <a:pt x="271148" y="286172"/>
                </a:lnTo>
                <a:lnTo>
                  <a:pt x="0" y="286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512338" y="616360"/>
            <a:ext cx="3124432" cy="456813"/>
            <a:chOff x="0" y="0"/>
            <a:chExt cx="822896" cy="1203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2896" cy="120313"/>
            </a:xfrm>
            <a:custGeom>
              <a:avLst/>
              <a:gdLst/>
              <a:ahLst/>
              <a:cxnLst/>
              <a:rect r="r" b="b" t="t" l="l"/>
              <a:pathLst>
                <a:path h="120313" w="822896">
                  <a:moveTo>
                    <a:pt x="60156" y="0"/>
                  </a:moveTo>
                  <a:lnTo>
                    <a:pt x="762739" y="0"/>
                  </a:lnTo>
                  <a:cubicBezTo>
                    <a:pt x="795963" y="0"/>
                    <a:pt x="822896" y="26933"/>
                    <a:pt x="822896" y="60156"/>
                  </a:cubicBezTo>
                  <a:lnTo>
                    <a:pt x="822896" y="60156"/>
                  </a:lnTo>
                  <a:cubicBezTo>
                    <a:pt x="822896" y="93380"/>
                    <a:pt x="795963" y="120313"/>
                    <a:pt x="762739" y="120313"/>
                  </a:cubicBezTo>
                  <a:lnTo>
                    <a:pt x="60156" y="120313"/>
                  </a:lnTo>
                  <a:cubicBezTo>
                    <a:pt x="26933" y="120313"/>
                    <a:pt x="0" y="93380"/>
                    <a:pt x="0" y="60156"/>
                  </a:cubicBezTo>
                  <a:lnTo>
                    <a:pt x="0" y="60156"/>
                  </a:lnTo>
                  <a:cubicBezTo>
                    <a:pt x="0" y="26933"/>
                    <a:pt x="26933" y="0"/>
                    <a:pt x="60156" y="0"/>
                  </a:cubicBezTo>
                  <a:close/>
                </a:path>
              </a:pathLst>
            </a:custGeom>
            <a:solidFill>
              <a:srgbClr val="15161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22896" cy="167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563014" y="1957759"/>
            <a:ext cx="631771" cy="635745"/>
          </a:xfrm>
          <a:custGeom>
            <a:avLst/>
            <a:gdLst/>
            <a:ahLst/>
            <a:cxnLst/>
            <a:rect r="r" b="b" t="t" l="l"/>
            <a:pathLst>
              <a:path h="635745" w="631771">
                <a:moveTo>
                  <a:pt x="0" y="0"/>
                </a:moveTo>
                <a:lnTo>
                  <a:pt x="631772" y="0"/>
                </a:lnTo>
                <a:lnTo>
                  <a:pt x="631772" y="635745"/>
                </a:lnTo>
                <a:lnTo>
                  <a:pt x="0" y="6357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498500" y="9133151"/>
            <a:ext cx="760800" cy="554433"/>
          </a:xfrm>
          <a:custGeom>
            <a:avLst/>
            <a:gdLst/>
            <a:ahLst/>
            <a:cxnLst/>
            <a:rect r="r" b="b" t="t" l="l"/>
            <a:pathLst>
              <a:path h="554433" w="760800">
                <a:moveTo>
                  <a:pt x="0" y="0"/>
                </a:moveTo>
                <a:lnTo>
                  <a:pt x="760800" y="0"/>
                </a:lnTo>
                <a:lnTo>
                  <a:pt x="760800" y="554433"/>
                </a:lnTo>
                <a:lnTo>
                  <a:pt x="0" y="5544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82457" y="1904988"/>
            <a:ext cx="15580558" cy="7505379"/>
          </a:xfrm>
          <a:custGeom>
            <a:avLst/>
            <a:gdLst/>
            <a:ahLst/>
            <a:cxnLst/>
            <a:rect r="r" b="b" t="t" l="l"/>
            <a:pathLst>
              <a:path h="7505379" w="15580558">
                <a:moveTo>
                  <a:pt x="0" y="0"/>
                </a:moveTo>
                <a:lnTo>
                  <a:pt x="15580557" y="0"/>
                </a:lnTo>
                <a:lnTo>
                  <a:pt x="15580557" y="7505379"/>
                </a:lnTo>
                <a:lnTo>
                  <a:pt x="0" y="75053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10881" r="0" b="-3034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748364" y="621885"/>
            <a:ext cx="2791271" cy="231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b="true" sz="1600" spc="259">
                <a:solidFill>
                  <a:srgbClr val="15161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2026/09/08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760046" y="762851"/>
            <a:ext cx="2629015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sz="1200">
                <a:solidFill>
                  <a:srgbClr val="F3F4F3"/>
                </a:solidFill>
                <a:latin typeface="Poppins"/>
                <a:ea typeface="Poppins"/>
                <a:cs typeface="Poppins"/>
                <a:sym typeface="Poppins"/>
              </a:rPr>
              <a:t>https://github.com/Capstone-F5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26102" y="8549942"/>
            <a:ext cx="9147698" cy="860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6500" b="true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현재 실행 가능한 기능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27331" y="8002270"/>
            <a:ext cx="4023889" cy="303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2199" spc="204" b="true">
                <a:solidFill>
                  <a:srgbClr val="151615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Features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686443"/>
            <a:ext cx="2871173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1599"/>
              </a:lnSpc>
              <a:buAutoNum type="arabicPeriod" startAt="1"/>
            </a:pPr>
            <a:r>
              <a:rPr lang="en-US" sz="1599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시스템 통합 및 실행 결과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3938" y="0"/>
            <a:ext cx="20335875" cy="10287000"/>
            <a:chOff x="0" y="0"/>
            <a:chExt cx="271145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600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39850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6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651231" y="612360"/>
            <a:ext cx="271148" cy="286173"/>
          </a:xfrm>
          <a:custGeom>
            <a:avLst/>
            <a:gdLst/>
            <a:ahLst/>
            <a:cxnLst/>
            <a:rect r="r" b="b" t="t" l="l"/>
            <a:pathLst>
              <a:path h="286173" w="271148">
                <a:moveTo>
                  <a:pt x="0" y="0"/>
                </a:moveTo>
                <a:lnTo>
                  <a:pt x="271148" y="0"/>
                </a:lnTo>
                <a:lnTo>
                  <a:pt x="271148" y="286172"/>
                </a:lnTo>
                <a:lnTo>
                  <a:pt x="0" y="286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512338" y="616360"/>
            <a:ext cx="3124432" cy="456813"/>
            <a:chOff x="0" y="0"/>
            <a:chExt cx="822896" cy="1203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2896" cy="120313"/>
            </a:xfrm>
            <a:custGeom>
              <a:avLst/>
              <a:gdLst/>
              <a:ahLst/>
              <a:cxnLst/>
              <a:rect r="r" b="b" t="t" l="l"/>
              <a:pathLst>
                <a:path h="120313" w="822896">
                  <a:moveTo>
                    <a:pt x="60156" y="0"/>
                  </a:moveTo>
                  <a:lnTo>
                    <a:pt x="762739" y="0"/>
                  </a:lnTo>
                  <a:cubicBezTo>
                    <a:pt x="795963" y="0"/>
                    <a:pt x="822896" y="26933"/>
                    <a:pt x="822896" y="60156"/>
                  </a:cubicBezTo>
                  <a:lnTo>
                    <a:pt x="822896" y="60156"/>
                  </a:lnTo>
                  <a:cubicBezTo>
                    <a:pt x="822896" y="93380"/>
                    <a:pt x="795963" y="120313"/>
                    <a:pt x="762739" y="120313"/>
                  </a:cubicBezTo>
                  <a:lnTo>
                    <a:pt x="60156" y="120313"/>
                  </a:lnTo>
                  <a:cubicBezTo>
                    <a:pt x="26933" y="120313"/>
                    <a:pt x="0" y="93380"/>
                    <a:pt x="0" y="60156"/>
                  </a:cubicBezTo>
                  <a:lnTo>
                    <a:pt x="0" y="60156"/>
                  </a:lnTo>
                  <a:cubicBezTo>
                    <a:pt x="0" y="26933"/>
                    <a:pt x="26933" y="0"/>
                    <a:pt x="60156" y="0"/>
                  </a:cubicBezTo>
                  <a:close/>
                </a:path>
              </a:pathLst>
            </a:custGeom>
            <a:solidFill>
              <a:srgbClr val="15161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22896" cy="167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498500" y="9133151"/>
            <a:ext cx="760800" cy="554433"/>
          </a:xfrm>
          <a:custGeom>
            <a:avLst/>
            <a:gdLst/>
            <a:ahLst/>
            <a:cxnLst/>
            <a:rect r="r" b="b" t="t" l="l"/>
            <a:pathLst>
              <a:path h="554433" w="760800">
                <a:moveTo>
                  <a:pt x="0" y="0"/>
                </a:moveTo>
                <a:lnTo>
                  <a:pt x="760800" y="0"/>
                </a:lnTo>
                <a:lnTo>
                  <a:pt x="760800" y="554433"/>
                </a:lnTo>
                <a:lnTo>
                  <a:pt x="0" y="5544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10" id="10">
            <a:hlinkClick action="ppaction://media"/>
          </p:cNvPr>
          <p:cNvPicPr>
            <a:picLocks noChangeAspect="true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7"/>
          <a:srcRect l="0" t="0" r="0" b="0"/>
          <a:stretch>
            <a:fillRect/>
          </a:stretch>
        </p:blipFill>
        <p:spPr>
          <a:xfrm flipH="false" flipV="false" rot="0">
            <a:off x="5077887" y="3639505"/>
            <a:ext cx="3634578" cy="6413961"/>
          </a:xfrm>
          <a:prstGeom prst="rect">
            <a:avLst/>
          </a:prstGeom>
        </p:spPr>
      </p:pic>
      <p:pic>
        <p:nvPicPr>
          <p:cNvPr name="Picture 11" id="11">
            <a:hlinkClick action="ppaction://media"/>
          </p:cNvPr>
          <p:cNvPicPr>
            <a:picLocks noChangeAspect="true"/>
          </p:cNvPicPr>
          <p:nvPr>
            <a:videoFile r:link="rId11"/>
            <p:extLst>
              <p:ext uri="{DAA4B4D4-6D71-4841-9C94-3DE7FCFB9230}">
                <p14:media xmlns:p14="http://schemas.microsoft.com/office/powerpoint/2010/main" r:embed="rId12"/>
              </p:ext>
            </p:extLst>
          </p:nvPr>
        </p:nvPicPr>
        <p:blipFill>
          <a:blip r:embed="rId10"/>
          <a:srcRect l="0" t="0" r="0" b="0"/>
          <a:stretch>
            <a:fillRect/>
          </a:stretch>
        </p:blipFill>
        <p:spPr>
          <a:xfrm flipH="false" flipV="false" rot="0">
            <a:off x="9519996" y="3639505"/>
            <a:ext cx="4013371" cy="6413961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7748364" y="621885"/>
            <a:ext cx="2791271" cy="231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b="true" sz="1600" spc="259">
                <a:solidFill>
                  <a:srgbClr val="15161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2026/09/08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760046" y="762851"/>
            <a:ext cx="2629015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sz="1200">
                <a:solidFill>
                  <a:srgbClr val="F3F4F3"/>
                </a:solidFill>
                <a:latin typeface="Poppins"/>
                <a:ea typeface="Poppins"/>
                <a:cs typeface="Poppins"/>
                <a:sym typeface="Poppins"/>
              </a:rPr>
              <a:t>https://github.com/Capstone-F5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08246" y="2598104"/>
            <a:ext cx="9147698" cy="860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6500" b="true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실행 화면 및 시연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08246" y="1986334"/>
            <a:ext cx="4023889" cy="303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2199" spc="204" b="true">
                <a:solidFill>
                  <a:srgbClr val="151615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Demo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22379" y="3677605"/>
            <a:ext cx="4023889" cy="29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99"/>
              </a:lnSpc>
            </a:pPr>
            <a:r>
              <a:rPr lang="en-US" sz="2199" spc="204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음성 주문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666716" y="3677605"/>
            <a:ext cx="4023889" cy="294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99"/>
              </a:lnSpc>
            </a:pPr>
            <a:r>
              <a:rPr lang="en-US" sz="2199" spc="204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제스처(인식)주문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686443"/>
            <a:ext cx="2871173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1599"/>
              </a:lnSpc>
              <a:buAutoNum type="arabicPeriod" startAt="1"/>
            </a:pPr>
            <a:r>
              <a:rPr lang="en-US" sz="1599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시스템 통합 및 실행 결과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5000">
                <p:cTn fill="hold" display="false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3938" y="0"/>
            <a:ext cx="20335875" cy="10287000"/>
            <a:chOff x="0" y="0"/>
            <a:chExt cx="271145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600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39850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6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651231" y="612360"/>
            <a:ext cx="271148" cy="286173"/>
          </a:xfrm>
          <a:custGeom>
            <a:avLst/>
            <a:gdLst/>
            <a:ahLst/>
            <a:cxnLst/>
            <a:rect r="r" b="b" t="t" l="l"/>
            <a:pathLst>
              <a:path h="286173" w="271148">
                <a:moveTo>
                  <a:pt x="0" y="0"/>
                </a:moveTo>
                <a:lnTo>
                  <a:pt x="271148" y="0"/>
                </a:lnTo>
                <a:lnTo>
                  <a:pt x="271148" y="286172"/>
                </a:lnTo>
                <a:lnTo>
                  <a:pt x="0" y="286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512338" y="616360"/>
            <a:ext cx="3124432" cy="456813"/>
            <a:chOff x="0" y="0"/>
            <a:chExt cx="822896" cy="1203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2896" cy="120313"/>
            </a:xfrm>
            <a:custGeom>
              <a:avLst/>
              <a:gdLst/>
              <a:ahLst/>
              <a:cxnLst/>
              <a:rect r="r" b="b" t="t" l="l"/>
              <a:pathLst>
                <a:path h="120313" w="822896">
                  <a:moveTo>
                    <a:pt x="60156" y="0"/>
                  </a:moveTo>
                  <a:lnTo>
                    <a:pt x="762739" y="0"/>
                  </a:lnTo>
                  <a:cubicBezTo>
                    <a:pt x="795963" y="0"/>
                    <a:pt x="822896" y="26933"/>
                    <a:pt x="822896" y="60156"/>
                  </a:cubicBezTo>
                  <a:lnTo>
                    <a:pt x="822896" y="60156"/>
                  </a:lnTo>
                  <a:cubicBezTo>
                    <a:pt x="822896" y="93380"/>
                    <a:pt x="795963" y="120313"/>
                    <a:pt x="762739" y="120313"/>
                  </a:cubicBezTo>
                  <a:lnTo>
                    <a:pt x="60156" y="120313"/>
                  </a:lnTo>
                  <a:cubicBezTo>
                    <a:pt x="26933" y="120313"/>
                    <a:pt x="0" y="93380"/>
                    <a:pt x="0" y="60156"/>
                  </a:cubicBezTo>
                  <a:lnTo>
                    <a:pt x="0" y="60156"/>
                  </a:lnTo>
                  <a:cubicBezTo>
                    <a:pt x="0" y="26933"/>
                    <a:pt x="26933" y="0"/>
                    <a:pt x="60156" y="0"/>
                  </a:cubicBezTo>
                  <a:close/>
                </a:path>
              </a:pathLst>
            </a:custGeom>
            <a:solidFill>
              <a:srgbClr val="15161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22896" cy="167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498500" y="9133151"/>
            <a:ext cx="760800" cy="554433"/>
          </a:xfrm>
          <a:custGeom>
            <a:avLst/>
            <a:gdLst/>
            <a:ahLst/>
            <a:cxnLst/>
            <a:rect r="r" b="b" t="t" l="l"/>
            <a:pathLst>
              <a:path h="554433" w="760800">
                <a:moveTo>
                  <a:pt x="0" y="0"/>
                </a:moveTo>
                <a:lnTo>
                  <a:pt x="760800" y="0"/>
                </a:lnTo>
                <a:lnTo>
                  <a:pt x="760800" y="554433"/>
                </a:lnTo>
                <a:lnTo>
                  <a:pt x="0" y="5544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10" id="10">
            <a:hlinkClick action="ppaction://media"/>
          </p:cNvPr>
          <p:cNvPicPr>
            <a:picLocks noChangeAspect="true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7"/>
          <a:srcRect l="0" t="0" r="0" b="0"/>
          <a:stretch>
            <a:fillRect/>
          </a:stretch>
        </p:blipFill>
        <p:spPr>
          <a:xfrm flipH="false" flipV="false" rot="0">
            <a:off x="3413713" y="3639505"/>
            <a:ext cx="11460574" cy="6231687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7748364" y="621885"/>
            <a:ext cx="2791271" cy="231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b="true" sz="1600" spc="259">
                <a:solidFill>
                  <a:srgbClr val="15161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2026/09/08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760046" y="762851"/>
            <a:ext cx="2629015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sz="1200">
                <a:solidFill>
                  <a:srgbClr val="F3F4F3"/>
                </a:solidFill>
                <a:latin typeface="Poppins"/>
                <a:ea typeface="Poppins"/>
                <a:cs typeface="Poppins"/>
                <a:sym typeface="Poppins"/>
              </a:rPr>
              <a:t>https://github.com/Capstone-F5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08246" y="2598104"/>
            <a:ext cx="9147698" cy="860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6500" b="true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실행 화면 및 시연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08246" y="1986334"/>
            <a:ext cx="4023889" cy="303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2199" spc="204" b="true">
                <a:solidFill>
                  <a:srgbClr val="151615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Demo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132056" y="9909292"/>
            <a:ext cx="4023889" cy="29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99"/>
              </a:lnSpc>
            </a:pPr>
            <a:r>
              <a:rPr lang="en-US" sz="2199" spc="204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관리자 대시보드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686443"/>
            <a:ext cx="2871173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1599"/>
              </a:lnSpc>
              <a:buAutoNum type="arabicPeriod" startAt="1"/>
            </a:pPr>
            <a:r>
              <a:rPr lang="en-US" sz="1599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시스템 통합 및 실행 결과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3938" y="0"/>
            <a:ext cx="20335875" cy="10287000"/>
            <a:chOff x="0" y="0"/>
            <a:chExt cx="271145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600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39850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6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651231" y="612360"/>
            <a:ext cx="271148" cy="286173"/>
          </a:xfrm>
          <a:custGeom>
            <a:avLst/>
            <a:gdLst/>
            <a:ahLst/>
            <a:cxnLst/>
            <a:rect r="r" b="b" t="t" l="l"/>
            <a:pathLst>
              <a:path h="286173" w="271148">
                <a:moveTo>
                  <a:pt x="0" y="0"/>
                </a:moveTo>
                <a:lnTo>
                  <a:pt x="271148" y="0"/>
                </a:lnTo>
                <a:lnTo>
                  <a:pt x="271148" y="286172"/>
                </a:lnTo>
                <a:lnTo>
                  <a:pt x="0" y="286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512338" y="616360"/>
            <a:ext cx="3124432" cy="456813"/>
            <a:chOff x="0" y="0"/>
            <a:chExt cx="822896" cy="1203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2896" cy="120313"/>
            </a:xfrm>
            <a:custGeom>
              <a:avLst/>
              <a:gdLst/>
              <a:ahLst/>
              <a:cxnLst/>
              <a:rect r="r" b="b" t="t" l="l"/>
              <a:pathLst>
                <a:path h="120313" w="822896">
                  <a:moveTo>
                    <a:pt x="60156" y="0"/>
                  </a:moveTo>
                  <a:lnTo>
                    <a:pt x="762739" y="0"/>
                  </a:lnTo>
                  <a:cubicBezTo>
                    <a:pt x="795963" y="0"/>
                    <a:pt x="822896" y="26933"/>
                    <a:pt x="822896" y="60156"/>
                  </a:cubicBezTo>
                  <a:lnTo>
                    <a:pt x="822896" y="60156"/>
                  </a:lnTo>
                  <a:cubicBezTo>
                    <a:pt x="822896" y="93380"/>
                    <a:pt x="795963" y="120313"/>
                    <a:pt x="762739" y="120313"/>
                  </a:cubicBezTo>
                  <a:lnTo>
                    <a:pt x="60156" y="120313"/>
                  </a:lnTo>
                  <a:cubicBezTo>
                    <a:pt x="26933" y="120313"/>
                    <a:pt x="0" y="93380"/>
                    <a:pt x="0" y="60156"/>
                  </a:cubicBezTo>
                  <a:lnTo>
                    <a:pt x="0" y="60156"/>
                  </a:lnTo>
                  <a:cubicBezTo>
                    <a:pt x="0" y="26933"/>
                    <a:pt x="26933" y="0"/>
                    <a:pt x="60156" y="0"/>
                  </a:cubicBezTo>
                  <a:close/>
                </a:path>
              </a:pathLst>
            </a:custGeom>
            <a:solidFill>
              <a:srgbClr val="15161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22896" cy="167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563014" y="1957759"/>
            <a:ext cx="631771" cy="635745"/>
          </a:xfrm>
          <a:custGeom>
            <a:avLst/>
            <a:gdLst/>
            <a:ahLst/>
            <a:cxnLst/>
            <a:rect r="r" b="b" t="t" l="l"/>
            <a:pathLst>
              <a:path h="635745" w="631771">
                <a:moveTo>
                  <a:pt x="0" y="0"/>
                </a:moveTo>
                <a:lnTo>
                  <a:pt x="631772" y="0"/>
                </a:lnTo>
                <a:lnTo>
                  <a:pt x="631772" y="635745"/>
                </a:lnTo>
                <a:lnTo>
                  <a:pt x="0" y="6357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498500" y="9133151"/>
            <a:ext cx="760800" cy="554433"/>
          </a:xfrm>
          <a:custGeom>
            <a:avLst/>
            <a:gdLst/>
            <a:ahLst/>
            <a:cxnLst/>
            <a:rect r="r" b="b" t="t" l="l"/>
            <a:pathLst>
              <a:path h="554433" w="760800">
                <a:moveTo>
                  <a:pt x="0" y="0"/>
                </a:moveTo>
                <a:lnTo>
                  <a:pt x="760800" y="0"/>
                </a:lnTo>
                <a:lnTo>
                  <a:pt x="760800" y="554433"/>
                </a:lnTo>
                <a:lnTo>
                  <a:pt x="0" y="5544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948639" y="3842802"/>
            <a:ext cx="10390722" cy="5844781"/>
          </a:xfrm>
          <a:custGeom>
            <a:avLst/>
            <a:gdLst/>
            <a:ahLst/>
            <a:cxnLst/>
            <a:rect r="r" b="b" t="t" l="l"/>
            <a:pathLst>
              <a:path h="5844781" w="10390722">
                <a:moveTo>
                  <a:pt x="0" y="0"/>
                </a:moveTo>
                <a:lnTo>
                  <a:pt x="10390722" y="0"/>
                </a:lnTo>
                <a:lnTo>
                  <a:pt x="10390722" y="5844782"/>
                </a:lnTo>
                <a:lnTo>
                  <a:pt x="0" y="584478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748364" y="621885"/>
            <a:ext cx="2791271" cy="231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b="true" sz="1600" spc="259">
                <a:solidFill>
                  <a:srgbClr val="15161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2026/09/08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760046" y="762851"/>
            <a:ext cx="2629015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sz="1200">
                <a:solidFill>
                  <a:srgbClr val="F3F4F3"/>
                </a:solidFill>
                <a:latin typeface="Poppins"/>
                <a:ea typeface="Poppins"/>
                <a:cs typeface="Poppins"/>
                <a:sym typeface="Poppins"/>
              </a:rPr>
              <a:t>https://github.com/Capstone-F5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08246" y="2598104"/>
            <a:ext cx="9147698" cy="860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6500" b="true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계획 대비 진행률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08246" y="1986334"/>
            <a:ext cx="4023889" cy="303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2199" spc="204" b="true">
                <a:solidFill>
                  <a:srgbClr val="151615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Progress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242681" y="9870298"/>
            <a:ext cx="5802639" cy="29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99"/>
              </a:lnSpc>
            </a:pPr>
            <a:r>
              <a:rPr lang="en-US" sz="2199" spc="204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1학기 최종발표에서 소개된 계획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686443"/>
            <a:ext cx="2871173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1599"/>
              </a:lnSpc>
              <a:buAutoNum type="arabicPeriod" startAt="1"/>
            </a:pPr>
            <a:r>
              <a:rPr lang="en-US" sz="1599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프로젝트 진행률 종합 평가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3938" y="0"/>
            <a:ext cx="20335875" cy="10287000"/>
            <a:chOff x="0" y="0"/>
            <a:chExt cx="271145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600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39850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6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651231" y="612360"/>
            <a:ext cx="271148" cy="286173"/>
          </a:xfrm>
          <a:custGeom>
            <a:avLst/>
            <a:gdLst/>
            <a:ahLst/>
            <a:cxnLst/>
            <a:rect r="r" b="b" t="t" l="l"/>
            <a:pathLst>
              <a:path h="286173" w="271148">
                <a:moveTo>
                  <a:pt x="0" y="0"/>
                </a:moveTo>
                <a:lnTo>
                  <a:pt x="271148" y="0"/>
                </a:lnTo>
                <a:lnTo>
                  <a:pt x="271148" y="286172"/>
                </a:lnTo>
                <a:lnTo>
                  <a:pt x="0" y="286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512338" y="616360"/>
            <a:ext cx="3124432" cy="456813"/>
            <a:chOff x="0" y="0"/>
            <a:chExt cx="822896" cy="1203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2896" cy="120313"/>
            </a:xfrm>
            <a:custGeom>
              <a:avLst/>
              <a:gdLst/>
              <a:ahLst/>
              <a:cxnLst/>
              <a:rect r="r" b="b" t="t" l="l"/>
              <a:pathLst>
                <a:path h="120313" w="822896">
                  <a:moveTo>
                    <a:pt x="60156" y="0"/>
                  </a:moveTo>
                  <a:lnTo>
                    <a:pt x="762739" y="0"/>
                  </a:lnTo>
                  <a:cubicBezTo>
                    <a:pt x="795963" y="0"/>
                    <a:pt x="822896" y="26933"/>
                    <a:pt x="822896" y="60156"/>
                  </a:cubicBezTo>
                  <a:lnTo>
                    <a:pt x="822896" y="60156"/>
                  </a:lnTo>
                  <a:cubicBezTo>
                    <a:pt x="822896" y="93380"/>
                    <a:pt x="795963" y="120313"/>
                    <a:pt x="762739" y="120313"/>
                  </a:cubicBezTo>
                  <a:lnTo>
                    <a:pt x="60156" y="120313"/>
                  </a:lnTo>
                  <a:cubicBezTo>
                    <a:pt x="26933" y="120313"/>
                    <a:pt x="0" y="93380"/>
                    <a:pt x="0" y="60156"/>
                  </a:cubicBezTo>
                  <a:lnTo>
                    <a:pt x="0" y="60156"/>
                  </a:lnTo>
                  <a:cubicBezTo>
                    <a:pt x="0" y="26933"/>
                    <a:pt x="26933" y="0"/>
                    <a:pt x="60156" y="0"/>
                  </a:cubicBezTo>
                  <a:close/>
                </a:path>
              </a:pathLst>
            </a:custGeom>
            <a:solidFill>
              <a:srgbClr val="15161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22896" cy="167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563014" y="1957759"/>
            <a:ext cx="631771" cy="635745"/>
          </a:xfrm>
          <a:custGeom>
            <a:avLst/>
            <a:gdLst/>
            <a:ahLst/>
            <a:cxnLst/>
            <a:rect r="r" b="b" t="t" l="l"/>
            <a:pathLst>
              <a:path h="635745" w="631771">
                <a:moveTo>
                  <a:pt x="0" y="0"/>
                </a:moveTo>
                <a:lnTo>
                  <a:pt x="631772" y="0"/>
                </a:lnTo>
                <a:lnTo>
                  <a:pt x="631772" y="635745"/>
                </a:lnTo>
                <a:lnTo>
                  <a:pt x="0" y="6357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498500" y="9133151"/>
            <a:ext cx="760800" cy="554433"/>
          </a:xfrm>
          <a:custGeom>
            <a:avLst/>
            <a:gdLst/>
            <a:ahLst/>
            <a:cxnLst/>
            <a:rect r="r" b="b" t="t" l="l"/>
            <a:pathLst>
              <a:path h="554433" w="760800">
                <a:moveTo>
                  <a:pt x="0" y="0"/>
                </a:moveTo>
                <a:lnTo>
                  <a:pt x="760800" y="0"/>
                </a:lnTo>
                <a:lnTo>
                  <a:pt x="760800" y="554433"/>
                </a:lnTo>
                <a:lnTo>
                  <a:pt x="0" y="5544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748364" y="621885"/>
            <a:ext cx="2791271" cy="231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b="true" sz="1600" spc="259">
                <a:solidFill>
                  <a:srgbClr val="15161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2026/09/08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760046" y="762851"/>
            <a:ext cx="2629015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sz="1200">
                <a:solidFill>
                  <a:srgbClr val="F3F4F3"/>
                </a:solidFill>
                <a:latin typeface="Poppins"/>
                <a:ea typeface="Poppins"/>
                <a:cs typeface="Poppins"/>
                <a:sym typeface="Poppins"/>
              </a:rPr>
              <a:t>https://github.com/Capstone-F5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08246" y="2598104"/>
            <a:ext cx="9147698" cy="860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6500" b="true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계획 대비 진행률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08246" y="1986334"/>
            <a:ext cx="4023889" cy="303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2199" spc="204" b="true">
                <a:solidFill>
                  <a:srgbClr val="151615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Progress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08246" y="4429273"/>
            <a:ext cx="3371359" cy="33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6"/>
              </a:lnSpc>
            </a:pPr>
            <a:r>
              <a:rPr lang="en-US" b="true" sz="2600" spc="-78">
                <a:solidFill>
                  <a:srgbClr val="222222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소프트웨어 개발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460201" y="4429273"/>
            <a:ext cx="3367004" cy="33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6"/>
              </a:lnSpc>
            </a:pPr>
            <a:r>
              <a:rPr lang="en-US" b="true" sz="2600" spc="-78">
                <a:solidFill>
                  <a:srgbClr val="222222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하드웨어 제작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907800" y="4429273"/>
            <a:ext cx="3367004" cy="33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6"/>
              </a:lnSpc>
            </a:pPr>
            <a:r>
              <a:rPr lang="en-US" b="true" sz="2600" spc="-78">
                <a:solidFill>
                  <a:srgbClr val="222222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통합 테스트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75901" y="4956668"/>
            <a:ext cx="4040405" cy="4040405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7123501" y="4956668"/>
            <a:ext cx="4040405" cy="4040405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571100" y="4956668"/>
            <a:ext cx="4040405" cy="4040405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>
            <a:off x="6308725" y="4942115"/>
            <a:ext cx="0" cy="4489634"/>
          </a:xfrm>
          <a:prstGeom prst="line">
            <a:avLst/>
          </a:prstGeom>
          <a:ln cap="rnd" w="19050">
            <a:solidFill>
              <a:srgbClr val="89857F">
                <a:alpha val="32941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>
            <a:off x="11934825" y="4942115"/>
            <a:ext cx="0" cy="4489634"/>
          </a:xfrm>
          <a:prstGeom prst="line">
            <a:avLst/>
          </a:prstGeom>
          <a:ln cap="rnd" w="19050">
            <a:solidFill>
              <a:srgbClr val="89857F">
                <a:alpha val="32941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1028700" y="686443"/>
            <a:ext cx="2871173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1599"/>
              </a:lnSpc>
              <a:buAutoNum type="arabicPeriod" startAt="1"/>
            </a:pPr>
            <a:r>
              <a:rPr lang="en-US" sz="1599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프로젝트 진행률 종합 평가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3938" y="0"/>
            <a:ext cx="20335875" cy="10287000"/>
            <a:chOff x="0" y="0"/>
            <a:chExt cx="271145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600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39850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6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651231" y="612360"/>
            <a:ext cx="271148" cy="286173"/>
          </a:xfrm>
          <a:custGeom>
            <a:avLst/>
            <a:gdLst/>
            <a:ahLst/>
            <a:cxnLst/>
            <a:rect r="r" b="b" t="t" l="l"/>
            <a:pathLst>
              <a:path h="286173" w="271148">
                <a:moveTo>
                  <a:pt x="0" y="0"/>
                </a:moveTo>
                <a:lnTo>
                  <a:pt x="271148" y="0"/>
                </a:lnTo>
                <a:lnTo>
                  <a:pt x="271148" y="286172"/>
                </a:lnTo>
                <a:lnTo>
                  <a:pt x="0" y="286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512338" y="616360"/>
            <a:ext cx="3124432" cy="456813"/>
            <a:chOff x="0" y="0"/>
            <a:chExt cx="822896" cy="1203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2896" cy="120313"/>
            </a:xfrm>
            <a:custGeom>
              <a:avLst/>
              <a:gdLst/>
              <a:ahLst/>
              <a:cxnLst/>
              <a:rect r="r" b="b" t="t" l="l"/>
              <a:pathLst>
                <a:path h="120313" w="822896">
                  <a:moveTo>
                    <a:pt x="60156" y="0"/>
                  </a:moveTo>
                  <a:lnTo>
                    <a:pt x="762739" y="0"/>
                  </a:lnTo>
                  <a:cubicBezTo>
                    <a:pt x="795963" y="0"/>
                    <a:pt x="822896" y="26933"/>
                    <a:pt x="822896" y="60156"/>
                  </a:cubicBezTo>
                  <a:lnTo>
                    <a:pt x="822896" y="60156"/>
                  </a:lnTo>
                  <a:cubicBezTo>
                    <a:pt x="822896" y="93380"/>
                    <a:pt x="795963" y="120313"/>
                    <a:pt x="762739" y="120313"/>
                  </a:cubicBezTo>
                  <a:lnTo>
                    <a:pt x="60156" y="120313"/>
                  </a:lnTo>
                  <a:cubicBezTo>
                    <a:pt x="26933" y="120313"/>
                    <a:pt x="0" y="93380"/>
                    <a:pt x="0" y="60156"/>
                  </a:cubicBezTo>
                  <a:lnTo>
                    <a:pt x="0" y="60156"/>
                  </a:lnTo>
                  <a:cubicBezTo>
                    <a:pt x="0" y="26933"/>
                    <a:pt x="26933" y="0"/>
                    <a:pt x="60156" y="0"/>
                  </a:cubicBezTo>
                  <a:close/>
                </a:path>
              </a:pathLst>
            </a:custGeom>
            <a:solidFill>
              <a:srgbClr val="15161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22896" cy="167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748364" y="621885"/>
            <a:ext cx="2791271" cy="231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b="true" sz="1600" spc="259">
                <a:solidFill>
                  <a:srgbClr val="15161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2026/09/08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760046" y="762851"/>
            <a:ext cx="2629015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sz="1200">
                <a:solidFill>
                  <a:srgbClr val="F3F4F3"/>
                </a:solidFill>
                <a:latin typeface="Poppins"/>
                <a:ea typeface="Poppins"/>
                <a:cs typeface="Poppins"/>
                <a:sym typeface="Poppins"/>
              </a:rPr>
              <a:t>https://github.com/Capstone-F5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67136" y="1679702"/>
            <a:ext cx="8572500" cy="1044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81"/>
              </a:lnSpc>
            </a:pPr>
            <a:r>
              <a:rPr lang="en-US" sz="6129" b="true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목표</a:t>
            </a:r>
            <a:r>
              <a:rPr lang="en-US" sz="6129" b="true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 대비 현재 수준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000250" y="3019425"/>
            <a:ext cx="2190750" cy="571500"/>
            <a:chOff x="0" y="0"/>
            <a:chExt cx="2921000" cy="7620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25400"/>
              <a:ext cx="50800" cy="736600"/>
              <a:chOff x="0" y="0"/>
              <a:chExt cx="50800" cy="7366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50800" cy="736600"/>
              </a:xfrm>
              <a:custGeom>
                <a:avLst/>
                <a:gdLst/>
                <a:ahLst/>
                <a:cxnLst/>
                <a:rect r="r" b="b" t="t" l="l"/>
                <a:pathLst>
                  <a:path h="736600" w="50800">
                    <a:moveTo>
                      <a:pt x="25400" y="0"/>
                    </a:moveTo>
                    <a:cubicBezTo>
                      <a:pt x="39428" y="0"/>
                      <a:pt x="50800" y="11372"/>
                      <a:pt x="50800" y="25400"/>
                    </a:cubicBezTo>
                    <a:lnTo>
                      <a:pt x="50800" y="711200"/>
                    </a:lnTo>
                    <a:cubicBezTo>
                      <a:pt x="50800" y="725228"/>
                      <a:pt x="39428" y="736600"/>
                      <a:pt x="25400" y="736600"/>
                    </a:cubicBezTo>
                    <a:cubicBezTo>
                      <a:pt x="11372" y="736600"/>
                      <a:pt x="0" y="725228"/>
                      <a:pt x="0" y="711200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close/>
                  </a:path>
                </a:pathLst>
              </a:custGeom>
              <a:solidFill>
                <a:srgbClr val="3B82F6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28575"/>
                <a:ext cx="50800" cy="7651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254000" y="-57150"/>
              <a:ext cx="1524000" cy="556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 b="true">
                  <a:solidFill>
                    <a:srgbClr val="3B82F6"/>
                  </a:solidFill>
                  <a:latin typeface="네모고딕 Medium"/>
                  <a:ea typeface="네모고딕 Medium"/>
                  <a:cs typeface="네모고딕 Medium"/>
                  <a:sym typeface="네모고딕 Medium"/>
                </a:rPr>
                <a:t>5건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254000" y="428625"/>
              <a:ext cx="2667000" cy="267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 b="true">
                  <a:solidFill>
                    <a:srgbClr val="6E716F"/>
                  </a:solidFill>
                  <a:latin typeface="네모고딕 Medium"/>
                  <a:ea typeface="네모고딕 Medium"/>
                  <a:cs typeface="네모고딕 Medium"/>
                  <a:sym typeface="네모고딕 Medium"/>
                </a:rPr>
                <a:t>계획 진행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953250" y="3019425"/>
            <a:ext cx="2190750" cy="571500"/>
            <a:chOff x="0" y="0"/>
            <a:chExt cx="2921000" cy="76200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25400"/>
              <a:ext cx="50800" cy="736600"/>
              <a:chOff x="0" y="0"/>
              <a:chExt cx="50800" cy="7366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50800" cy="736600"/>
              </a:xfrm>
              <a:custGeom>
                <a:avLst/>
                <a:gdLst/>
                <a:ahLst/>
                <a:cxnLst/>
                <a:rect r="r" b="b" t="t" l="l"/>
                <a:pathLst>
                  <a:path h="736600" w="50800">
                    <a:moveTo>
                      <a:pt x="25400" y="0"/>
                    </a:moveTo>
                    <a:cubicBezTo>
                      <a:pt x="39428" y="0"/>
                      <a:pt x="50800" y="11372"/>
                      <a:pt x="50800" y="25400"/>
                    </a:cubicBezTo>
                    <a:lnTo>
                      <a:pt x="50800" y="711200"/>
                    </a:lnTo>
                    <a:cubicBezTo>
                      <a:pt x="50800" y="725228"/>
                      <a:pt x="39428" y="736600"/>
                      <a:pt x="25400" y="736600"/>
                    </a:cubicBezTo>
                    <a:cubicBezTo>
                      <a:pt x="11372" y="736600"/>
                      <a:pt x="0" y="725228"/>
                      <a:pt x="0" y="711200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close/>
                  </a:path>
                </a:pathLst>
              </a:custGeom>
              <a:solidFill>
                <a:srgbClr val="22A06B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28575"/>
                <a:ext cx="50800" cy="7651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254000" y="-57150"/>
              <a:ext cx="1524000" cy="556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 b="true">
                  <a:solidFill>
                    <a:srgbClr val="22A06B"/>
                  </a:solidFill>
                  <a:latin typeface="네모고딕 Medium"/>
                  <a:ea typeface="네모고딕 Medium"/>
                  <a:cs typeface="네모고딕 Medium"/>
                  <a:sym typeface="네모고딕 Medium"/>
                </a:rPr>
                <a:t>4건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254000" y="428625"/>
              <a:ext cx="2667000" cy="267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 b="true">
                  <a:solidFill>
                    <a:srgbClr val="6E716F"/>
                  </a:solidFill>
                  <a:latin typeface="네모고딕 Medium"/>
                  <a:ea typeface="네모고딕 Medium"/>
                  <a:cs typeface="네모고딕 Medium"/>
                  <a:sym typeface="네모고딕 Medium"/>
                </a:rPr>
                <a:t>계획 초과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715750" y="3019425"/>
            <a:ext cx="2190750" cy="571500"/>
            <a:chOff x="0" y="0"/>
            <a:chExt cx="2921000" cy="76200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25400"/>
              <a:ext cx="50800" cy="736600"/>
              <a:chOff x="0" y="0"/>
              <a:chExt cx="50800" cy="7366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50800" cy="736600"/>
              </a:xfrm>
              <a:custGeom>
                <a:avLst/>
                <a:gdLst/>
                <a:ahLst/>
                <a:cxnLst/>
                <a:rect r="r" b="b" t="t" l="l"/>
                <a:pathLst>
                  <a:path h="736600" w="50800">
                    <a:moveTo>
                      <a:pt x="25400" y="0"/>
                    </a:moveTo>
                    <a:cubicBezTo>
                      <a:pt x="39428" y="0"/>
                      <a:pt x="50800" y="11372"/>
                      <a:pt x="50800" y="25400"/>
                    </a:cubicBezTo>
                    <a:lnTo>
                      <a:pt x="50800" y="711200"/>
                    </a:lnTo>
                    <a:cubicBezTo>
                      <a:pt x="50800" y="725228"/>
                      <a:pt x="39428" y="736600"/>
                      <a:pt x="25400" y="736600"/>
                    </a:cubicBezTo>
                    <a:cubicBezTo>
                      <a:pt x="11372" y="736600"/>
                      <a:pt x="0" y="725228"/>
                      <a:pt x="0" y="711200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close/>
                  </a:path>
                </a:pathLst>
              </a:custGeom>
              <a:solidFill>
                <a:srgbClr val="D97706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28575"/>
                <a:ext cx="50800" cy="7651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254000" y="-57150"/>
              <a:ext cx="1524000" cy="556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 b="true">
                  <a:solidFill>
                    <a:srgbClr val="D97706"/>
                  </a:solidFill>
                  <a:latin typeface="네모고딕 Medium"/>
                  <a:ea typeface="네모고딕 Medium"/>
                  <a:cs typeface="네모고딕 Medium"/>
                  <a:sym typeface="네모고딕 Medium"/>
                </a:rPr>
                <a:t>4건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254000" y="428625"/>
              <a:ext cx="2667000" cy="267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 b="true">
                  <a:solidFill>
                    <a:srgbClr val="6E716F"/>
                  </a:solidFill>
                  <a:latin typeface="네모고딕 Medium"/>
                  <a:ea typeface="네모고딕 Medium"/>
                  <a:cs typeface="네모고딕 Medium"/>
                  <a:sym typeface="네모고딕 Medium"/>
                </a:rPr>
                <a:t>지연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2000250" y="3971925"/>
            <a:ext cx="4572000" cy="3476625"/>
            <a:chOff x="0" y="0"/>
            <a:chExt cx="6096000" cy="46355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096000" cy="4635500"/>
            </a:xfrm>
            <a:custGeom>
              <a:avLst/>
              <a:gdLst/>
              <a:ahLst/>
              <a:cxnLst/>
              <a:rect r="r" b="b" t="t" l="l"/>
              <a:pathLst>
                <a:path h="4635500" w="6096000">
                  <a:moveTo>
                    <a:pt x="177800" y="0"/>
                  </a:moveTo>
                  <a:lnTo>
                    <a:pt x="5918200" y="0"/>
                  </a:lnTo>
                  <a:cubicBezTo>
                    <a:pt x="6016396" y="0"/>
                    <a:pt x="6096000" y="79604"/>
                    <a:pt x="6096000" y="177800"/>
                  </a:cubicBezTo>
                  <a:lnTo>
                    <a:pt x="6096000" y="4457700"/>
                  </a:lnTo>
                  <a:cubicBezTo>
                    <a:pt x="6096000" y="4555896"/>
                    <a:pt x="6016396" y="4635500"/>
                    <a:pt x="5918200" y="4635500"/>
                  </a:cubicBezTo>
                  <a:lnTo>
                    <a:pt x="177800" y="4635500"/>
                  </a:lnTo>
                  <a:cubicBezTo>
                    <a:pt x="79604" y="4635500"/>
                    <a:pt x="0" y="4555896"/>
                    <a:pt x="0" y="44577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FCFCFC"/>
            </a:solidFill>
            <a:ln w="9525" cap="sq">
              <a:solidFill>
                <a:srgbClr val="D7D9D7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6096000" cy="4664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2000250" y="4691062"/>
            <a:ext cx="4572000" cy="66675"/>
            <a:chOff x="0" y="0"/>
            <a:chExt cx="6096000" cy="889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096000" cy="88900"/>
            </a:xfrm>
            <a:custGeom>
              <a:avLst/>
              <a:gdLst/>
              <a:ahLst/>
              <a:cxnLst/>
              <a:rect r="r" b="b" t="t" l="l"/>
              <a:pathLst>
                <a:path h="88900" w="6096000">
                  <a:moveTo>
                    <a:pt x="44450" y="0"/>
                  </a:moveTo>
                  <a:lnTo>
                    <a:pt x="6051550" y="0"/>
                  </a:lnTo>
                  <a:cubicBezTo>
                    <a:pt x="6076099" y="0"/>
                    <a:pt x="6096000" y="19901"/>
                    <a:pt x="6096000" y="44450"/>
                  </a:cubicBezTo>
                  <a:cubicBezTo>
                    <a:pt x="6096000" y="68999"/>
                    <a:pt x="6076099" y="88900"/>
                    <a:pt x="6051550" y="88900"/>
                  </a:cubicBezTo>
                  <a:lnTo>
                    <a:pt x="44450" y="88900"/>
                  </a:lnTo>
                  <a:cubicBezTo>
                    <a:pt x="19901" y="88900"/>
                    <a:pt x="0" y="68999"/>
                    <a:pt x="0" y="44450"/>
                  </a:cubicBezTo>
                  <a:cubicBezTo>
                    <a:pt x="0" y="19901"/>
                    <a:pt x="19901" y="0"/>
                    <a:pt x="44450" y="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6096000" cy="11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2266950" y="4210050"/>
            <a:ext cx="47625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3B82F6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01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743200" y="4143375"/>
            <a:ext cx="3562350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계획대로 진행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266950" y="4905375"/>
            <a:ext cx="3048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 b="true">
                <a:solidFill>
                  <a:srgbClr val="3B82F6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01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667000" y="4895850"/>
            <a:ext cx="36385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DB API 서버 · 7월 완료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2667000" y="5305425"/>
            <a:ext cx="3638550" cy="9525"/>
            <a:chOff x="0" y="0"/>
            <a:chExt cx="4851400" cy="127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851400" cy="12700"/>
            </a:xfrm>
            <a:custGeom>
              <a:avLst/>
              <a:gdLst/>
              <a:ahLst/>
              <a:cxnLst/>
              <a:rect r="r" b="b" t="t" l="l"/>
              <a:pathLst>
                <a:path h="12700" w="4851400">
                  <a:moveTo>
                    <a:pt x="0" y="0"/>
                  </a:moveTo>
                  <a:lnTo>
                    <a:pt x="4851400" y="0"/>
                  </a:lnTo>
                  <a:lnTo>
                    <a:pt x="4851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7E9E7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28575"/>
              <a:ext cx="4851400" cy="41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2266950" y="5400675"/>
            <a:ext cx="3048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 b="true">
                <a:solidFill>
                  <a:srgbClr val="3B82F6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02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667000" y="5391150"/>
            <a:ext cx="36385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YOLO 사용자 탐지 · 8월 완료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2667000" y="5800725"/>
            <a:ext cx="3638550" cy="9525"/>
            <a:chOff x="0" y="0"/>
            <a:chExt cx="4851400" cy="127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851400" cy="12700"/>
            </a:xfrm>
            <a:custGeom>
              <a:avLst/>
              <a:gdLst/>
              <a:ahLst/>
              <a:cxnLst/>
              <a:rect r="r" b="b" t="t" l="l"/>
              <a:pathLst>
                <a:path h="12700" w="4851400">
                  <a:moveTo>
                    <a:pt x="0" y="0"/>
                  </a:moveTo>
                  <a:lnTo>
                    <a:pt x="4851400" y="0"/>
                  </a:lnTo>
                  <a:lnTo>
                    <a:pt x="4851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7E9E7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4851400" cy="41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2266950" y="5895975"/>
            <a:ext cx="3048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 b="true">
                <a:solidFill>
                  <a:srgbClr val="3B82F6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03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667000" y="5886450"/>
            <a:ext cx="36385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STT 업그레이드 · 8월 완료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2667000" y="6296025"/>
            <a:ext cx="3638550" cy="9525"/>
            <a:chOff x="0" y="0"/>
            <a:chExt cx="4851400" cy="127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851400" cy="12700"/>
            </a:xfrm>
            <a:custGeom>
              <a:avLst/>
              <a:gdLst/>
              <a:ahLst/>
              <a:cxnLst/>
              <a:rect r="r" b="b" t="t" l="l"/>
              <a:pathLst>
                <a:path h="12700" w="4851400">
                  <a:moveTo>
                    <a:pt x="0" y="0"/>
                  </a:moveTo>
                  <a:lnTo>
                    <a:pt x="4851400" y="0"/>
                  </a:lnTo>
                  <a:lnTo>
                    <a:pt x="4851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7E9E7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4851400" cy="41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2266950" y="6391275"/>
            <a:ext cx="3048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 b="true">
                <a:solidFill>
                  <a:srgbClr val="3B82F6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04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2667000" y="6381750"/>
            <a:ext cx="36385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하드웨어 설계 확정 · 8월 완료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2667000" y="6791325"/>
            <a:ext cx="3638550" cy="9525"/>
            <a:chOff x="0" y="0"/>
            <a:chExt cx="4851400" cy="127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851400" cy="12700"/>
            </a:xfrm>
            <a:custGeom>
              <a:avLst/>
              <a:gdLst/>
              <a:ahLst/>
              <a:cxnLst/>
              <a:rect r="r" b="b" t="t" l="l"/>
              <a:pathLst>
                <a:path h="12700" w="4851400">
                  <a:moveTo>
                    <a:pt x="0" y="0"/>
                  </a:moveTo>
                  <a:lnTo>
                    <a:pt x="4851400" y="0"/>
                  </a:lnTo>
                  <a:lnTo>
                    <a:pt x="4851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7E9E7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4851400" cy="41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2266950" y="6886575"/>
            <a:ext cx="3048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 b="true">
                <a:solidFill>
                  <a:srgbClr val="3B82F6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05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2667000" y="6877050"/>
            <a:ext cx="36385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하드웨어 모델링 · 90% 진행 중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6858000" y="3971925"/>
            <a:ext cx="4572000" cy="3476625"/>
            <a:chOff x="0" y="0"/>
            <a:chExt cx="6096000" cy="46355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096000" cy="4635500"/>
            </a:xfrm>
            <a:custGeom>
              <a:avLst/>
              <a:gdLst/>
              <a:ahLst/>
              <a:cxnLst/>
              <a:rect r="r" b="b" t="t" l="l"/>
              <a:pathLst>
                <a:path h="4635500" w="6096000">
                  <a:moveTo>
                    <a:pt x="177800" y="0"/>
                  </a:moveTo>
                  <a:lnTo>
                    <a:pt x="5918200" y="0"/>
                  </a:lnTo>
                  <a:cubicBezTo>
                    <a:pt x="6016396" y="0"/>
                    <a:pt x="6096000" y="79604"/>
                    <a:pt x="6096000" y="177800"/>
                  </a:cubicBezTo>
                  <a:lnTo>
                    <a:pt x="6096000" y="4457700"/>
                  </a:lnTo>
                  <a:cubicBezTo>
                    <a:pt x="6096000" y="4555896"/>
                    <a:pt x="6016396" y="4635500"/>
                    <a:pt x="5918200" y="4635500"/>
                  </a:cubicBezTo>
                  <a:lnTo>
                    <a:pt x="177800" y="4635500"/>
                  </a:lnTo>
                  <a:cubicBezTo>
                    <a:pt x="79604" y="4635500"/>
                    <a:pt x="0" y="4555896"/>
                    <a:pt x="0" y="44577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FCFCFC"/>
            </a:solidFill>
            <a:ln w="9525" cap="sq">
              <a:solidFill>
                <a:srgbClr val="D7D9D7"/>
              </a:solidFill>
              <a:prstDash val="solid"/>
              <a:miter/>
            </a:ln>
          </p:spPr>
        </p:sp>
        <p:sp>
          <p:nvSpPr>
            <p:cNvPr name="TextBox 62" id="62"/>
            <p:cNvSpPr txBox="true"/>
            <p:nvPr/>
          </p:nvSpPr>
          <p:spPr>
            <a:xfrm>
              <a:off x="0" y="-28575"/>
              <a:ext cx="6096000" cy="4664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6858000" y="4691062"/>
            <a:ext cx="4572000" cy="66675"/>
            <a:chOff x="0" y="0"/>
            <a:chExt cx="6096000" cy="889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096000" cy="88900"/>
            </a:xfrm>
            <a:custGeom>
              <a:avLst/>
              <a:gdLst/>
              <a:ahLst/>
              <a:cxnLst/>
              <a:rect r="r" b="b" t="t" l="l"/>
              <a:pathLst>
                <a:path h="88900" w="6096000">
                  <a:moveTo>
                    <a:pt x="44450" y="0"/>
                  </a:moveTo>
                  <a:lnTo>
                    <a:pt x="6051550" y="0"/>
                  </a:lnTo>
                  <a:cubicBezTo>
                    <a:pt x="6076099" y="0"/>
                    <a:pt x="6096000" y="19901"/>
                    <a:pt x="6096000" y="44450"/>
                  </a:cubicBezTo>
                  <a:cubicBezTo>
                    <a:pt x="6096000" y="68999"/>
                    <a:pt x="6076099" y="88900"/>
                    <a:pt x="6051550" y="88900"/>
                  </a:cubicBezTo>
                  <a:lnTo>
                    <a:pt x="44450" y="88900"/>
                  </a:lnTo>
                  <a:cubicBezTo>
                    <a:pt x="19901" y="88900"/>
                    <a:pt x="0" y="68999"/>
                    <a:pt x="0" y="44450"/>
                  </a:cubicBezTo>
                  <a:cubicBezTo>
                    <a:pt x="0" y="19901"/>
                    <a:pt x="19901" y="0"/>
                    <a:pt x="44450" y="0"/>
                  </a:cubicBezTo>
                  <a:close/>
                </a:path>
              </a:pathLst>
            </a:custGeom>
            <a:solidFill>
              <a:srgbClr val="22A06B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28575"/>
              <a:ext cx="6096000" cy="11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7124700" y="4210050"/>
            <a:ext cx="47625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22A06B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02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7600950" y="4143375"/>
            <a:ext cx="3562350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계획보다 앞선 부분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7124700" y="4905375"/>
            <a:ext cx="3048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 b="true">
                <a:solidFill>
                  <a:srgbClr val="22A06B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01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7524750" y="4895850"/>
            <a:ext cx="36385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관리자 시스템 전체 · 계획 외 추가, 8월 초 완료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7524750" y="5305425"/>
            <a:ext cx="3638550" cy="9525"/>
            <a:chOff x="0" y="0"/>
            <a:chExt cx="4851400" cy="127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4851400" cy="12700"/>
            </a:xfrm>
            <a:custGeom>
              <a:avLst/>
              <a:gdLst/>
              <a:ahLst/>
              <a:cxnLst/>
              <a:rect r="r" b="b" t="t" l="l"/>
              <a:pathLst>
                <a:path h="12700" w="4851400">
                  <a:moveTo>
                    <a:pt x="0" y="0"/>
                  </a:moveTo>
                  <a:lnTo>
                    <a:pt x="4851400" y="0"/>
                  </a:lnTo>
                  <a:lnTo>
                    <a:pt x="4851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7E9E7"/>
            </a:solid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28575"/>
              <a:ext cx="4851400" cy="41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3" id="73"/>
          <p:cNvSpPr txBox="true"/>
          <p:nvPr/>
        </p:nvSpPr>
        <p:spPr>
          <a:xfrm rot="0">
            <a:off x="7124700" y="5400675"/>
            <a:ext cx="3048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 b="true">
                <a:solidFill>
                  <a:srgbClr val="22A06B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02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7524750" y="5391150"/>
            <a:ext cx="36385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Cloudflare Tunnel 배포 · 약 2주 조기 완료</a:t>
            </a:r>
          </a:p>
        </p:txBody>
      </p:sp>
      <p:grpSp>
        <p:nvGrpSpPr>
          <p:cNvPr name="Group 75" id="75"/>
          <p:cNvGrpSpPr/>
          <p:nvPr/>
        </p:nvGrpSpPr>
        <p:grpSpPr>
          <a:xfrm rot="0">
            <a:off x="7524750" y="5800725"/>
            <a:ext cx="3638550" cy="9525"/>
            <a:chOff x="0" y="0"/>
            <a:chExt cx="4851400" cy="127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851400" cy="12700"/>
            </a:xfrm>
            <a:custGeom>
              <a:avLst/>
              <a:gdLst/>
              <a:ahLst/>
              <a:cxnLst/>
              <a:rect r="r" b="b" t="t" l="l"/>
              <a:pathLst>
                <a:path h="12700" w="4851400">
                  <a:moveTo>
                    <a:pt x="0" y="0"/>
                  </a:moveTo>
                  <a:lnTo>
                    <a:pt x="4851400" y="0"/>
                  </a:lnTo>
                  <a:lnTo>
                    <a:pt x="4851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7E9E7"/>
            </a:solid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28575"/>
              <a:ext cx="4851400" cy="41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8" id="78"/>
          <p:cNvSpPr txBox="true"/>
          <p:nvPr/>
        </p:nvSpPr>
        <p:spPr>
          <a:xfrm rot="0">
            <a:off x="7124700" y="5895975"/>
            <a:ext cx="3048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 b="true">
                <a:solidFill>
                  <a:srgbClr val="22A06B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03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7524750" y="5886450"/>
            <a:ext cx="36385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LLM 에이전트 고도화 · 도구 11개, 범위 초과</a:t>
            </a:r>
          </a:p>
        </p:txBody>
      </p:sp>
      <p:grpSp>
        <p:nvGrpSpPr>
          <p:cNvPr name="Group 80" id="80"/>
          <p:cNvGrpSpPr/>
          <p:nvPr/>
        </p:nvGrpSpPr>
        <p:grpSpPr>
          <a:xfrm rot="0">
            <a:off x="7524750" y="6296025"/>
            <a:ext cx="3638550" cy="9525"/>
            <a:chOff x="0" y="0"/>
            <a:chExt cx="4851400" cy="127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851400" cy="12700"/>
            </a:xfrm>
            <a:custGeom>
              <a:avLst/>
              <a:gdLst/>
              <a:ahLst/>
              <a:cxnLst/>
              <a:rect r="r" b="b" t="t" l="l"/>
              <a:pathLst>
                <a:path h="12700" w="4851400">
                  <a:moveTo>
                    <a:pt x="0" y="0"/>
                  </a:moveTo>
                  <a:lnTo>
                    <a:pt x="4851400" y="0"/>
                  </a:lnTo>
                  <a:lnTo>
                    <a:pt x="4851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7E9E7"/>
            </a:solid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28575"/>
              <a:ext cx="4851400" cy="41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3" id="83"/>
          <p:cNvSpPr txBox="true"/>
          <p:nvPr/>
        </p:nvSpPr>
        <p:spPr>
          <a:xfrm rot="0">
            <a:off x="7124700" y="6391275"/>
            <a:ext cx="3048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 b="true">
                <a:solidFill>
                  <a:srgbClr val="22A06B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04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7524750" y="6381750"/>
            <a:ext cx="36385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할인·쿠폰 시스템 · 계획 외 추가 완료</a:t>
            </a:r>
          </a:p>
        </p:txBody>
      </p:sp>
      <p:grpSp>
        <p:nvGrpSpPr>
          <p:cNvPr name="Group 85" id="85"/>
          <p:cNvGrpSpPr/>
          <p:nvPr/>
        </p:nvGrpSpPr>
        <p:grpSpPr>
          <a:xfrm rot="0">
            <a:off x="11715750" y="3971925"/>
            <a:ext cx="4572000" cy="3476625"/>
            <a:chOff x="0" y="0"/>
            <a:chExt cx="6096000" cy="46355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6096000" cy="4635500"/>
            </a:xfrm>
            <a:custGeom>
              <a:avLst/>
              <a:gdLst/>
              <a:ahLst/>
              <a:cxnLst/>
              <a:rect r="r" b="b" t="t" l="l"/>
              <a:pathLst>
                <a:path h="4635500" w="6096000">
                  <a:moveTo>
                    <a:pt x="177800" y="0"/>
                  </a:moveTo>
                  <a:lnTo>
                    <a:pt x="5918200" y="0"/>
                  </a:lnTo>
                  <a:cubicBezTo>
                    <a:pt x="6016396" y="0"/>
                    <a:pt x="6096000" y="79604"/>
                    <a:pt x="6096000" y="177800"/>
                  </a:cubicBezTo>
                  <a:lnTo>
                    <a:pt x="6096000" y="4457700"/>
                  </a:lnTo>
                  <a:cubicBezTo>
                    <a:pt x="6096000" y="4555896"/>
                    <a:pt x="6016396" y="4635500"/>
                    <a:pt x="5918200" y="4635500"/>
                  </a:cubicBezTo>
                  <a:lnTo>
                    <a:pt x="177800" y="4635500"/>
                  </a:lnTo>
                  <a:cubicBezTo>
                    <a:pt x="79604" y="4635500"/>
                    <a:pt x="0" y="4555896"/>
                    <a:pt x="0" y="44577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FCFCFC"/>
            </a:solidFill>
            <a:ln w="9525" cap="sq">
              <a:solidFill>
                <a:srgbClr val="D7D9D7"/>
              </a:solidFill>
              <a:prstDash val="solid"/>
              <a:miter/>
            </a:ln>
          </p:spPr>
        </p:sp>
        <p:sp>
          <p:nvSpPr>
            <p:cNvPr name="TextBox 87" id="87"/>
            <p:cNvSpPr txBox="true"/>
            <p:nvPr/>
          </p:nvSpPr>
          <p:spPr>
            <a:xfrm>
              <a:off x="0" y="-28575"/>
              <a:ext cx="6096000" cy="4664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1715750" y="4679950"/>
            <a:ext cx="4572000" cy="66675"/>
            <a:chOff x="0" y="0"/>
            <a:chExt cx="6096000" cy="889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6096000" cy="88900"/>
            </a:xfrm>
            <a:custGeom>
              <a:avLst/>
              <a:gdLst/>
              <a:ahLst/>
              <a:cxnLst/>
              <a:rect r="r" b="b" t="t" l="l"/>
              <a:pathLst>
                <a:path h="88900" w="6096000">
                  <a:moveTo>
                    <a:pt x="44450" y="0"/>
                  </a:moveTo>
                  <a:lnTo>
                    <a:pt x="6051550" y="0"/>
                  </a:lnTo>
                  <a:cubicBezTo>
                    <a:pt x="6076099" y="0"/>
                    <a:pt x="6096000" y="19901"/>
                    <a:pt x="6096000" y="44450"/>
                  </a:cubicBezTo>
                  <a:cubicBezTo>
                    <a:pt x="6096000" y="68999"/>
                    <a:pt x="6076099" y="88900"/>
                    <a:pt x="6051550" y="88900"/>
                  </a:cubicBezTo>
                  <a:lnTo>
                    <a:pt x="44450" y="88900"/>
                  </a:lnTo>
                  <a:cubicBezTo>
                    <a:pt x="19901" y="88900"/>
                    <a:pt x="0" y="68999"/>
                    <a:pt x="0" y="44450"/>
                  </a:cubicBezTo>
                  <a:cubicBezTo>
                    <a:pt x="0" y="19901"/>
                    <a:pt x="19901" y="0"/>
                    <a:pt x="44450" y="0"/>
                  </a:cubicBezTo>
                  <a:close/>
                </a:path>
              </a:pathLst>
            </a:custGeom>
            <a:solidFill>
              <a:srgbClr val="D97706"/>
            </a:solid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28575"/>
              <a:ext cx="6096000" cy="11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1" id="91"/>
          <p:cNvSpPr txBox="true"/>
          <p:nvPr/>
        </p:nvSpPr>
        <p:spPr>
          <a:xfrm rot="0">
            <a:off x="11982450" y="4210050"/>
            <a:ext cx="47625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D97706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03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12458700" y="4143375"/>
            <a:ext cx="3562350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계획보다 지연된 부분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11982450" y="4905375"/>
            <a:ext cx="3048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 b="true">
                <a:solidFill>
                  <a:srgbClr val="D97706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01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2382500" y="4895850"/>
            <a:ext cx="36385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손동작 UI · 수량 선택 팝업 미구현</a:t>
            </a:r>
          </a:p>
        </p:txBody>
      </p:sp>
      <p:grpSp>
        <p:nvGrpSpPr>
          <p:cNvPr name="Group 95" id="95"/>
          <p:cNvGrpSpPr/>
          <p:nvPr/>
        </p:nvGrpSpPr>
        <p:grpSpPr>
          <a:xfrm rot="0">
            <a:off x="12382500" y="5305425"/>
            <a:ext cx="3638550" cy="9525"/>
            <a:chOff x="0" y="0"/>
            <a:chExt cx="4851400" cy="1270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4851400" cy="12700"/>
            </a:xfrm>
            <a:custGeom>
              <a:avLst/>
              <a:gdLst/>
              <a:ahLst/>
              <a:cxnLst/>
              <a:rect r="r" b="b" t="t" l="l"/>
              <a:pathLst>
                <a:path h="12700" w="4851400">
                  <a:moveTo>
                    <a:pt x="0" y="0"/>
                  </a:moveTo>
                  <a:lnTo>
                    <a:pt x="4851400" y="0"/>
                  </a:lnTo>
                  <a:lnTo>
                    <a:pt x="4851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7E9E7"/>
            </a:solid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28575"/>
              <a:ext cx="4851400" cy="41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8" id="98"/>
          <p:cNvSpPr txBox="true"/>
          <p:nvPr/>
        </p:nvSpPr>
        <p:spPr>
          <a:xfrm rot="0">
            <a:off x="11982450" y="5400675"/>
            <a:ext cx="3048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 b="true">
                <a:solidFill>
                  <a:srgbClr val="D97706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02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2382500" y="5391150"/>
            <a:ext cx="36385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하드웨어 출력·조립 · 60%, 1~2주 지연</a:t>
            </a:r>
          </a:p>
        </p:txBody>
      </p:sp>
      <p:grpSp>
        <p:nvGrpSpPr>
          <p:cNvPr name="Group 100" id="100"/>
          <p:cNvGrpSpPr/>
          <p:nvPr/>
        </p:nvGrpSpPr>
        <p:grpSpPr>
          <a:xfrm rot="0">
            <a:off x="12382500" y="5800725"/>
            <a:ext cx="3638550" cy="9525"/>
            <a:chOff x="0" y="0"/>
            <a:chExt cx="4851400" cy="1270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4851400" cy="12700"/>
            </a:xfrm>
            <a:custGeom>
              <a:avLst/>
              <a:gdLst/>
              <a:ahLst/>
              <a:cxnLst/>
              <a:rect r="r" b="b" t="t" l="l"/>
              <a:pathLst>
                <a:path h="12700" w="4851400">
                  <a:moveTo>
                    <a:pt x="0" y="0"/>
                  </a:moveTo>
                  <a:lnTo>
                    <a:pt x="4851400" y="0"/>
                  </a:lnTo>
                  <a:lnTo>
                    <a:pt x="4851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7E9E7"/>
            </a:solid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28575"/>
              <a:ext cx="4851400" cy="41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3" id="103"/>
          <p:cNvSpPr txBox="true"/>
          <p:nvPr/>
        </p:nvSpPr>
        <p:spPr>
          <a:xfrm rot="0">
            <a:off x="11982450" y="5895975"/>
            <a:ext cx="3048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 b="true">
                <a:solidFill>
                  <a:srgbClr val="D97706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03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12382500" y="5886450"/>
            <a:ext cx="3638550" cy="48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HW-SW 통합 테스트 · 하드웨어 미완성으로 미진행</a:t>
            </a:r>
          </a:p>
        </p:txBody>
      </p:sp>
      <p:grpSp>
        <p:nvGrpSpPr>
          <p:cNvPr name="Group 105" id="105"/>
          <p:cNvGrpSpPr/>
          <p:nvPr/>
        </p:nvGrpSpPr>
        <p:grpSpPr>
          <a:xfrm rot="0">
            <a:off x="12382500" y="6296025"/>
            <a:ext cx="3638550" cy="9525"/>
            <a:chOff x="0" y="0"/>
            <a:chExt cx="4851400" cy="1270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4851400" cy="12700"/>
            </a:xfrm>
            <a:custGeom>
              <a:avLst/>
              <a:gdLst/>
              <a:ahLst/>
              <a:cxnLst/>
              <a:rect r="r" b="b" t="t" l="l"/>
              <a:pathLst>
                <a:path h="12700" w="4851400">
                  <a:moveTo>
                    <a:pt x="0" y="0"/>
                  </a:moveTo>
                  <a:lnTo>
                    <a:pt x="4851400" y="0"/>
                  </a:lnTo>
                  <a:lnTo>
                    <a:pt x="4851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7E9E7"/>
            </a:solid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28575"/>
              <a:ext cx="4851400" cy="41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8" id="108"/>
          <p:cNvSpPr txBox="true"/>
          <p:nvPr/>
        </p:nvSpPr>
        <p:spPr>
          <a:xfrm rot="0">
            <a:off x="11982450" y="6391275"/>
            <a:ext cx="3048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 b="true">
                <a:solidFill>
                  <a:srgbClr val="D97706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04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12382500" y="6381750"/>
            <a:ext cx="36385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잔여 이슈 · 알레르기·멤버십 등 10건</a:t>
            </a:r>
          </a:p>
        </p:txBody>
      </p:sp>
      <p:grpSp>
        <p:nvGrpSpPr>
          <p:cNvPr name="Group 110" id="110"/>
          <p:cNvGrpSpPr/>
          <p:nvPr/>
        </p:nvGrpSpPr>
        <p:grpSpPr>
          <a:xfrm rot="0">
            <a:off x="2000250" y="7686675"/>
            <a:ext cx="14287500" cy="1619250"/>
            <a:chOff x="0" y="0"/>
            <a:chExt cx="19050000" cy="21590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9050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19050000">
                  <a:moveTo>
                    <a:pt x="177800" y="0"/>
                  </a:moveTo>
                  <a:lnTo>
                    <a:pt x="18872200" y="0"/>
                  </a:lnTo>
                  <a:cubicBezTo>
                    <a:pt x="18970396" y="0"/>
                    <a:pt x="19050000" y="79604"/>
                    <a:pt x="19050000" y="177800"/>
                  </a:cubicBezTo>
                  <a:lnTo>
                    <a:pt x="19050000" y="1981200"/>
                  </a:lnTo>
                  <a:cubicBezTo>
                    <a:pt x="19050000" y="2079396"/>
                    <a:pt x="18970396" y="2159000"/>
                    <a:pt x="18872200" y="2159000"/>
                  </a:cubicBezTo>
                  <a:lnTo>
                    <a:pt x="177800" y="2159000"/>
                  </a:lnTo>
                  <a:cubicBezTo>
                    <a:pt x="79604" y="2159000"/>
                    <a:pt x="0" y="2079396"/>
                    <a:pt x="0" y="1981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ECEEEC"/>
            </a:solidFill>
            <a:ln w="9525" cap="sq">
              <a:solidFill>
                <a:srgbClr val="D7D9D7"/>
              </a:solidFill>
              <a:prstDash val="solid"/>
              <a:miter/>
            </a:ln>
          </p:spPr>
        </p:sp>
        <p:sp>
          <p:nvSpPr>
            <p:cNvPr name="TextBox 112" id="112"/>
            <p:cNvSpPr txBox="true"/>
            <p:nvPr/>
          </p:nvSpPr>
          <p:spPr>
            <a:xfrm>
              <a:off x="0" y="-28575"/>
              <a:ext cx="19050000" cy="2187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3" id="113"/>
          <p:cNvSpPr txBox="true"/>
          <p:nvPr/>
        </p:nvSpPr>
        <p:spPr>
          <a:xfrm rot="0">
            <a:off x="2266950" y="7839075"/>
            <a:ext cx="1714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지연 원인</a:t>
            </a:r>
          </a:p>
        </p:txBody>
      </p:sp>
      <p:grpSp>
        <p:nvGrpSpPr>
          <p:cNvPr name="Group 114" id="114"/>
          <p:cNvGrpSpPr/>
          <p:nvPr/>
        </p:nvGrpSpPr>
        <p:grpSpPr>
          <a:xfrm rot="0">
            <a:off x="2266950" y="8315325"/>
            <a:ext cx="66675" cy="66675"/>
            <a:chOff x="0" y="0"/>
            <a:chExt cx="88900" cy="8890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88900" cy="88900"/>
            </a:xfrm>
            <a:custGeom>
              <a:avLst/>
              <a:gdLst/>
              <a:ahLst/>
              <a:cxnLst/>
              <a:rect r="r" b="b" t="t" l="l"/>
              <a:pathLst>
                <a:path h="88900" w="88900">
                  <a:moveTo>
                    <a:pt x="0" y="44450"/>
                  </a:moveTo>
                  <a:cubicBezTo>
                    <a:pt x="0" y="68999"/>
                    <a:pt x="19901" y="88900"/>
                    <a:pt x="44450" y="88900"/>
                  </a:cubicBezTo>
                  <a:cubicBezTo>
                    <a:pt x="68999" y="88900"/>
                    <a:pt x="88900" y="68999"/>
                    <a:pt x="88900" y="44450"/>
                  </a:cubicBezTo>
                  <a:cubicBezTo>
                    <a:pt x="88900" y="19901"/>
                    <a:pt x="68999" y="0"/>
                    <a:pt x="44450" y="0"/>
                  </a:cubicBezTo>
                  <a:cubicBezTo>
                    <a:pt x="19901" y="0"/>
                    <a:pt x="0" y="19901"/>
                    <a:pt x="0" y="44450"/>
                  </a:cubicBezTo>
                  <a:close/>
                </a:path>
              </a:pathLst>
            </a:custGeom>
            <a:solidFill>
              <a:srgbClr val="D97706"/>
            </a:solid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28575"/>
              <a:ext cx="88900" cy="11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7" id="117"/>
          <p:cNvSpPr txBox="true"/>
          <p:nvPr/>
        </p:nvSpPr>
        <p:spPr>
          <a:xfrm rot="0">
            <a:off x="2457450" y="8229600"/>
            <a:ext cx="63817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손동작 UI: 수량 선택 UX·연동 방식 결정 지연</a:t>
            </a:r>
          </a:p>
        </p:txBody>
      </p:sp>
      <p:grpSp>
        <p:nvGrpSpPr>
          <p:cNvPr name="Group 118" id="118"/>
          <p:cNvGrpSpPr/>
          <p:nvPr/>
        </p:nvGrpSpPr>
        <p:grpSpPr>
          <a:xfrm rot="0">
            <a:off x="9220200" y="8315325"/>
            <a:ext cx="66675" cy="66675"/>
            <a:chOff x="0" y="0"/>
            <a:chExt cx="88900" cy="8890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88900" cy="88900"/>
            </a:xfrm>
            <a:custGeom>
              <a:avLst/>
              <a:gdLst/>
              <a:ahLst/>
              <a:cxnLst/>
              <a:rect r="r" b="b" t="t" l="l"/>
              <a:pathLst>
                <a:path h="88900" w="88900">
                  <a:moveTo>
                    <a:pt x="0" y="44450"/>
                  </a:moveTo>
                  <a:cubicBezTo>
                    <a:pt x="0" y="68999"/>
                    <a:pt x="19901" y="88900"/>
                    <a:pt x="44450" y="88900"/>
                  </a:cubicBezTo>
                  <a:cubicBezTo>
                    <a:pt x="68999" y="88900"/>
                    <a:pt x="88900" y="68999"/>
                    <a:pt x="88900" y="44450"/>
                  </a:cubicBezTo>
                  <a:cubicBezTo>
                    <a:pt x="88900" y="19901"/>
                    <a:pt x="68999" y="0"/>
                    <a:pt x="44450" y="0"/>
                  </a:cubicBezTo>
                  <a:cubicBezTo>
                    <a:pt x="19901" y="0"/>
                    <a:pt x="0" y="19901"/>
                    <a:pt x="0" y="44450"/>
                  </a:cubicBezTo>
                  <a:close/>
                </a:path>
              </a:pathLst>
            </a:custGeom>
            <a:solidFill>
              <a:srgbClr val="D97706"/>
            </a:solid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28575"/>
              <a:ext cx="88900" cy="11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1" id="121"/>
          <p:cNvSpPr txBox="true"/>
          <p:nvPr/>
        </p:nvSpPr>
        <p:spPr>
          <a:xfrm rot="0">
            <a:off x="9410700" y="8229600"/>
            <a:ext cx="63817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하드웨어 제작: 3D 모델링 정밀도·출력 시간 증가</a:t>
            </a:r>
          </a:p>
        </p:txBody>
      </p:sp>
      <p:grpSp>
        <p:nvGrpSpPr>
          <p:cNvPr name="Group 122" id="122"/>
          <p:cNvGrpSpPr/>
          <p:nvPr/>
        </p:nvGrpSpPr>
        <p:grpSpPr>
          <a:xfrm rot="0">
            <a:off x="2266950" y="8743950"/>
            <a:ext cx="66675" cy="66675"/>
            <a:chOff x="0" y="0"/>
            <a:chExt cx="88900" cy="889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88900" cy="88900"/>
            </a:xfrm>
            <a:custGeom>
              <a:avLst/>
              <a:gdLst/>
              <a:ahLst/>
              <a:cxnLst/>
              <a:rect r="r" b="b" t="t" l="l"/>
              <a:pathLst>
                <a:path h="88900" w="88900">
                  <a:moveTo>
                    <a:pt x="0" y="44450"/>
                  </a:moveTo>
                  <a:cubicBezTo>
                    <a:pt x="0" y="68999"/>
                    <a:pt x="19901" y="88900"/>
                    <a:pt x="44450" y="88900"/>
                  </a:cubicBezTo>
                  <a:cubicBezTo>
                    <a:pt x="68999" y="88900"/>
                    <a:pt x="88900" y="68999"/>
                    <a:pt x="88900" y="44450"/>
                  </a:cubicBezTo>
                  <a:cubicBezTo>
                    <a:pt x="88900" y="19901"/>
                    <a:pt x="68999" y="0"/>
                    <a:pt x="44450" y="0"/>
                  </a:cubicBezTo>
                  <a:cubicBezTo>
                    <a:pt x="19901" y="0"/>
                    <a:pt x="0" y="19901"/>
                    <a:pt x="0" y="44450"/>
                  </a:cubicBezTo>
                  <a:close/>
                </a:path>
              </a:pathLst>
            </a:custGeom>
            <a:solidFill>
              <a:srgbClr val="D97706"/>
            </a:solid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28575"/>
              <a:ext cx="88900" cy="11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5" id="125"/>
          <p:cNvSpPr txBox="true"/>
          <p:nvPr/>
        </p:nvSpPr>
        <p:spPr>
          <a:xfrm rot="0">
            <a:off x="2457450" y="8658225"/>
            <a:ext cx="63817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통합 테스트: 하드웨어 조립 완료가 선행 조건</a:t>
            </a:r>
          </a:p>
        </p:txBody>
      </p:sp>
      <p:grpSp>
        <p:nvGrpSpPr>
          <p:cNvPr name="Group 126" id="126"/>
          <p:cNvGrpSpPr/>
          <p:nvPr/>
        </p:nvGrpSpPr>
        <p:grpSpPr>
          <a:xfrm rot="0">
            <a:off x="9220200" y="8743950"/>
            <a:ext cx="66675" cy="66675"/>
            <a:chOff x="0" y="0"/>
            <a:chExt cx="88900" cy="8890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88900" cy="88900"/>
            </a:xfrm>
            <a:custGeom>
              <a:avLst/>
              <a:gdLst/>
              <a:ahLst/>
              <a:cxnLst/>
              <a:rect r="r" b="b" t="t" l="l"/>
              <a:pathLst>
                <a:path h="88900" w="88900">
                  <a:moveTo>
                    <a:pt x="0" y="44450"/>
                  </a:moveTo>
                  <a:cubicBezTo>
                    <a:pt x="0" y="68999"/>
                    <a:pt x="19901" y="88900"/>
                    <a:pt x="44450" y="88900"/>
                  </a:cubicBezTo>
                  <a:cubicBezTo>
                    <a:pt x="68999" y="88900"/>
                    <a:pt x="88900" y="68999"/>
                    <a:pt x="88900" y="44450"/>
                  </a:cubicBezTo>
                  <a:cubicBezTo>
                    <a:pt x="88900" y="19901"/>
                    <a:pt x="68999" y="0"/>
                    <a:pt x="44450" y="0"/>
                  </a:cubicBezTo>
                  <a:cubicBezTo>
                    <a:pt x="19901" y="0"/>
                    <a:pt x="0" y="19901"/>
                    <a:pt x="0" y="44450"/>
                  </a:cubicBezTo>
                  <a:close/>
                </a:path>
              </a:pathLst>
            </a:custGeom>
            <a:solidFill>
              <a:srgbClr val="D97706"/>
            </a:solid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28575"/>
              <a:ext cx="88900" cy="11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9" id="129"/>
          <p:cNvSpPr txBox="true"/>
          <p:nvPr/>
        </p:nvSpPr>
        <p:spPr>
          <a:xfrm rot="0">
            <a:off x="9410700" y="8658225"/>
            <a:ext cx="63817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공통 요인: 원격 개발로 협업·테스트 제약</a:t>
            </a:r>
          </a:p>
        </p:txBody>
      </p:sp>
      <p:sp>
        <p:nvSpPr>
          <p:cNvPr name="TextBox 130" id="130"/>
          <p:cNvSpPr txBox="true"/>
          <p:nvPr/>
        </p:nvSpPr>
        <p:spPr>
          <a:xfrm rot="0">
            <a:off x="1028700" y="686443"/>
            <a:ext cx="2871173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1599"/>
              </a:lnSpc>
              <a:buAutoNum type="arabicPeriod" startAt="1"/>
            </a:pPr>
            <a:r>
              <a:rPr lang="en-US" sz="1599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프로젝트 진행률 종합 평가</a:t>
            </a:r>
          </a:p>
        </p:txBody>
      </p:sp>
      <p:sp>
        <p:nvSpPr>
          <p:cNvPr name="TextBox 131" id="131"/>
          <p:cNvSpPr txBox="true"/>
          <p:nvPr/>
        </p:nvSpPr>
        <p:spPr>
          <a:xfrm rot="0">
            <a:off x="2000250" y="1376172"/>
            <a:ext cx="4023889" cy="303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2199" spc="204" b="true">
                <a:solidFill>
                  <a:srgbClr val="151615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Progress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3938" y="0"/>
            <a:ext cx="20335875" cy="10287000"/>
            <a:chOff x="0" y="0"/>
            <a:chExt cx="271145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600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39850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6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2003648" y="3884423"/>
            <a:ext cx="6975196" cy="2688950"/>
            <a:chOff x="0" y="0"/>
            <a:chExt cx="1837089" cy="70820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37089" cy="708201"/>
            </a:xfrm>
            <a:custGeom>
              <a:avLst/>
              <a:gdLst/>
              <a:ahLst/>
              <a:cxnLst/>
              <a:rect r="r" b="b" t="t" l="l"/>
              <a:pathLst>
                <a:path h="708201" w="1837089">
                  <a:moveTo>
                    <a:pt x="33298" y="0"/>
                  </a:moveTo>
                  <a:lnTo>
                    <a:pt x="1803791" y="0"/>
                  </a:lnTo>
                  <a:cubicBezTo>
                    <a:pt x="1812622" y="0"/>
                    <a:pt x="1821092" y="3508"/>
                    <a:pt x="1827336" y="9753"/>
                  </a:cubicBezTo>
                  <a:cubicBezTo>
                    <a:pt x="1833581" y="15997"/>
                    <a:pt x="1837089" y="24467"/>
                    <a:pt x="1837089" y="33298"/>
                  </a:cubicBezTo>
                  <a:lnTo>
                    <a:pt x="1837089" y="674903"/>
                  </a:lnTo>
                  <a:cubicBezTo>
                    <a:pt x="1837089" y="683734"/>
                    <a:pt x="1833581" y="692204"/>
                    <a:pt x="1827336" y="698448"/>
                  </a:cubicBezTo>
                  <a:cubicBezTo>
                    <a:pt x="1821092" y="704693"/>
                    <a:pt x="1812622" y="708201"/>
                    <a:pt x="1803791" y="708201"/>
                  </a:cubicBezTo>
                  <a:lnTo>
                    <a:pt x="33298" y="708201"/>
                  </a:lnTo>
                  <a:cubicBezTo>
                    <a:pt x="14908" y="708201"/>
                    <a:pt x="0" y="693293"/>
                    <a:pt x="0" y="674903"/>
                  </a:cubicBezTo>
                  <a:lnTo>
                    <a:pt x="0" y="33298"/>
                  </a:lnTo>
                  <a:cubicBezTo>
                    <a:pt x="0" y="24467"/>
                    <a:pt x="3508" y="15997"/>
                    <a:pt x="9753" y="9753"/>
                  </a:cubicBezTo>
                  <a:cubicBezTo>
                    <a:pt x="15997" y="3508"/>
                    <a:pt x="24467" y="0"/>
                    <a:pt x="33298" y="0"/>
                  </a:cubicBezTo>
                  <a:close/>
                </a:path>
              </a:pathLst>
            </a:custGeom>
            <a:solidFill>
              <a:srgbClr val="FCFCFC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66675"/>
              <a:ext cx="1837089" cy="6415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49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309156" y="3884423"/>
            <a:ext cx="6975196" cy="2688950"/>
            <a:chOff x="0" y="0"/>
            <a:chExt cx="1837089" cy="70820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37089" cy="708201"/>
            </a:xfrm>
            <a:custGeom>
              <a:avLst/>
              <a:gdLst/>
              <a:ahLst/>
              <a:cxnLst/>
              <a:rect r="r" b="b" t="t" l="l"/>
              <a:pathLst>
                <a:path h="708201" w="1837089">
                  <a:moveTo>
                    <a:pt x="33298" y="0"/>
                  </a:moveTo>
                  <a:lnTo>
                    <a:pt x="1803791" y="0"/>
                  </a:lnTo>
                  <a:cubicBezTo>
                    <a:pt x="1812622" y="0"/>
                    <a:pt x="1821092" y="3508"/>
                    <a:pt x="1827336" y="9753"/>
                  </a:cubicBezTo>
                  <a:cubicBezTo>
                    <a:pt x="1833581" y="15997"/>
                    <a:pt x="1837089" y="24467"/>
                    <a:pt x="1837089" y="33298"/>
                  </a:cubicBezTo>
                  <a:lnTo>
                    <a:pt x="1837089" y="674903"/>
                  </a:lnTo>
                  <a:cubicBezTo>
                    <a:pt x="1837089" y="683734"/>
                    <a:pt x="1833581" y="692204"/>
                    <a:pt x="1827336" y="698448"/>
                  </a:cubicBezTo>
                  <a:cubicBezTo>
                    <a:pt x="1821092" y="704693"/>
                    <a:pt x="1812622" y="708201"/>
                    <a:pt x="1803791" y="708201"/>
                  </a:cubicBezTo>
                  <a:lnTo>
                    <a:pt x="33298" y="708201"/>
                  </a:lnTo>
                  <a:cubicBezTo>
                    <a:pt x="14908" y="708201"/>
                    <a:pt x="0" y="693293"/>
                    <a:pt x="0" y="674903"/>
                  </a:cubicBezTo>
                  <a:lnTo>
                    <a:pt x="0" y="33298"/>
                  </a:lnTo>
                  <a:cubicBezTo>
                    <a:pt x="0" y="24467"/>
                    <a:pt x="3508" y="15997"/>
                    <a:pt x="9753" y="9753"/>
                  </a:cubicBezTo>
                  <a:cubicBezTo>
                    <a:pt x="15997" y="3508"/>
                    <a:pt x="24467" y="0"/>
                    <a:pt x="33298" y="0"/>
                  </a:cubicBezTo>
                  <a:close/>
                </a:path>
              </a:pathLst>
            </a:custGeom>
            <a:solidFill>
              <a:srgbClr val="FCFCFC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66675"/>
              <a:ext cx="1837089" cy="6415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49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10800000">
            <a:off x="2003648" y="6754348"/>
            <a:ext cx="14285302" cy="2656020"/>
            <a:chOff x="0" y="0"/>
            <a:chExt cx="3332163" cy="61953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32163" cy="619538"/>
            </a:xfrm>
            <a:custGeom>
              <a:avLst/>
              <a:gdLst/>
              <a:ahLst/>
              <a:cxnLst/>
              <a:rect r="r" b="b" t="t" l="l"/>
              <a:pathLst>
                <a:path h="619538" w="3332163">
                  <a:moveTo>
                    <a:pt x="3255963" y="0"/>
                  </a:moveTo>
                  <a:cubicBezTo>
                    <a:pt x="3294063" y="0"/>
                    <a:pt x="3332163" y="25400"/>
                    <a:pt x="3332163" y="63500"/>
                  </a:cubicBezTo>
                  <a:lnTo>
                    <a:pt x="3332163" y="416338"/>
                  </a:lnTo>
                  <a:cubicBezTo>
                    <a:pt x="3332163" y="454438"/>
                    <a:pt x="3294063" y="492538"/>
                    <a:pt x="3255963" y="492538"/>
                  </a:cubicBezTo>
                  <a:lnTo>
                    <a:pt x="266700" y="492538"/>
                  </a:lnTo>
                  <a:lnTo>
                    <a:pt x="127000" y="619538"/>
                  </a:lnTo>
                  <a:lnTo>
                    <a:pt x="127000" y="492538"/>
                  </a:lnTo>
                  <a:lnTo>
                    <a:pt x="76200" y="492538"/>
                  </a:lnTo>
                  <a:cubicBezTo>
                    <a:pt x="38100" y="492538"/>
                    <a:pt x="0" y="454438"/>
                    <a:pt x="0" y="416338"/>
                  </a:cubicBezTo>
                  <a:lnTo>
                    <a:pt x="0" y="63500"/>
                  </a:lnTo>
                  <a:cubicBezTo>
                    <a:pt x="0" y="25400"/>
                    <a:pt x="38100" y="0"/>
                    <a:pt x="76200" y="0"/>
                  </a:cubicBezTo>
                  <a:lnTo>
                    <a:pt x="3255963" y="0"/>
                  </a:lnTo>
                  <a:close/>
                </a:path>
              </a:pathLst>
            </a:custGeom>
            <a:solidFill>
              <a:srgbClr val="CACACA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63500" y="130175"/>
              <a:ext cx="3205163" cy="2988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494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651231" y="612360"/>
            <a:ext cx="271148" cy="286173"/>
          </a:xfrm>
          <a:custGeom>
            <a:avLst/>
            <a:gdLst/>
            <a:ahLst/>
            <a:cxnLst/>
            <a:rect r="r" b="b" t="t" l="l"/>
            <a:pathLst>
              <a:path h="286173" w="271148">
                <a:moveTo>
                  <a:pt x="0" y="0"/>
                </a:moveTo>
                <a:lnTo>
                  <a:pt x="271148" y="0"/>
                </a:lnTo>
                <a:lnTo>
                  <a:pt x="271148" y="286172"/>
                </a:lnTo>
                <a:lnTo>
                  <a:pt x="0" y="286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7748364" y="621885"/>
            <a:ext cx="2791271" cy="231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b="true" sz="1600" spc="259">
                <a:solidFill>
                  <a:srgbClr val="15161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2026/09/08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4512338" y="616360"/>
            <a:ext cx="3124432" cy="456813"/>
            <a:chOff x="0" y="0"/>
            <a:chExt cx="822896" cy="12031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22896" cy="120313"/>
            </a:xfrm>
            <a:custGeom>
              <a:avLst/>
              <a:gdLst/>
              <a:ahLst/>
              <a:cxnLst/>
              <a:rect r="r" b="b" t="t" l="l"/>
              <a:pathLst>
                <a:path h="120313" w="822896">
                  <a:moveTo>
                    <a:pt x="60156" y="0"/>
                  </a:moveTo>
                  <a:lnTo>
                    <a:pt x="762739" y="0"/>
                  </a:lnTo>
                  <a:cubicBezTo>
                    <a:pt x="795963" y="0"/>
                    <a:pt x="822896" y="26933"/>
                    <a:pt x="822896" y="60156"/>
                  </a:cubicBezTo>
                  <a:lnTo>
                    <a:pt x="822896" y="60156"/>
                  </a:lnTo>
                  <a:cubicBezTo>
                    <a:pt x="822896" y="93380"/>
                    <a:pt x="795963" y="120313"/>
                    <a:pt x="762739" y="120313"/>
                  </a:cubicBezTo>
                  <a:lnTo>
                    <a:pt x="60156" y="120313"/>
                  </a:lnTo>
                  <a:cubicBezTo>
                    <a:pt x="26933" y="120313"/>
                    <a:pt x="0" y="93380"/>
                    <a:pt x="0" y="60156"/>
                  </a:cubicBezTo>
                  <a:lnTo>
                    <a:pt x="0" y="60156"/>
                  </a:lnTo>
                  <a:cubicBezTo>
                    <a:pt x="0" y="26933"/>
                    <a:pt x="26933" y="0"/>
                    <a:pt x="60156" y="0"/>
                  </a:cubicBezTo>
                  <a:close/>
                </a:path>
              </a:pathLst>
            </a:custGeom>
            <a:solidFill>
              <a:srgbClr val="151615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822896" cy="167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4760046" y="762851"/>
            <a:ext cx="2629015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sz="1200">
                <a:solidFill>
                  <a:srgbClr val="F3F4F3"/>
                </a:solidFill>
                <a:latin typeface="Poppins"/>
                <a:ea typeface="Poppins"/>
                <a:cs typeface="Poppins"/>
                <a:sym typeface="Poppins"/>
              </a:rPr>
              <a:t>https://github.com/Capstone-F5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6498500" y="9133151"/>
            <a:ext cx="760800" cy="554433"/>
          </a:xfrm>
          <a:custGeom>
            <a:avLst/>
            <a:gdLst/>
            <a:ahLst/>
            <a:cxnLst/>
            <a:rect r="r" b="b" t="t" l="l"/>
            <a:pathLst>
              <a:path h="554433" w="760800">
                <a:moveTo>
                  <a:pt x="0" y="0"/>
                </a:moveTo>
                <a:lnTo>
                  <a:pt x="760800" y="0"/>
                </a:lnTo>
                <a:lnTo>
                  <a:pt x="760800" y="554433"/>
                </a:lnTo>
                <a:lnTo>
                  <a:pt x="0" y="5544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6563014" y="1957759"/>
            <a:ext cx="631771" cy="635745"/>
          </a:xfrm>
          <a:custGeom>
            <a:avLst/>
            <a:gdLst/>
            <a:ahLst/>
            <a:cxnLst/>
            <a:rect r="r" b="b" t="t" l="l"/>
            <a:pathLst>
              <a:path h="635745" w="631771">
                <a:moveTo>
                  <a:pt x="0" y="0"/>
                </a:moveTo>
                <a:lnTo>
                  <a:pt x="631772" y="0"/>
                </a:lnTo>
                <a:lnTo>
                  <a:pt x="631772" y="635745"/>
                </a:lnTo>
                <a:lnTo>
                  <a:pt x="0" y="63574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008246" y="2598104"/>
            <a:ext cx="12880959" cy="860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6500" b="true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현재 프로젝트의 완성 가능성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008246" y="1986334"/>
            <a:ext cx="4023889" cy="303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2199" spc="204" b="true">
                <a:solidFill>
                  <a:srgbClr val="151615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Completion Feasibility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170915" y="3966672"/>
            <a:ext cx="2153053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222222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잔여 항목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170915" y="7325848"/>
            <a:ext cx="5716068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20"/>
              </a:lnSpc>
              <a:spcBef>
                <a:spcPct val="0"/>
              </a:spcBef>
            </a:pPr>
            <a:r>
              <a:rPr lang="en-US" b="true" sz="2800">
                <a:solidFill>
                  <a:srgbClr val="222222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AI 한줄평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747041" y="7508093"/>
            <a:ext cx="571606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222222"/>
                </a:solidFill>
                <a:latin typeface="네모고딕"/>
                <a:ea typeface="네모고딕"/>
                <a:cs typeface="네모고딕"/>
                <a:sym typeface="네모고딕"/>
              </a:rPr>
              <a:t>Claude Code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463109" y="3966672"/>
            <a:ext cx="2153053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222222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위험 요소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349020" y="4613447"/>
            <a:ext cx="4271739" cy="1604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51" indent="-172725" lvl="1">
              <a:lnSpc>
                <a:spcPts val="2560"/>
              </a:lnSpc>
              <a:buFont typeface="Arial"/>
              <a:buChar char="•"/>
            </a:pPr>
            <a:r>
              <a:rPr lang="en-US" sz="16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하드웨어 출력/조립 완성</a:t>
            </a:r>
          </a:p>
          <a:p>
            <a:pPr algn="l" marL="345451" indent="-172725" lvl="1">
              <a:lnSpc>
                <a:spcPts val="2560"/>
              </a:lnSpc>
              <a:buFont typeface="Arial"/>
              <a:buChar char="•"/>
            </a:pPr>
            <a:r>
              <a:rPr lang="en-US" sz="16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HW-SW 통합 연결 동작 테스트</a:t>
            </a:r>
          </a:p>
          <a:p>
            <a:pPr algn="l" marL="345451" indent="-172725" lvl="1">
              <a:lnSpc>
                <a:spcPts val="2560"/>
              </a:lnSpc>
              <a:buFont typeface="Arial"/>
              <a:buChar char="•"/>
            </a:pPr>
            <a:r>
              <a:rPr lang="en-US" sz="16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손가락 수 수량 선택 UI</a:t>
            </a:r>
          </a:p>
          <a:p>
            <a:pPr algn="l" marL="345451" indent="-172725" lvl="1">
              <a:lnSpc>
                <a:spcPts val="2560"/>
              </a:lnSpc>
              <a:buFont typeface="Arial"/>
              <a:buChar char="•"/>
            </a:pPr>
            <a:r>
              <a:rPr lang="en-US" sz="16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알레르기 관리자 설정 페이지</a:t>
            </a:r>
          </a:p>
          <a:p>
            <a:pPr algn="l" marL="345451" indent="-172725" lvl="1">
              <a:lnSpc>
                <a:spcPts val="2560"/>
              </a:lnSpc>
              <a:buFont typeface="Arial"/>
              <a:buChar char="•"/>
            </a:pPr>
            <a:r>
              <a:rPr lang="en-US" sz="16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YOLO모델 추가 학습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608813" y="4613447"/>
            <a:ext cx="4271739" cy="956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51" indent="-172725" lvl="1">
              <a:lnSpc>
                <a:spcPts val="2560"/>
              </a:lnSpc>
              <a:buFont typeface="Arial"/>
              <a:buChar char="•"/>
            </a:pPr>
            <a:r>
              <a:rPr lang="en-US" sz="16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3D프린팅 출력 지연 or 문제 발생</a:t>
            </a:r>
          </a:p>
          <a:p>
            <a:pPr algn="l" marL="345451" indent="-172725" lvl="1">
              <a:lnSpc>
                <a:spcPts val="2560"/>
              </a:lnSpc>
              <a:buFont typeface="Arial"/>
              <a:buChar char="•"/>
            </a:pPr>
            <a:r>
              <a:rPr lang="en-US" sz="16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HW 조립 지연 or 문제 발생</a:t>
            </a:r>
          </a:p>
          <a:p>
            <a:pPr algn="l" marL="345451" indent="-172725" lvl="1">
              <a:lnSpc>
                <a:spcPts val="2560"/>
              </a:lnSpc>
              <a:buFont typeface="Arial"/>
              <a:buChar char="•"/>
            </a:pPr>
            <a:r>
              <a:rPr lang="en-US" sz="16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통합 테스트 지연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213387" y="8119473"/>
            <a:ext cx="13865824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소프트웨어 완성도 96%, AI 기능 전부 동작 중, 배포 환경도 준비 완료 — 지금 이 프로젝트의 완성을 </a:t>
            </a:r>
          </a:p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막는 건 코드가 아니라 3D 프린터 출력 시간뿐입니다. 11월 마감 기준 완성 가능성은 **95%**로 봅니다.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28700" y="686443"/>
            <a:ext cx="2871173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1599"/>
              </a:lnSpc>
              <a:buAutoNum type="arabicPeriod" startAt="1"/>
            </a:pPr>
            <a:r>
              <a:rPr lang="en-US" sz="1599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프로젝트 진행률 종합 평가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00138" y="0"/>
            <a:ext cx="20335875" cy="10287000"/>
            <a:chOff x="0" y="0"/>
            <a:chExt cx="271145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600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39850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6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651231" y="612360"/>
            <a:ext cx="271148" cy="286173"/>
          </a:xfrm>
          <a:custGeom>
            <a:avLst/>
            <a:gdLst/>
            <a:ahLst/>
            <a:cxnLst/>
            <a:rect r="r" b="b" t="t" l="l"/>
            <a:pathLst>
              <a:path h="286173" w="271148">
                <a:moveTo>
                  <a:pt x="0" y="0"/>
                </a:moveTo>
                <a:lnTo>
                  <a:pt x="271148" y="0"/>
                </a:lnTo>
                <a:lnTo>
                  <a:pt x="271148" y="286172"/>
                </a:lnTo>
                <a:lnTo>
                  <a:pt x="0" y="286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512338" y="616360"/>
            <a:ext cx="3124432" cy="456813"/>
            <a:chOff x="0" y="0"/>
            <a:chExt cx="822896" cy="1203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2896" cy="120313"/>
            </a:xfrm>
            <a:custGeom>
              <a:avLst/>
              <a:gdLst/>
              <a:ahLst/>
              <a:cxnLst/>
              <a:rect r="r" b="b" t="t" l="l"/>
              <a:pathLst>
                <a:path h="120313" w="822896">
                  <a:moveTo>
                    <a:pt x="60156" y="0"/>
                  </a:moveTo>
                  <a:lnTo>
                    <a:pt x="762739" y="0"/>
                  </a:lnTo>
                  <a:cubicBezTo>
                    <a:pt x="795963" y="0"/>
                    <a:pt x="822896" y="26933"/>
                    <a:pt x="822896" y="60156"/>
                  </a:cubicBezTo>
                  <a:lnTo>
                    <a:pt x="822896" y="60156"/>
                  </a:lnTo>
                  <a:cubicBezTo>
                    <a:pt x="822896" y="93380"/>
                    <a:pt x="795963" y="120313"/>
                    <a:pt x="762739" y="120313"/>
                  </a:cubicBezTo>
                  <a:lnTo>
                    <a:pt x="60156" y="120313"/>
                  </a:lnTo>
                  <a:cubicBezTo>
                    <a:pt x="26933" y="120313"/>
                    <a:pt x="0" y="93380"/>
                    <a:pt x="0" y="60156"/>
                  </a:cubicBezTo>
                  <a:lnTo>
                    <a:pt x="0" y="60156"/>
                  </a:lnTo>
                  <a:cubicBezTo>
                    <a:pt x="0" y="26933"/>
                    <a:pt x="26933" y="0"/>
                    <a:pt x="60156" y="0"/>
                  </a:cubicBezTo>
                  <a:close/>
                </a:path>
              </a:pathLst>
            </a:custGeom>
            <a:solidFill>
              <a:srgbClr val="15161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22896" cy="167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748364" y="621885"/>
            <a:ext cx="2791271" cy="231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b="true" sz="1600" spc="259">
                <a:solidFill>
                  <a:srgbClr val="15161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2026/09/08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760046" y="762851"/>
            <a:ext cx="2629015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sz="1200">
                <a:solidFill>
                  <a:srgbClr val="F3F4F3"/>
                </a:solidFill>
                <a:latin typeface="Poppins"/>
                <a:ea typeface="Poppins"/>
                <a:cs typeface="Poppins"/>
                <a:sym typeface="Poppins"/>
              </a:rPr>
              <a:t>https://github.com/Capstone-F5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52836" y="1936182"/>
            <a:ext cx="8572500" cy="1044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81"/>
              </a:lnSpc>
            </a:pPr>
            <a:r>
              <a:rPr lang="en-US" sz="6129" b="true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향후 개발 계획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667000" y="5305425"/>
            <a:ext cx="3638550" cy="9525"/>
            <a:chOff x="0" y="0"/>
            <a:chExt cx="4851400" cy="127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851400" cy="12700"/>
            </a:xfrm>
            <a:custGeom>
              <a:avLst/>
              <a:gdLst/>
              <a:ahLst/>
              <a:cxnLst/>
              <a:rect r="r" b="b" t="t" l="l"/>
              <a:pathLst>
                <a:path h="12700" w="4851400">
                  <a:moveTo>
                    <a:pt x="0" y="0"/>
                  </a:moveTo>
                  <a:lnTo>
                    <a:pt x="4851400" y="0"/>
                  </a:lnTo>
                  <a:lnTo>
                    <a:pt x="4851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7E9E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4851400" cy="41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667000" y="5800725"/>
            <a:ext cx="3638550" cy="9525"/>
            <a:chOff x="0" y="0"/>
            <a:chExt cx="4851400" cy="127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851400" cy="12700"/>
            </a:xfrm>
            <a:custGeom>
              <a:avLst/>
              <a:gdLst/>
              <a:ahLst/>
              <a:cxnLst/>
              <a:rect r="r" b="b" t="t" l="l"/>
              <a:pathLst>
                <a:path h="12700" w="4851400">
                  <a:moveTo>
                    <a:pt x="0" y="0"/>
                  </a:moveTo>
                  <a:lnTo>
                    <a:pt x="4851400" y="0"/>
                  </a:lnTo>
                  <a:lnTo>
                    <a:pt x="4851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7E9E7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4851400" cy="41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667000" y="6296025"/>
            <a:ext cx="3638550" cy="9525"/>
            <a:chOff x="0" y="0"/>
            <a:chExt cx="4851400" cy="127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851400" cy="12700"/>
            </a:xfrm>
            <a:custGeom>
              <a:avLst/>
              <a:gdLst/>
              <a:ahLst/>
              <a:cxnLst/>
              <a:rect r="r" b="b" t="t" l="l"/>
              <a:pathLst>
                <a:path h="12700" w="4851400">
                  <a:moveTo>
                    <a:pt x="0" y="0"/>
                  </a:moveTo>
                  <a:lnTo>
                    <a:pt x="4851400" y="0"/>
                  </a:lnTo>
                  <a:lnTo>
                    <a:pt x="4851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7E9E7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4851400" cy="41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667000" y="6791325"/>
            <a:ext cx="3638550" cy="9525"/>
            <a:chOff x="0" y="0"/>
            <a:chExt cx="4851400" cy="127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851400" cy="12700"/>
            </a:xfrm>
            <a:custGeom>
              <a:avLst/>
              <a:gdLst/>
              <a:ahLst/>
              <a:cxnLst/>
              <a:rect r="r" b="b" t="t" l="l"/>
              <a:pathLst>
                <a:path h="12700" w="4851400">
                  <a:moveTo>
                    <a:pt x="0" y="0"/>
                  </a:moveTo>
                  <a:lnTo>
                    <a:pt x="4851400" y="0"/>
                  </a:lnTo>
                  <a:lnTo>
                    <a:pt x="4851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7E9E7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4851400" cy="41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524750" y="5305425"/>
            <a:ext cx="3638550" cy="9525"/>
            <a:chOff x="0" y="0"/>
            <a:chExt cx="4851400" cy="127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851400" cy="12700"/>
            </a:xfrm>
            <a:custGeom>
              <a:avLst/>
              <a:gdLst/>
              <a:ahLst/>
              <a:cxnLst/>
              <a:rect r="r" b="b" t="t" l="l"/>
              <a:pathLst>
                <a:path h="12700" w="4851400">
                  <a:moveTo>
                    <a:pt x="0" y="0"/>
                  </a:moveTo>
                  <a:lnTo>
                    <a:pt x="4851400" y="0"/>
                  </a:lnTo>
                  <a:lnTo>
                    <a:pt x="4851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7E9E7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4851400" cy="41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524750" y="5800725"/>
            <a:ext cx="3638550" cy="9525"/>
            <a:chOff x="0" y="0"/>
            <a:chExt cx="4851400" cy="127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851400" cy="12700"/>
            </a:xfrm>
            <a:custGeom>
              <a:avLst/>
              <a:gdLst/>
              <a:ahLst/>
              <a:cxnLst/>
              <a:rect r="r" b="b" t="t" l="l"/>
              <a:pathLst>
                <a:path h="12700" w="4851400">
                  <a:moveTo>
                    <a:pt x="0" y="0"/>
                  </a:moveTo>
                  <a:lnTo>
                    <a:pt x="4851400" y="0"/>
                  </a:lnTo>
                  <a:lnTo>
                    <a:pt x="4851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7E9E7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4851400" cy="41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524750" y="6296025"/>
            <a:ext cx="3638550" cy="9525"/>
            <a:chOff x="0" y="0"/>
            <a:chExt cx="4851400" cy="127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851400" cy="12700"/>
            </a:xfrm>
            <a:custGeom>
              <a:avLst/>
              <a:gdLst/>
              <a:ahLst/>
              <a:cxnLst/>
              <a:rect r="r" b="b" t="t" l="l"/>
              <a:pathLst>
                <a:path h="12700" w="4851400">
                  <a:moveTo>
                    <a:pt x="0" y="0"/>
                  </a:moveTo>
                  <a:lnTo>
                    <a:pt x="4851400" y="0"/>
                  </a:lnTo>
                  <a:lnTo>
                    <a:pt x="4851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7E9E7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4851400" cy="41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382500" y="5305425"/>
            <a:ext cx="3638550" cy="9525"/>
            <a:chOff x="0" y="0"/>
            <a:chExt cx="4851400" cy="127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851400" cy="12700"/>
            </a:xfrm>
            <a:custGeom>
              <a:avLst/>
              <a:gdLst/>
              <a:ahLst/>
              <a:cxnLst/>
              <a:rect r="r" b="b" t="t" l="l"/>
              <a:pathLst>
                <a:path h="12700" w="4851400">
                  <a:moveTo>
                    <a:pt x="0" y="0"/>
                  </a:moveTo>
                  <a:lnTo>
                    <a:pt x="4851400" y="0"/>
                  </a:lnTo>
                  <a:lnTo>
                    <a:pt x="4851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7E9E7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4851400" cy="41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382500" y="5800725"/>
            <a:ext cx="3638550" cy="9525"/>
            <a:chOff x="0" y="0"/>
            <a:chExt cx="4851400" cy="127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851400" cy="12700"/>
            </a:xfrm>
            <a:custGeom>
              <a:avLst/>
              <a:gdLst/>
              <a:ahLst/>
              <a:cxnLst/>
              <a:rect r="r" b="b" t="t" l="l"/>
              <a:pathLst>
                <a:path h="12700" w="4851400">
                  <a:moveTo>
                    <a:pt x="0" y="0"/>
                  </a:moveTo>
                  <a:lnTo>
                    <a:pt x="4851400" y="0"/>
                  </a:lnTo>
                  <a:lnTo>
                    <a:pt x="4851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7E9E7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4851400" cy="41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382500" y="6296025"/>
            <a:ext cx="3638550" cy="9525"/>
            <a:chOff x="0" y="0"/>
            <a:chExt cx="4851400" cy="127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851400" cy="12700"/>
            </a:xfrm>
            <a:custGeom>
              <a:avLst/>
              <a:gdLst/>
              <a:ahLst/>
              <a:cxnLst/>
              <a:rect r="r" b="b" t="t" l="l"/>
              <a:pathLst>
                <a:path h="12700" w="4851400">
                  <a:moveTo>
                    <a:pt x="0" y="0"/>
                  </a:moveTo>
                  <a:lnTo>
                    <a:pt x="4851400" y="0"/>
                  </a:lnTo>
                  <a:lnTo>
                    <a:pt x="4851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7E9E7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4851400" cy="41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028700" y="686443"/>
            <a:ext cx="2871173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1599"/>
              </a:lnSpc>
              <a:buAutoNum type="arabicPeriod" startAt="1"/>
            </a:pPr>
            <a:r>
              <a:rPr lang="en-US" sz="1599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2학기 개발 및 완성 계획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885950" y="1632652"/>
            <a:ext cx="4023889" cy="303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2199" spc="204" b="true">
                <a:solidFill>
                  <a:srgbClr val="151615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Next Steps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6815137" y="3686175"/>
            <a:ext cx="38100" cy="552450"/>
            <a:chOff x="0" y="0"/>
            <a:chExt cx="50800" cy="7366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800" cy="736600"/>
            </a:xfrm>
            <a:custGeom>
              <a:avLst/>
              <a:gdLst/>
              <a:ahLst/>
              <a:cxnLst/>
              <a:rect r="r" b="b" t="t" l="l"/>
              <a:pathLst>
                <a:path h="736600" w="50800">
                  <a:moveTo>
                    <a:pt x="25400" y="0"/>
                  </a:moveTo>
                  <a:cubicBezTo>
                    <a:pt x="39428" y="0"/>
                    <a:pt x="50800" y="11372"/>
                    <a:pt x="50800" y="25400"/>
                  </a:cubicBezTo>
                  <a:lnTo>
                    <a:pt x="50800" y="711200"/>
                  </a:lnTo>
                  <a:cubicBezTo>
                    <a:pt x="50800" y="725228"/>
                    <a:pt x="39428" y="736600"/>
                    <a:pt x="25400" y="736600"/>
                  </a:cubicBezTo>
                  <a:cubicBezTo>
                    <a:pt x="11372" y="736600"/>
                    <a:pt x="0" y="725228"/>
                    <a:pt x="0" y="711200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50800" cy="765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843712" y="4619625"/>
            <a:ext cx="4572000" cy="3656890"/>
            <a:chOff x="0" y="0"/>
            <a:chExt cx="6096000" cy="487585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096000" cy="4875853"/>
            </a:xfrm>
            <a:custGeom>
              <a:avLst/>
              <a:gdLst/>
              <a:ahLst/>
              <a:cxnLst/>
              <a:rect r="r" b="b" t="t" l="l"/>
              <a:pathLst>
                <a:path h="4875853" w="6096000">
                  <a:moveTo>
                    <a:pt x="177800" y="0"/>
                  </a:moveTo>
                  <a:lnTo>
                    <a:pt x="5918200" y="0"/>
                  </a:lnTo>
                  <a:cubicBezTo>
                    <a:pt x="6016396" y="0"/>
                    <a:pt x="6096000" y="83731"/>
                    <a:pt x="6096000" y="187019"/>
                  </a:cubicBezTo>
                  <a:lnTo>
                    <a:pt x="6096000" y="4688834"/>
                  </a:lnTo>
                  <a:cubicBezTo>
                    <a:pt x="6096000" y="4792122"/>
                    <a:pt x="6016396" y="4875853"/>
                    <a:pt x="5918200" y="4875853"/>
                  </a:cubicBezTo>
                  <a:lnTo>
                    <a:pt x="177800" y="4875853"/>
                  </a:lnTo>
                  <a:cubicBezTo>
                    <a:pt x="79604" y="4875853"/>
                    <a:pt x="0" y="4792122"/>
                    <a:pt x="0" y="4688834"/>
                  </a:cubicBezTo>
                  <a:lnTo>
                    <a:pt x="0" y="187019"/>
                  </a:lnTo>
                  <a:cubicBezTo>
                    <a:pt x="0" y="83731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ECEEEC"/>
            </a:solidFill>
            <a:ln w="9525" cap="sq">
              <a:solidFill>
                <a:srgbClr val="D7D9D7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6096000" cy="49044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7005637" y="3733800"/>
            <a:ext cx="2448659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7"/>
              </a:lnSpc>
            </a:pPr>
            <a:r>
              <a:rPr lang="en-US" sz="2669" b="true">
                <a:solidFill>
                  <a:srgbClr val="222222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AI 모델 개선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7168599" y="5387779"/>
            <a:ext cx="3855551" cy="2101532"/>
            <a:chOff x="0" y="0"/>
            <a:chExt cx="5140735" cy="2802043"/>
          </a:xfrm>
        </p:grpSpPr>
        <p:sp>
          <p:nvSpPr>
            <p:cNvPr name="TextBox 52" id="52"/>
            <p:cNvSpPr txBox="true"/>
            <p:nvPr/>
          </p:nvSpPr>
          <p:spPr>
            <a:xfrm rot="0">
              <a:off x="289335" y="-28575"/>
              <a:ext cx="4851400" cy="3113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0"/>
                </a:lnSpc>
              </a:pPr>
              <a:r>
                <a:rPr lang="en-US" sz="1400">
                  <a:solidFill>
                    <a:srgbClr val="151615"/>
                  </a:solidFill>
                  <a:latin typeface="네모고딕"/>
                  <a:ea typeface="네모고딕"/>
                  <a:cs typeface="네모고딕"/>
                  <a:sym typeface="네모고딕"/>
                </a:rPr>
                <a:t>LLM 시나리오 테스트 7개 → 15개로 확대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289335" y="631825"/>
              <a:ext cx="4851400" cy="3113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0"/>
                </a:lnSpc>
              </a:pPr>
              <a:r>
                <a:rPr lang="en-US" sz="1400">
                  <a:solidFill>
                    <a:srgbClr val="151615"/>
                  </a:solidFill>
                  <a:latin typeface="네모고딕"/>
                  <a:ea typeface="네모고딕"/>
                  <a:cs typeface="네모고딕"/>
                  <a:sym typeface="네모고딕"/>
                </a:rPr>
                <a:t>STT</a:t>
              </a:r>
              <a:r>
                <a:rPr lang="en-US" sz="1400">
                  <a:solidFill>
                    <a:srgbClr val="151615"/>
                  </a:solidFill>
                  <a:latin typeface="네모고딕"/>
                  <a:ea typeface="네모고딕"/>
                  <a:cs typeface="네모고딕"/>
                  <a:sym typeface="네모고딕"/>
                </a:rPr>
                <a:t> 음성 전처리 전 단계 검토 (노이즈 제거)</a:t>
              </a:r>
            </a:p>
          </p:txBody>
        </p:sp>
        <p:sp>
          <p:nvSpPr>
            <p:cNvPr name="TextBox 54" id="54"/>
            <p:cNvSpPr txBox="true"/>
            <p:nvPr/>
          </p:nvSpPr>
          <p:spPr>
            <a:xfrm rot="0">
              <a:off x="289335" y="1292225"/>
              <a:ext cx="4851400" cy="6415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0"/>
                </a:lnSpc>
              </a:pPr>
              <a:r>
                <a:rPr lang="en-US" sz="1400">
                  <a:solidFill>
                    <a:srgbClr val="151615"/>
                  </a:solidFill>
                  <a:latin typeface="네모고딕"/>
                  <a:ea typeface="네모고딕"/>
                  <a:cs typeface="네모고딕"/>
                  <a:sym typeface="네모고딕"/>
                </a:rPr>
                <a:t>흰</a:t>
              </a:r>
              <a:r>
                <a:rPr lang="en-US" sz="1400">
                  <a:solidFill>
                    <a:srgbClr val="151615"/>
                  </a:solidFill>
                  <a:latin typeface="네모고딕"/>
                  <a:ea typeface="네모고딕"/>
                  <a:cs typeface="네모고딕"/>
                  <a:sym typeface="네모고딕"/>
                </a:rPr>
                <a:t> 지팡이 TFLite: 역광/저조도</a:t>
              </a:r>
            </a:p>
            <a:p>
              <a:pPr algn="l">
                <a:lnSpc>
                  <a:spcPts val="1960"/>
                </a:lnSpc>
              </a:pPr>
              <a:r>
                <a:rPr lang="en-US" sz="1400">
                  <a:solidFill>
                    <a:srgbClr val="151615"/>
                  </a:solidFill>
                  <a:latin typeface="네모고딕"/>
                  <a:ea typeface="네모고딕"/>
                  <a:cs typeface="네모고딕"/>
                  <a:sym typeface="네모고딕"/>
                </a:rPr>
                <a:t>환경 테스트 및 임계값 재조정</a:t>
              </a:r>
            </a:p>
          </p:txBody>
        </p:sp>
        <p:sp>
          <p:nvSpPr>
            <p:cNvPr name="TextBox 55" id="55"/>
            <p:cNvSpPr txBox="true"/>
            <p:nvPr/>
          </p:nvSpPr>
          <p:spPr>
            <a:xfrm rot="0">
              <a:off x="289335" y="2160482"/>
              <a:ext cx="4851400" cy="6415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0"/>
                </a:lnSpc>
              </a:pPr>
              <a:r>
                <a:rPr lang="en-US" sz="1400">
                  <a:solidFill>
                    <a:srgbClr val="151615"/>
                  </a:solidFill>
                  <a:latin typeface="네모고딕"/>
                  <a:ea typeface="네모고딕"/>
                  <a:cs typeface="네모고딕"/>
                  <a:sym typeface="네모고딕"/>
                </a:rPr>
                <a:t>제스처</a:t>
              </a:r>
              <a:r>
                <a:rPr lang="en-US" sz="1400">
                  <a:solidFill>
                    <a:srgbClr val="151615"/>
                  </a:solidFill>
                  <a:latin typeface="네모고딕"/>
                  <a:ea typeface="네모고딕"/>
                  <a:cs typeface="네모고딕"/>
                  <a:sym typeface="네모고딕"/>
                </a:rPr>
                <a:t> 모델: 추가 데이터 수집 후</a:t>
              </a:r>
            </a:p>
            <a:p>
              <a:pPr algn="l">
                <a:lnSpc>
                  <a:spcPts val="1960"/>
                </a:lnSpc>
              </a:pPr>
              <a:r>
                <a:rPr lang="en-US" sz="1400">
                  <a:solidFill>
                    <a:srgbClr val="151615"/>
                  </a:solidFill>
                  <a:latin typeface="네모고딕"/>
                  <a:ea typeface="네모고딕"/>
                  <a:cs typeface="네모고딕"/>
                  <a:sym typeface="네모고딕"/>
                </a:rPr>
                <a:t>재학습으로 정확도 향상</a:t>
              </a:r>
            </a:p>
          </p:txBody>
        </p:sp>
        <p:grpSp>
          <p:nvGrpSpPr>
            <p:cNvPr name="Group 56" id="56"/>
            <p:cNvGrpSpPr/>
            <p:nvPr/>
          </p:nvGrpSpPr>
          <p:grpSpPr>
            <a:xfrm rot="0">
              <a:off x="6350" y="65193"/>
              <a:ext cx="88900" cy="88900"/>
              <a:chOff x="0" y="0"/>
              <a:chExt cx="88900" cy="88900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0"/>
                <a:ext cx="88900" cy="88900"/>
              </a:xfrm>
              <a:custGeom>
                <a:avLst/>
                <a:gdLst/>
                <a:ahLst/>
                <a:cxnLst/>
                <a:rect r="r" b="b" t="t" l="l"/>
                <a:pathLst>
                  <a:path h="88900" w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  <a:close/>
                  </a:path>
                </a:pathLst>
              </a:custGeom>
              <a:solidFill>
                <a:srgbClr val="D97706"/>
              </a:solidFill>
            </p:spPr>
          </p:sp>
          <p:sp>
            <p:nvSpPr>
              <p:cNvPr name="TextBox 58" id="58"/>
              <p:cNvSpPr txBox="true"/>
              <p:nvPr/>
            </p:nvSpPr>
            <p:spPr>
              <a:xfrm>
                <a:off x="0" y="-28575"/>
                <a:ext cx="88900" cy="117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59" id="59"/>
            <p:cNvGrpSpPr/>
            <p:nvPr/>
          </p:nvGrpSpPr>
          <p:grpSpPr>
            <a:xfrm rot="0">
              <a:off x="0" y="725593"/>
              <a:ext cx="88900" cy="88900"/>
              <a:chOff x="0" y="0"/>
              <a:chExt cx="88900" cy="88900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0" y="0"/>
                <a:ext cx="88900" cy="88900"/>
              </a:xfrm>
              <a:custGeom>
                <a:avLst/>
                <a:gdLst/>
                <a:ahLst/>
                <a:cxnLst/>
                <a:rect r="r" b="b" t="t" l="l"/>
                <a:pathLst>
                  <a:path h="88900" w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  <a:close/>
                  </a:path>
                </a:pathLst>
              </a:custGeom>
              <a:solidFill>
                <a:srgbClr val="D97706"/>
              </a:solidFill>
            </p:spPr>
          </p:sp>
          <p:sp>
            <p:nvSpPr>
              <p:cNvPr name="TextBox 61" id="61"/>
              <p:cNvSpPr txBox="true"/>
              <p:nvPr/>
            </p:nvSpPr>
            <p:spPr>
              <a:xfrm>
                <a:off x="0" y="-28575"/>
                <a:ext cx="88900" cy="117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62" id="62"/>
            <p:cNvGrpSpPr/>
            <p:nvPr/>
          </p:nvGrpSpPr>
          <p:grpSpPr>
            <a:xfrm rot="0">
              <a:off x="6350" y="1385993"/>
              <a:ext cx="88900" cy="88900"/>
              <a:chOff x="0" y="0"/>
              <a:chExt cx="88900" cy="88900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88900" cy="88900"/>
              </a:xfrm>
              <a:custGeom>
                <a:avLst/>
                <a:gdLst/>
                <a:ahLst/>
                <a:cxnLst/>
                <a:rect r="r" b="b" t="t" l="l"/>
                <a:pathLst>
                  <a:path h="88900" w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  <a:close/>
                  </a:path>
                </a:pathLst>
              </a:custGeom>
              <a:solidFill>
                <a:srgbClr val="D97706"/>
              </a:solidFill>
            </p:spPr>
          </p:sp>
          <p:sp>
            <p:nvSpPr>
              <p:cNvPr name="TextBox 64" id="64"/>
              <p:cNvSpPr txBox="true"/>
              <p:nvPr/>
            </p:nvSpPr>
            <p:spPr>
              <a:xfrm>
                <a:off x="0" y="-28575"/>
                <a:ext cx="88900" cy="117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65" id="65"/>
            <p:cNvGrpSpPr/>
            <p:nvPr/>
          </p:nvGrpSpPr>
          <p:grpSpPr>
            <a:xfrm rot="0">
              <a:off x="19050" y="2266950"/>
              <a:ext cx="88900" cy="88900"/>
              <a:chOff x="0" y="0"/>
              <a:chExt cx="88900" cy="88900"/>
            </a:xfrm>
          </p:grpSpPr>
          <p:sp>
            <p:nvSpPr>
              <p:cNvPr name="Freeform 66" id="66"/>
              <p:cNvSpPr/>
              <p:nvPr/>
            </p:nvSpPr>
            <p:spPr>
              <a:xfrm flipH="false" flipV="false" rot="0">
                <a:off x="0" y="0"/>
                <a:ext cx="88900" cy="88900"/>
              </a:xfrm>
              <a:custGeom>
                <a:avLst/>
                <a:gdLst/>
                <a:ahLst/>
                <a:cxnLst/>
                <a:rect r="r" b="b" t="t" l="l"/>
                <a:pathLst>
                  <a:path h="88900" w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  <a:close/>
                  </a:path>
                </a:pathLst>
              </a:custGeom>
              <a:solidFill>
                <a:srgbClr val="D97706"/>
              </a:solidFill>
            </p:spPr>
          </p:sp>
          <p:sp>
            <p:nvSpPr>
              <p:cNvPr name="TextBox 67" id="67"/>
              <p:cNvSpPr txBox="true"/>
              <p:nvPr/>
            </p:nvSpPr>
            <p:spPr>
              <a:xfrm>
                <a:off x="0" y="-28575"/>
                <a:ext cx="88900" cy="117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grpSp>
        <p:nvGrpSpPr>
          <p:cNvPr name="Group 68" id="68"/>
          <p:cNvGrpSpPr/>
          <p:nvPr/>
        </p:nvGrpSpPr>
        <p:grpSpPr>
          <a:xfrm rot="0">
            <a:off x="11953875" y="3686175"/>
            <a:ext cx="4928187" cy="4580815"/>
            <a:chOff x="0" y="0"/>
            <a:chExt cx="6570916" cy="6107753"/>
          </a:xfrm>
        </p:grpSpPr>
        <p:grpSp>
          <p:nvGrpSpPr>
            <p:cNvPr name="Group 69" id="69"/>
            <p:cNvGrpSpPr/>
            <p:nvPr/>
          </p:nvGrpSpPr>
          <p:grpSpPr>
            <a:xfrm rot="0">
              <a:off x="0" y="0"/>
              <a:ext cx="50800" cy="736600"/>
              <a:chOff x="0" y="0"/>
              <a:chExt cx="50800" cy="736600"/>
            </a:xfrm>
          </p:grpSpPr>
          <p:sp>
            <p:nvSpPr>
              <p:cNvPr name="Freeform 70" id="70"/>
              <p:cNvSpPr/>
              <p:nvPr/>
            </p:nvSpPr>
            <p:spPr>
              <a:xfrm flipH="false" flipV="false" rot="0">
                <a:off x="0" y="0"/>
                <a:ext cx="50800" cy="736600"/>
              </a:xfrm>
              <a:custGeom>
                <a:avLst/>
                <a:gdLst/>
                <a:ahLst/>
                <a:cxnLst/>
                <a:rect r="r" b="b" t="t" l="l"/>
                <a:pathLst>
                  <a:path h="736600" w="50800">
                    <a:moveTo>
                      <a:pt x="25400" y="0"/>
                    </a:moveTo>
                    <a:cubicBezTo>
                      <a:pt x="39428" y="0"/>
                      <a:pt x="50800" y="11372"/>
                      <a:pt x="50800" y="25400"/>
                    </a:cubicBezTo>
                    <a:lnTo>
                      <a:pt x="50800" y="711200"/>
                    </a:lnTo>
                    <a:cubicBezTo>
                      <a:pt x="50800" y="725228"/>
                      <a:pt x="39428" y="736600"/>
                      <a:pt x="25400" y="736600"/>
                    </a:cubicBezTo>
                    <a:cubicBezTo>
                      <a:pt x="11372" y="736600"/>
                      <a:pt x="0" y="725228"/>
                      <a:pt x="0" y="711200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close/>
                  </a:path>
                </a:pathLst>
              </a:custGeom>
              <a:solidFill>
                <a:srgbClr val="222222"/>
              </a:solidFill>
            </p:spPr>
          </p:sp>
          <p:sp>
            <p:nvSpPr>
              <p:cNvPr name="TextBox 71" id="71"/>
              <p:cNvSpPr txBox="true"/>
              <p:nvPr/>
            </p:nvSpPr>
            <p:spPr>
              <a:xfrm>
                <a:off x="0" y="-28575"/>
                <a:ext cx="50800" cy="7651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2" id="72"/>
            <p:cNvSpPr txBox="true"/>
            <p:nvPr/>
          </p:nvSpPr>
          <p:spPr>
            <a:xfrm rot="0">
              <a:off x="228600" y="82550"/>
              <a:ext cx="6342316" cy="590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37"/>
                </a:lnSpc>
              </a:pPr>
              <a:r>
                <a:rPr lang="en-US" sz="2669" b="true">
                  <a:solidFill>
                    <a:srgbClr val="222222"/>
                  </a:solidFill>
                  <a:latin typeface="네모고딕 Medium"/>
                  <a:ea typeface="네모고딕 Medium"/>
                  <a:cs typeface="네모고딕 Medium"/>
                  <a:sym typeface="네모고딕 Medium"/>
                </a:rPr>
                <a:t>시스템 통합 및 테스트/안정화</a:t>
              </a:r>
            </a:p>
          </p:txBody>
        </p:sp>
        <p:grpSp>
          <p:nvGrpSpPr>
            <p:cNvPr name="Group 73" id="73"/>
            <p:cNvGrpSpPr/>
            <p:nvPr/>
          </p:nvGrpSpPr>
          <p:grpSpPr>
            <a:xfrm rot="0">
              <a:off x="59580" y="1244600"/>
              <a:ext cx="6096000" cy="4863153"/>
              <a:chOff x="0" y="0"/>
              <a:chExt cx="6096000" cy="4863153"/>
            </a:xfrm>
          </p:grpSpPr>
          <p:sp>
            <p:nvSpPr>
              <p:cNvPr name="Freeform 74" id="74"/>
              <p:cNvSpPr/>
              <p:nvPr/>
            </p:nvSpPr>
            <p:spPr>
              <a:xfrm flipH="false" flipV="false" rot="0">
                <a:off x="0" y="0"/>
                <a:ext cx="6096000" cy="4863153"/>
              </a:xfrm>
              <a:custGeom>
                <a:avLst/>
                <a:gdLst/>
                <a:ahLst/>
                <a:cxnLst/>
                <a:rect r="r" b="b" t="t" l="l"/>
                <a:pathLst>
                  <a:path h="4863153" w="6096000">
                    <a:moveTo>
                      <a:pt x="177800" y="0"/>
                    </a:moveTo>
                    <a:lnTo>
                      <a:pt x="5918200" y="0"/>
                    </a:lnTo>
                    <a:cubicBezTo>
                      <a:pt x="6016396" y="0"/>
                      <a:pt x="6096000" y="83513"/>
                      <a:pt x="6096000" y="186532"/>
                    </a:cubicBezTo>
                    <a:lnTo>
                      <a:pt x="6096000" y="4676621"/>
                    </a:lnTo>
                    <a:cubicBezTo>
                      <a:pt x="6096000" y="4779640"/>
                      <a:pt x="6016396" y="4863153"/>
                      <a:pt x="5918200" y="4863153"/>
                    </a:cubicBezTo>
                    <a:lnTo>
                      <a:pt x="177800" y="4863153"/>
                    </a:lnTo>
                    <a:cubicBezTo>
                      <a:pt x="79604" y="4863153"/>
                      <a:pt x="0" y="4779640"/>
                      <a:pt x="0" y="4676621"/>
                    </a:cubicBezTo>
                    <a:lnTo>
                      <a:pt x="0" y="186532"/>
                    </a:lnTo>
                    <a:cubicBezTo>
                      <a:pt x="0" y="83513"/>
                      <a:pt x="79604" y="0"/>
                      <a:pt x="177800" y="0"/>
                    </a:cubicBezTo>
                    <a:close/>
                  </a:path>
                </a:pathLst>
              </a:custGeom>
              <a:solidFill>
                <a:srgbClr val="ECEEEC"/>
              </a:solidFill>
              <a:ln w="9525" cap="sq">
                <a:solidFill>
                  <a:srgbClr val="D7D9D7"/>
                </a:solidFill>
                <a:prstDash val="solid"/>
                <a:miter/>
              </a:ln>
            </p:spPr>
          </p:sp>
          <p:sp>
            <p:nvSpPr>
              <p:cNvPr name="TextBox 75" id="75"/>
              <p:cNvSpPr txBox="true"/>
              <p:nvPr/>
            </p:nvSpPr>
            <p:spPr>
              <a:xfrm>
                <a:off x="0" y="-28575"/>
                <a:ext cx="6096000" cy="48917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grpSp>
        <p:nvGrpSpPr>
          <p:cNvPr name="Group 76" id="76"/>
          <p:cNvGrpSpPr/>
          <p:nvPr/>
        </p:nvGrpSpPr>
        <p:grpSpPr>
          <a:xfrm rot="0">
            <a:off x="12320606" y="5055870"/>
            <a:ext cx="4213776" cy="2823210"/>
            <a:chOff x="0" y="0"/>
            <a:chExt cx="5618367" cy="3764280"/>
          </a:xfrm>
        </p:grpSpPr>
        <p:sp>
          <p:nvSpPr>
            <p:cNvPr name="TextBox 77" id="77"/>
            <p:cNvSpPr txBox="true"/>
            <p:nvPr/>
          </p:nvSpPr>
          <p:spPr>
            <a:xfrm rot="0">
              <a:off x="289335" y="-28575"/>
              <a:ext cx="4851400" cy="3113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0"/>
                </a:lnSpc>
              </a:pPr>
              <a:r>
                <a:rPr lang="en-US" sz="1400">
                  <a:solidFill>
                    <a:srgbClr val="151615"/>
                  </a:solidFill>
                  <a:latin typeface="네모고딕"/>
                  <a:ea typeface="네모고딕"/>
                  <a:cs typeface="네모고딕"/>
                  <a:sym typeface="네모고딕"/>
                </a:rPr>
                <a:t>프론트엔드</a:t>
              </a:r>
              <a:r>
                <a:rPr lang="en-US" sz="1400">
                  <a:solidFill>
                    <a:srgbClr val="151615"/>
                  </a:solidFill>
                  <a:latin typeface="네모고딕"/>
                  <a:ea typeface="네모고딕"/>
                  <a:cs typeface="네모고딕"/>
                  <a:sym typeface="네모고딕"/>
                </a:rPr>
                <a:t> API 불일치 전수 점검 및 수정</a:t>
              </a:r>
            </a:p>
          </p:txBody>
        </p:sp>
        <p:sp>
          <p:nvSpPr>
            <p:cNvPr name="TextBox 78" id="78"/>
            <p:cNvSpPr txBox="true"/>
            <p:nvPr/>
          </p:nvSpPr>
          <p:spPr>
            <a:xfrm rot="0">
              <a:off x="289335" y="631825"/>
              <a:ext cx="4851400" cy="3113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0"/>
                </a:lnSpc>
              </a:pPr>
              <a:r>
                <a:rPr lang="en-US" sz="1400">
                  <a:solidFill>
                    <a:srgbClr val="151615"/>
                  </a:solidFill>
                  <a:latin typeface="네모고딕"/>
                  <a:ea typeface="네모고딕"/>
                  <a:cs typeface="네모고딕"/>
                  <a:sym typeface="네모고딕"/>
                </a:rPr>
                <a:t>전체</a:t>
              </a:r>
              <a:r>
                <a:rPr lang="en-US" sz="1400">
                  <a:solidFill>
                    <a:srgbClr val="151615"/>
                  </a:solidFill>
                  <a:latin typeface="네모고딕"/>
                  <a:ea typeface="네모고딕"/>
                  <a:cs typeface="네모고딕"/>
                  <a:sym typeface="네모고딕"/>
                </a:rPr>
                <a:t> 시스템 E2E 통합 테스트 수행</a:t>
              </a:r>
            </a:p>
          </p:txBody>
        </p:sp>
        <p:sp>
          <p:nvSpPr>
            <p:cNvPr name="TextBox 79" id="79"/>
            <p:cNvSpPr txBox="true"/>
            <p:nvPr/>
          </p:nvSpPr>
          <p:spPr>
            <a:xfrm rot="0">
              <a:off x="289335" y="1292225"/>
              <a:ext cx="4851400" cy="3113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0"/>
                </a:lnSpc>
              </a:pPr>
              <a:r>
                <a:rPr lang="en-US" sz="1400">
                  <a:solidFill>
                    <a:srgbClr val="151615"/>
                  </a:solidFill>
                  <a:latin typeface="네모고딕"/>
                  <a:ea typeface="네모고딕"/>
                  <a:cs typeface="네모고딕"/>
                  <a:sym typeface="네모고딕"/>
                </a:rPr>
                <a:t>실환경(키오스크</a:t>
              </a:r>
              <a:r>
                <a:rPr lang="en-US" sz="1400">
                  <a:solidFill>
                    <a:srgbClr val="151615"/>
                  </a:solidFill>
                  <a:latin typeface="네모고딕"/>
                  <a:ea typeface="네모고딕"/>
                  <a:cs typeface="네모고딕"/>
                  <a:sym typeface="네모고딕"/>
                </a:rPr>
                <a:t> 하드웨어) 배포 테스트</a:t>
              </a:r>
            </a:p>
          </p:txBody>
        </p:sp>
        <p:sp>
          <p:nvSpPr>
            <p:cNvPr name="TextBox 80" id="80"/>
            <p:cNvSpPr txBox="true"/>
            <p:nvPr/>
          </p:nvSpPr>
          <p:spPr>
            <a:xfrm rot="0">
              <a:off x="289335" y="1952625"/>
              <a:ext cx="4851400" cy="3113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0"/>
                </a:lnSpc>
              </a:pPr>
              <a:r>
                <a:rPr lang="en-US" sz="1400">
                  <a:solidFill>
                    <a:srgbClr val="151615"/>
                  </a:solidFill>
                  <a:latin typeface="네모고딕"/>
                  <a:ea typeface="네모고딕"/>
                  <a:cs typeface="네모고딕"/>
                  <a:sym typeface="네모고딕"/>
                </a:rPr>
                <a:t>LLM</a:t>
              </a:r>
              <a:r>
                <a:rPr lang="en-US" sz="1400">
                  <a:solidFill>
                    <a:srgbClr val="151615"/>
                  </a:solidFill>
                  <a:latin typeface="네모고딕"/>
                  <a:ea typeface="네모고딕"/>
                  <a:cs typeface="네모고딕"/>
                  <a:sym typeface="네모고딕"/>
                </a:rPr>
                <a:t> 시나리오 자동화 테스트 확대</a:t>
              </a:r>
            </a:p>
          </p:txBody>
        </p:sp>
        <p:sp>
          <p:nvSpPr>
            <p:cNvPr name="TextBox 81" id="81"/>
            <p:cNvSpPr txBox="true"/>
            <p:nvPr/>
          </p:nvSpPr>
          <p:spPr>
            <a:xfrm rot="0">
              <a:off x="289335" y="2613025"/>
              <a:ext cx="5329033" cy="6415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0"/>
                </a:lnSpc>
              </a:pPr>
              <a:r>
                <a:rPr lang="en-US" sz="1400">
                  <a:solidFill>
                    <a:srgbClr val="151615"/>
                  </a:solidFill>
                  <a:latin typeface="네모고딕"/>
                  <a:ea typeface="네모고딕"/>
                  <a:cs typeface="네모고딕"/>
                  <a:sym typeface="네모고딕"/>
                </a:rPr>
                <a:t>실사용자(고령자,</a:t>
              </a:r>
              <a:r>
                <a:rPr lang="en-US" sz="1400">
                  <a:solidFill>
                    <a:srgbClr val="151615"/>
                  </a:solidFill>
                  <a:latin typeface="네모고딕"/>
                  <a:ea typeface="네모고딕"/>
                  <a:cs typeface="네모고딕"/>
                  <a:sym typeface="네모고딕"/>
                </a:rPr>
                <a:t> 시각장애인) 대상</a:t>
              </a:r>
            </a:p>
            <a:p>
              <a:pPr algn="l">
                <a:lnSpc>
                  <a:spcPts val="1960"/>
                </a:lnSpc>
              </a:pPr>
              <a:r>
                <a:rPr lang="en-US" sz="1400">
                  <a:solidFill>
                    <a:srgbClr val="151615"/>
                  </a:solidFill>
                  <a:latin typeface="네모고딕"/>
                  <a:ea typeface="네모고딕"/>
                  <a:cs typeface="네모고딕"/>
                  <a:sym typeface="네모고딕"/>
                </a:rPr>
                <a:t>사용성 테스트</a:t>
              </a:r>
            </a:p>
          </p:txBody>
        </p:sp>
        <p:grpSp>
          <p:nvGrpSpPr>
            <p:cNvPr name="Group 82" id="82"/>
            <p:cNvGrpSpPr/>
            <p:nvPr/>
          </p:nvGrpSpPr>
          <p:grpSpPr>
            <a:xfrm rot="0">
              <a:off x="6350" y="65193"/>
              <a:ext cx="88900" cy="88900"/>
              <a:chOff x="0" y="0"/>
              <a:chExt cx="88900" cy="88900"/>
            </a:xfrm>
          </p:grpSpPr>
          <p:sp>
            <p:nvSpPr>
              <p:cNvPr name="Freeform 83" id="83"/>
              <p:cNvSpPr/>
              <p:nvPr/>
            </p:nvSpPr>
            <p:spPr>
              <a:xfrm flipH="false" flipV="false" rot="0">
                <a:off x="0" y="0"/>
                <a:ext cx="88900" cy="88900"/>
              </a:xfrm>
              <a:custGeom>
                <a:avLst/>
                <a:gdLst/>
                <a:ahLst/>
                <a:cxnLst/>
                <a:rect r="r" b="b" t="t" l="l"/>
                <a:pathLst>
                  <a:path h="88900" w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  <a:close/>
                  </a:path>
                </a:pathLst>
              </a:custGeom>
              <a:solidFill>
                <a:srgbClr val="D97706"/>
              </a:solidFill>
            </p:spPr>
          </p:sp>
          <p:sp>
            <p:nvSpPr>
              <p:cNvPr name="TextBox 84" id="84"/>
              <p:cNvSpPr txBox="true"/>
              <p:nvPr/>
            </p:nvSpPr>
            <p:spPr>
              <a:xfrm>
                <a:off x="0" y="-28575"/>
                <a:ext cx="88900" cy="117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85" id="85"/>
            <p:cNvGrpSpPr/>
            <p:nvPr/>
          </p:nvGrpSpPr>
          <p:grpSpPr>
            <a:xfrm rot="0">
              <a:off x="0" y="725593"/>
              <a:ext cx="88900" cy="88900"/>
              <a:chOff x="0" y="0"/>
              <a:chExt cx="88900" cy="88900"/>
            </a:xfrm>
          </p:grpSpPr>
          <p:sp>
            <p:nvSpPr>
              <p:cNvPr name="Freeform 86" id="86"/>
              <p:cNvSpPr/>
              <p:nvPr/>
            </p:nvSpPr>
            <p:spPr>
              <a:xfrm flipH="false" flipV="false" rot="0">
                <a:off x="0" y="0"/>
                <a:ext cx="88900" cy="88900"/>
              </a:xfrm>
              <a:custGeom>
                <a:avLst/>
                <a:gdLst/>
                <a:ahLst/>
                <a:cxnLst/>
                <a:rect r="r" b="b" t="t" l="l"/>
                <a:pathLst>
                  <a:path h="88900" w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  <a:close/>
                  </a:path>
                </a:pathLst>
              </a:custGeom>
              <a:solidFill>
                <a:srgbClr val="D97706"/>
              </a:solidFill>
            </p:spPr>
          </p:sp>
          <p:sp>
            <p:nvSpPr>
              <p:cNvPr name="TextBox 87" id="87"/>
              <p:cNvSpPr txBox="true"/>
              <p:nvPr/>
            </p:nvSpPr>
            <p:spPr>
              <a:xfrm>
                <a:off x="0" y="-28575"/>
                <a:ext cx="88900" cy="117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88" id="88"/>
            <p:cNvGrpSpPr/>
            <p:nvPr/>
          </p:nvGrpSpPr>
          <p:grpSpPr>
            <a:xfrm rot="0">
              <a:off x="6350" y="1385993"/>
              <a:ext cx="88900" cy="88900"/>
              <a:chOff x="0" y="0"/>
              <a:chExt cx="88900" cy="88900"/>
            </a:xfrm>
          </p:grpSpPr>
          <p:sp>
            <p:nvSpPr>
              <p:cNvPr name="Freeform 89" id="89"/>
              <p:cNvSpPr/>
              <p:nvPr/>
            </p:nvSpPr>
            <p:spPr>
              <a:xfrm flipH="false" flipV="false" rot="0">
                <a:off x="0" y="0"/>
                <a:ext cx="88900" cy="88900"/>
              </a:xfrm>
              <a:custGeom>
                <a:avLst/>
                <a:gdLst/>
                <a:ahLst/>
                <a:cxnLst/>
                <a:rect r="r" b="b" t="t" l="l"/>
                <a:pathLst>
                  <a:path h="88900" w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  <a:close/>
                  </a:path>
                </a:pathLst>
              </a:custGeom>
              <a:solidFill>
                <a:srgbClr val="D97706"/>
              </a:solidFill>
            </p:spPr>
          </p:sp>
          <p:sp>
            <p:nvSpPr>
              <p:cNvPr name="TextBox 90" id="90"/>
              <p:cNvSpPr txBox="true"/>
              <p:nvPr/>
            </p:nvSpPr>
            <p:spPr>
              <a:xfrm>
                <a:off x="0" y="-28575"/>
                <a:ext cx="88900" cy="117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91" id="91"/>
            <p:cNvGrpSpPr/>
            <p:nvPr/>
          </p:nvGrpSpPr>
          <p:grpSpPr>
            <a:xfrm rot="0">
              <a:off x="19050" y="2059093"/>
              <a:ext cx="88900" cy="88900"/>
              <a:chOff x="0" y="0"/>
              <a:chExt cx="88900" cy="88900"/>
            </a:xfrm>
          </p:grpSpPr>
          <p:sp>
            <p:nvSpPr>
              <p:cNvPr name="Freeform 92" id="92"/>
              <p:cNvSpPr/>
              <p:nvPr/>
            </p:nvSpPr>
            <p:spPr>
              <a:xfrm flipH="false" flipV="false" rot="0">
                <a:off x="0" y="0"/>
                <a:ext cx="88900" cy="88900"/>
              </a:xfrm>
              <a:custGeom>
                <a:avLst/>
                <a:gdLst/>
                <a:ahLst/>
                <a:cxnLst/>
                <a:rect r="r" b="b" t="t" l="l"/>
                <a:pathLst>
                  <a:path h="88900" w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  <a:close/>
                  </a:path>
                </a:pathLst>
              </a:custGeom>
              <a:solidFill>
                <a:srgbClr val="D97706"/>
              </a:solidFill>
            </p:spPr>
          </p:sp>
          <p:sp>
            <p:nvSpPr>
              <p:cNvPr name="TextBox 93" id="93"/>
              <p:cNvSpPr txBox="true"/>
              <p:nvPr/>
            </p:nvSpPr>
            <p:spPr>
              <a:xfrm>
                <a:off x="0" y="-28575"/>
                <a:ext cx="88900" cy="117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94" id="94"/>
            <p:cNvGrpSpPr/>
            <p:nvPr/>
          </p:nvGrpSpPr>
          <p:grpSpPr>
            <a:xfrm rot="0">
              <a:off x="6350" y="2744893"/>
              <a:ext cx="88900" cy="88900"/>
              <a:chOff x="0" y="0"/>
              <a:chExt cx="88900" cy="88900"/>
            </a:xfrm>
          </p:grpSpPr>
          <p:sp>
            <p:nvSpPr>
              <p:cNvPr name="Freeform 95" id="95"/>
              <p:cNvSpPr/>
              <p:nvPr/>
            </p:nvSpPr>
            <p:spPr>
              <a:xfrm flipH="false" flipV="false" rot="0">
                <a:off x="0" y="0"/>
                <a:ext cx="88900" cy="88900"/>
              </a:xfrm>
              <a:custGeom>
                <a:avLst/>
                <a:gdLst/>
                <a:ahLst/>
                <a:cxnLst/>
                <a:rect r="r" b="b" t="t" l="l"/>
                <a:pathLst>
                  <a:path h="88900" w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  <a:close/>
                  </a:path>
                </a:pathLst>
              </a:custGeom>
              <a:solidFill>
                <a:srgbClr val="D97706"/>
              </a:solidFill>
            </p:spPr>
          </p:sp>
          <p:sp>
            <p:nvSpPr>
              <p:cNvPr name="TextBox 96" id="96"/>
              <p:cNvSpPr txBox="true"/>
              <p:nvPr/>
            </p:nvSpPr>
            <p:spPr>
              <a:xfrm>
                <a:off x="0" y="-28575"/>
                <a:ext cx="88900" cy="117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97" id="97"/>
            <p:cNvSpPr txBox="true"/>
            <p:nvPr/>
          </p:nvSpPr>
          <p:spPr>
            <a:xfrm rot="0">
              <a:off x="282985" y="3452918"/>
              <a:ext cx="4851400" cy="3113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0"/>
                </a:lnSpc>
              </a:pPr>
              <a:r>
                <a:rPr lang="en-US" sz="1400">
                  <a:solidFill>
                    <a:srgbClr val="151615"/>
                  </a:solidFill>
                  <a:latin typeface="네모고딕"/>
                  <a:ea typeface="네모고딕"/>
                  <a:cs typeface="네모고딕"/>
                  <a:sym typeface="네모고딕"/>
                </a:rPr>
                <a:t>성능</a:t>
              </a:r>
              <a:r>
                <a:rPr lang="en-US" sz="1400">
                  <a:solidFill>
                    <a:srgbClr val="151615"/>
                  </a:solidFill>
                  <a:latin typeface="네모고딕"/>
                  <a:ea typeface="네모고딕"/>
                  <a:cs typeface="네모고딕"/>
                  <a:sym typeface="네모고딕"/>
                </a:rPr>
                <a:t> 측정 파이프라인 구축 (응답 속도, 인식률)</a:t>
              </a:r>
            </a:p>
          </p:txBody>
        </p:sp>
        <p:grpSp>
          <p:nvGrpSpPr>
            <p:cNvPr name="Group 98" id="98"/>
            <p:cNvGrpSpPr/>
            <p:nvPr/>
          </p:nvGrpSpPr>
          <p:grpSpPr>
            <a:xfrm rot="0">
              <a:off x="0" y="3584787"/>
              <a:ext cx="88900" cy="88900"/>
              <a:chOff x="0" y="0"/>
              <a:chExt cx="88900" cy="88900"/>
            </a:xfrm>
          </p:grpSpPr>
          <p:sp>
            <p:nvSpPr>
              <p:cNvPr name="Freeform 99" id="99"/>
              <p:cNvSpPr/>
              <p:nvPr/>
            </p:nvSpPr>
            <p:spPr>
              <a:xfrm flipH="false" flipV="false" rot="0">
                <a:off x="0" y="0"/>
                <a:ext cx="88900" cy="88900"/>
              </a:xfrm>
              <a:custGeom>
                <a:avLst/>
                <a:gdLst/>
                <a:ahLst/>
                <a:cxnLst/>
                <a:rect r="r" b="b" t="t" l="l"/>
                <a:pathLst>
                  <a:path h="88900" w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  <a:close/>
                  </a:path>
                </a:pathLst>
              </a:custGeom>
              <a:solidFill>
                <a:srgbClr val="D97706"/>
              </a:solidFill>
            </p:spPr>
          </p:sp>
          <p:sp>
            <p:nvSpPr>
              <p:cNvPr name="TextBox 100" id="100"/>
              <p:cNvSpPr txBox="true"/>
              <p:nvPr/>
            </p:nvSpPr>
            <p:spPr>
              <a:xfrm>
                <a:off x="0" y="-28575"/>
                <a:ext cx="88900" cy="117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grpSp>
        <p:nvGrpSpPr>
          <p:cNvPr name="Group 101" id="101"/>
          <p:cNvGrpSpPr/>
          <p:nvPr/>
        </p:nvGrpSpPr>
        <p:grpSpPr>
          <a:xfrm rot="0">
            <a:off x="1709961" y="3667125"/>
            <a:ext cx="4572000" cy="4599865"/>
            <a:chOff x="0" y="0"/>
            <a:chExt cx="6096000" cy="6133153"/>
          </a:xfrm>
        </p:grpSpPr>
        <p:grpSp>
          <p:nvGrpSpPr>
            <p:cNvPr name="Group 102" id="102"/>
            <p:cNvGrpSpPr/>
            <p:nvPr/>
          </p:nvGrpSpPr>
          <p:grpSpPr>
            <a:xfrm rot="0">
              <a:off x="87922" y="0"/>
              <a:ext cx="50800" cy="736600"/>
              <a:chOff x="0" y="0"/>
              <a:chExt cx="50800" cy="736600"/>
            </a:xfrm>
          </p:grpSpPr>
          <p:sp>
            <p:nvSpPr>
              <p:cNvPr name="Freeform 103" id="103"/>
              <p:cNvSpPr/>
              <p:nvPr/>
            </p:nvSpPr>
            <p:spPr>
              <a:xfrm flipH="false" flipV="false" rot="0">
                <a:off x="0" y="0"/>
                <a:ext cx="50800" cy="736600"/>
              </a:xfrm>
              <a:custGeom>
                <a:avLst/>
                <a:gdLst/>
                <a:ahLst/>
                <a:cxnLst/>
                <a:rect r="r" b="b" t="t" l="l"/>
                <a:pathLst>
                  <a:path h="736600" w="50800">
                    <a:moveTo>
                      <a:pt x="25400" y="0"/>
                    </a:moveTo>
                    <a:cubicBezTo>
                      <a:pt x="39428" y="0"/>
                      <a:pt x="50800" y="11372"/>
                      <a:pt x="50800" y="25400"/>
                    </a:cubicBezTo>
                    <a:lnTo>
                      <a:pt x="50800" y="711200"/>
                    </a:lnTo>
                    <a:cubicBezTo>
                      <a:pt x="50800" y="725228"/>
                      <a:pt x="39428" y="736600"/>
                      <a:pt x="25400" y="736600"/>
                    </a:cubicBezTo>
                    <a:cubicBezTo>
                      <a:pt x="11372" y="736600"/>
                      <a:pt x="0" y="725228"/>
                      <a:pt x="0" y="711200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close/>
                  </a:path>
                </a:pathLst>
              </a:custGeom>
              <a:solidFill>
                <a:srgbClr val="222222"/>
              </a:solidFill>
            </p:spPr>
          </p:sp>
          <p:sp>
            <p:nvSpPr>
              <p:cNvPr name="TextBox 104" id="104"/>
              <p:cNvSpPr txBox="true"/>
              <p:nvPr/>
            </p:nvSpPr>
            <p:spPr>
              <a:xfrm>
                <a:off x="0" y="-28575"/>
                <a:ext cx="50800" cy="7651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5" id="105"/>
            <p:cNvSpPr txBox="true"/>
            <p:nvPr/>
          </p:nvSpPr>
          <p:spPr>
            <a:xfrm rot="0">
              <a:off x="354622" y="82550"/>
              <a:ext cx="3264878" cy="590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37"/>
                </a:lnSpc>
              </a:pPr>
              <a:r>
                <a:rPr lang="en-US" sz="2669" b="true">
                  <a:solidFill>
                    <a:srgbClr val="222222"/>
                  </a:solidFill>
                  <a:latin typeface="네모고딕 Medium"/>
                  <a:ea typeface="네모고딕 Medium"/>
                  <a:cs typeface="네모고딕 Medium"/>
                  <a:sym typeface="네모고딕 Medium"/>
                </a:rPr>
                <a:t>추가 구현 기능</a:t>
              </a:r>
            </a:p>
          </p:txBody>
        </p:sp>
        <p:grpSp>
          <p:nvGrpSpPr>
            <p:cNvPr name="Group 106" id="106"/>
            <p:cNvGrpSpPr/>
            <p:nvPr/>
          </p:nvGrpSpPr>
          <p:grpSpPr>
            <a:xfrm rot="0">
              <a:off x="0" y="1257300"/>
              <a:ext cx="6096000" cy="4875853"/>
              <a:chOff x="0" y="0"/>
              <a:chExt cx="6096000" cy="4875853"/>
            </a:xfrm>
          </p:grpSpPr>
          <p:sp>
            <p:nvSpPr>
              <p:cNvPr name="Freeform 107" id="107"/>
              <p:cNvSpPr/>
              <p:nvPr/>
            </p:nvSpPr>
            <p:spPr>
              <a:xfrm flipH="false" flipV="false" rot="0">
                <a:off x="0" y="0"/>
                <a:ext cx="6096000" cy="4875853"/>
              </a:xfrm>
              <a:custGeom>
                <a:avLst/>
                <a:gdLst/>
                <a:ahLst/>
                <a:cxnLst/>
                <a:rect r="r" b="b" t="t" l="l"/>
                <a:pathLst>
                  <a:path h="4875853" w="6096000">
                    <a:moveTo>
                      <a:pt x="177800" y="0"/>
                    </a:moveTo>
                    <a:lnTo>
                      <a:pt x="5918200" y="0"/>
                    </a:lnTo>
                    <a:cubicBezTo>
                      <a:pt x="6016396" y="0"/>
                      <a:pt x="6096000" y="83731"/>
                      <a:pt x="6096000" y="187019"/>
                    </a:cubicBezTo>
                    <a:lnTo>
                      <a:pt x="6096000" y="4688834"/>
                    </a:lnTo>
                    <a:cubicBezTo>
                      <a:pt x="6096000" y="4792122"/>
                      <a:pt x="6016396" y="4875853"/>
                      <a:pt x="5918200" y="4875853"/>
                    </a:cubicBezTo>
                    <a:lnTo>
                      <a:pt x="177800" y="4875853"/>
                    </a:lnTo>
                    <a:cubicBezTo>
                      <a:pt x="79604" y="4875853"/>
                      <a:pt x="0" y="4792122"/>
                      <a:pt x="0" y="4688834"/>
                    </a:cubicBezTo>
                    <a:lnTo>
                      <a:pt x="0" y="187019"/>
                    </a:lnTo>
                    <a:cubicBezTo>
                      <a:pt x="0" y="83731"/>
                      <a:pt x="79604" y="0"/>
                      <a:pt x="177800" y="0"/>
                    </a:cubicBezTo>
                    <a:close/>
                  </a:path>
                </a:pathLst>
              </a:custGeom>
              <a:solidFill>
                <a:srgbClr val="ECEEEC"/>
              </a:solidFill>
              <a:ln w="9525" cap="sq">
                <a:solidFill>
                  <a:srgbClr val="D7D9D7"/>
                </a:solidFill>
                <a:prstDash val="solid"/>
                <a:miter/>
              </a:ln>
            </p:spPr>
          </p:sp>
          <p:sp>
            <p:nvSpPr>
              <p:cNvPr name="TextBox 108" id="108"/>
              <p:cNvSpPr txBox="true"/>
              <p:nvPr/>
            </p:nvSpPr>
            <p:spPr>
              <a:xfrm>
                <a:off x="0" y="-28575"/>
                <a:ext cx="6096000" cy="49044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grpSp>
        <p:nvGrpSpPr>
          <p:cNvPr name="Group 109" id="109"/>
          <p:cNvGrpSpPr/>
          <p:nvPr/>
        </p:nvGrpSpPr>
        <p:grpSpPr>
          <a:xfrm rot="0">
            <a:off x="1972500" y="6190017"/>
            <a:ext cx="3850789" cy="212016"/>
            <a:chOff x="0" y="0"/>
            <a:chExt cx="5134385" cy="282687"/>
          </a:xfrm>
        </p:grpSpPr>
        <p:sp>
          <p:nvSpPr>
            <p:cNvPr name="TextBox 110" id="110"/>
            <p:cNvSpPr txBox="true"/>
            <p:nvPr/>
          </p:nvSpPr>
          <p:spPr>
            <a:xfrm rot="0">
              <a:off x="282985" y="-28575"/>
              <a:ext cx="4851400" cy="3112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0"/>
                </a:lnSpc>
              </a:pPr>
              <a:r>
                <a:rPr lang="en-US" sz="1400">
                  <a:solidFill>
                    <a:srgbClr val="151615"/>
                  </a:solidFill>
                  <a:latin typeface="네모고딕"/>
                  <a:ea typeface="네모고딕"/>
                  <a:cs typeface="네모고딕"/>
                  <a:sym typeface="네모고딕"/>
                </a:rPr>
                <a:t>하드웨어 제작 및 테스트</a:t>
              </a:r>
            </a:p>
          </p:txBody>
        </p:sp>
        <p:grpSp>
          <p:nvGrpSpPr>
            <p:cNvPr name="Group 111" id="111"/>
            <p:cNvGrpSpPr/>
            <p:nvPr/>
          </p:nvGrpSpPr>
          <p:grpSpPr>
            <a:xfrm rot="0">
              <a:off x="0" y="65193"/>
              <a:ext cx="88900" cy="88900"/>
              <a:chOff x="0" y="0"/>
              <a:chExt cx="88900" cy="88900"/>
            </a:xfrm>
          </p:grpSpPr>
          <p:sp>
            <p:nvSpPr>
              <p:cNvPr name="Freeform 112" id="112"/>
              <p:cNvSpPr/>
              <p:nvPr/>
            </p:nvSpPr>
            <p:spPr>
              <a:xfrm flipH="false" flipV="false" rot="0">
                <a:off x="0" y="0"/>
                <a:ext cx="88900" cy="88900"/>
              </a:xfrm>
              <a:custGeom>
                <a:avLst/>
                <a:gdLst/>
                <a:ahLst/>
                <a:cxnLst/>
                <a:rect r="r" b="b" t="t" l="l"/>
                <a:pathLst>
                  <a:path h="88900" w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  <a:close/>
                  </a:path>
                </a:pathLst>
              </a:custGeom>
              <a:solidFill>
                <a:srgbClr val="D97706"/>
              </a:solidFill>
            </p:spPr>
          </p:sp>
          <p:sp>
            <p:nvSpPr>
              <p:cNvPr name="TextBox 113" id="113"/>
              <p:cNvSpPr txBox="true"/>
              <p:nvPr/>
            </p:nvSpPr>
            <p:spPr>
              <a:xfrm>
                <a:off x="0" y="-28575"/>
                <a:ext cx="88900" cy="117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3938" y="0"/>
            <a:ext cx="20335875" cy="10287000"/>
            <a:chOff x="0" y="0"/>
            <a:chExt cx="271145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600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39850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6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651231" y="612360"/>
            <a:ext cx="271148" cy="286173"/>
          </a:xfrm>
          <a:custGeom>
            <a:avLst/>
            <a:gdLst/>
            <a:ahLst/>
            <a:cxnLst/>
            <a:rect r="r" b="b" t="t" l="l"/>
            <a:pathLst>
              <a:path h="286173" w="271148">
                <a:moveTo>
                  <a:pt x="0" y="0"/>
                </a:moveTo>
                <a:lnTo>
                  <a:pt x="271148" y="0"/>
                </a:lnTo>
                <a:lnTo>
                  <a:pt x="271148" y="286172"/>
                </a:lnTo>
                <a:lnTo>
                  <a:pt x="0" y="286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512338" y="616360"/>
            <a:ext cx="3124432" cy="456813"/>
            <a:chOff x="0" y="0"/>
            <a:chExt cx="822896" cy="1203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2896" cy="120313"/>
            </a:xfrm>
            <a:custGeom>
              <a:avLst/>
              <a:gdLst/>
              <a:ahLst/>
              <a:cxnLst/>
              <a:rect r="r" b="b" t="t" l="l"/>
              <a:pathLst>
                <a:path h="120313" w="822896">
                  <a:moveTo>
                    <a:pt x="60156" y="0"/>
                  </a:moveTo>
                  <a:lnTo>
                    <a:pt x="762739" y="0"/>
                  </a:lnTo>
                  <a:cubicBezTo>
                    <a:pt x="795963" y="0"/>
                    <a:pt x="822896" y="26933"/>
                    <a:pt x="822896" y="60156"/>
                  </a:cubicBezTo>
                  <a:lnTo>
                    <a:pt x="822896" y="60156"/>
                  </a:lnTo>
                  <a:cubicBezTo>
                    <a:pt x="822896" y="93380"/>
                    <a:pt x="795963" y="120313"/>
                    <a:pt x="762739" y="120313"/>
                  </a:cubicBezTo>
                  <a:lnTo>
                    <a:pt x="60156" y="120313"/>
                  </a:lnTo>
                  <a:cubicBezTo>
                    <a:pt x="26933" y="120313"/>
                    <a:pt x="0" y="93380"/>
                    <a:pt x="0" y="60156"/>
                  </a:cubicBezTo>
                  <a:lnTo>
                    <a:pt x="0" y="60156"/>
                  </a:lnTo>
                  <a:cubicBezTo>
                    <a:pt x="0" y="26933"/>
                    <a:pt x="26933" y="0"/>
                    <a:pt x="60156" y="0"/>
                  </a:cubicBezTo>
                  <a:close/>
                </a:path>
              </a:pathLst>
            </a:custGeom>
            <a:solidFill>
              <a:srgbClr val="15161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22896" cy="167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748364" y="621885"/>
            <a:ext cx="2791271" cy="231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b="true" sz="1600" spc="259">
                <a:solidFill>
                  <a:srgbClr val="15161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2026/09/08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760046" y="762851"/>
            <a:ext cx="2629015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sz="1200">
                <a:solidFill>
                  <a:srgbClr val="F3F4F3"/>
                </a:solidFill>
                <a:latin typeface="Poppins"/>
                <a:ea typeface="Poppins"/>
                <a:cs typeface="Poppins"/>
                <a:sym typeface="Poppins"/>
              </a:rPr>
              <a:t>https://github.com/Capstone-F5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08246" y="2598104"/>
            <a:ext cx="9147698" cy="860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6500" b="true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목표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27296" y="2033959"/>
            <a:ext cx="4023889" cy="303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2199" spc="204" b="true">
                <a:solidFill>
                  <a:srgbClr val="151615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Goal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686443"/>
            <a:ext cx="2871173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1599"/>
              </a:lnSpc>
              <a:buAutoNum type="arabicPeriod" startAt="1"/>
            </a:pPr>
            <a:r>
              <a:rPr lang="en-US" sz="1599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2학기 개발 및 완성 계획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2003648" y="3846323"/>
            <a:ext cx="6975196" cy="5094623"/>
            <a:chOff x="0" y="0"/>
            <a:chExt cx="9300261" cy="6792831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9300261" cy="6792831"/>
              <a:chOff x="0" y="0"/>
              <a:chExt cx="1837089" cy="1341794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837089" cy="1341794"/>
              </a:xfrm>
              <a:custGeom>
                <a:avLst/>
                <a:gdLst/>
                <a:ahLst/>
                <a:cxnLst/>
                <a:rect r="r" b="b" t="t" l="l"/>
                <a:pathLst>
                  <a:path h="1341794" w="1837089">
                    <a:moveTo>
                      <a:pt x="33298" y="0"/>
                    </a:moveTo>
                    <a:lnTo>
                      <a:pt x="1803791" y="0"/>
                    </a:lnTo>
                    <a:cubicBezTo>
                      <a:pt x="1812622" y="0"/>
                      <a:pt x="1821092" y="3508"/>
                      <a:pt x="1827336" y="9753"/>
                    </a:cubicBezTo>
                    <a:cubicBezTo>
                      <a:pt x="1833581" y="15997"/>
                      <a:pt x="1837089" y="24467"/>
                      <a:pt x="1837089" y="33298"/>
                    </a:cubicBezTo>
                    <a:lnTo>
                      <a:pt x="1837089" y="1308496"/>
                    </a:lnTo>
                    <a:cubicBezTo>
                      <a:pt x="1837089" y="1317327"/>
                      <a:pt x="1833581" y="1325797"/>
                      <a:pt x="1827336" y="1332041"/>
                    </a:cubicBezTo>
                    <a:cubicBezTo>
                      <a:pt x="1821092" y="1338286"/>
                      <a:pt x="1812622" y="1341794"/>
                      <a:pt x="1803791" y="1341794"/>
                    </a:cubicBezTo>
                    <a:lnTo>
                      <a:pt x="33298" y="1341794"/>
                    </a:lnTo>
                    <a:cubicBezTo>
                      <a:pt x="24467" y="1341794"/>
                      <a:pt x="15997" y="1338286"/>
                      <a:pt x="9753" y="1332041"/>
                    </a:cubicBezTo>
                    <a:cubicBezTo>
                      <a:pt x="3508" y="1325797"/>
                      <a:pt x="0" y="1317327"/>
                      <a:pt x="0" y="1308496"/>
                    </a:cubicBezTo>
                    <a:lnTo>
                      <a:pt x="0" y="33298"/>
                    </a:lnTo>
                    <a:cubicBezTo>
                      <a:pt x="0" y="24467"/>
                      <a:pt x="3508" y="15997"/>
                      <a:pt x="9753" y="9753"/>
                    </a:cubicBezTo>
                    <a:cubicBezTo>
                      <a:pt x="15997" y="3508"/>
                      <a:pt x="24467" y="0"/>
                      <a:pt x="33298" y="0"/>
                    </a:cubicBezTo>
                    <a:close/>
                  </a:path>
                </a:pathLst>
              </a:custGeom>
              <a:solidFill>
                <a:srgbClr val="FCFCFC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66675"/>
                <a:ext cx="1837089" cy="127511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494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683670" y="2336750"/>
              <a:ext cx="7439550" cy="2707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18"/>
                </a:lnSpc>
              </a:pPr>
              <a:r>
                <a:rPr lang="en-US" sz="1900">
                  <a:solidFill>
                    <a:srgbClr val="151615"/>
                  </a:solidFill>
                  <a:latin typeface="네모고딕"/>
                  <a:ea typeface="네모고딕"/>
                  <a:cs typeface="네모고딕"/>
                  <a:sym typeface="네모고딕"/>
                </a:rPr>
                <a:t>- Open 이슈 12개 중 우선순위 높음 5개 완료</a:t>
              </a:r>
            </a:p>
            <a:p>
              <a:pPr algn="l">
                <a:lnSpc>
                  <a:spcPts val="4218"/>
                </a:lnSpc>
              </a:pPr>
              <a:r>
                <a:rPr lang="en-US" sz="1900">
                  <a:solidFill>
                    <a:srgbClr val="151615"/>
                  </a:solidFill>
                  <a:latin typeface="네모고딕"/>
                  <a:ea typeface="네모고딕"/>
                  <a:cs typeface="네모고딕"/>
                  <a:sym typeface="네모고딕"/>
                </a:rPr>
                <a:t>- 제스처 인식률 90%+, LLM 시나리오 15개 통과</a:t>
              </a:r>
            </a:p>
            <a:p>
              <a:pPr algn="l">
                <a:lnSpc>
                  <a:spcPts val="4218"/>
                </a:lnSpc>
              </a:pPr>
              <a:r>
                <a:rPr lang="en-US" sz="1900">
                  <a:solidFill>
                    <a:srgbClr val="151615"/>
                  </a:solidFill>
                  <a:latin typeface="네모고딕"/>
                  <a:ea typeface="네모고딕"/>
                  <a:cs typeface="네모고딕"/>
                  <a:sym typeface="네모고딕"/>
                </a:rPr>
                <a:t>- 실사용자 사용성 테스트 1회 이상 수행</a:t>
              </a:r>
            </a:p>
            <a:p>
              <a:pPr algn="l">
                <a:lnSpc>
                  <a:spcPts val="4218"/>
                </a:lnSpc>
              </a:pPr>
              <a:r>
                <a:rPr lang="en-US" sz="1900">
                  <a:solidFill>
                    <a:srgbClr val="151615"/>
                  </a:solidFill>
                  <a:latin typeface="네모고딕"/>
                  <a:ea typeface="네모고딕"/>
                  <a:cs typeface="네모고딕"/>
                  <a:sym typeface="네모고딕"/>
                </a:rPr>
                <a:t>- 관리자 UI 디자인 완성, 사용자 테스트 결과 보고서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177041" y="962492"/>
              <a:ext cx="6996980" cy="7802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120"/>
                </a:lnSpc>
              </a:pPr>
              <a:r>
                <a:rPr lang="en-US" sz="3200" b="true">
                  <a:solidFill>
                    <a:srgbClr val="151615"/>
                  </a:solidFill>
                  <a:latin typeface="네모고딕 Medium"/>
                  <a:ea typeface="네모고딕 Medium"/>
                  <a:cs typeface="네모고딕 Medium"/>
                  <a:sym typeface="네모고딕 Medium"/>
                </a:rPr>
                <a:t>중간 발표 목표 (예상: 10월)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309156" y="3846323"/>
            <a:ext cx="6975196" cy="5094623"/>
            <a:chOff x="0" y="0"/>
            <a:chExt cx="9300261" cy="6792831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9300261" cy="6792831"/>
              <a:chOff x="0" y="0"/>
              <a:chExt cx="1837089" cy="1341794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837089" cy="1341794"/>
              </a:xfrm>
              <a:custGeom>
                <a:avLst/>
                <a:gdLst/>
                <a:ahLst/>
                <a:cxnLst/>
                <a:rect r="r" b="b" t="t" l="l"/>
                <a:pathLst>
                  <a:path h="1341794" w="1837089">
                    <a:moveTo>
                      <a:pt x="33298" y="0"/>
                    </a:moveTo>
                    <a:lnTo>
                      <a:pt x="1803791" y="0"/>
                    </a:lnTo>
                    <a:cubicBezTo>
                      <a:pt x="1812622" y="0"/>
                      <a:pt x="1821092" y="3508"/>
                      <a:pt x="1827336" y="9753"/>
                    </a:cubicBezTo>
                    <a:cubicBezTo>
                      <a:pt x="1833581" y="15997"/>
                      <a:pt x="1837089" y="24467"/>
                      <a:pt x="1837089" y="33298"/>
                    </a:cubicBezTo>
                    <a:lnTo>
                      <a:pt x="1837089" y="1308496"/>
                    </a:lnTo>
                    <a:cubicBezTo>
                      <a:pt x="1837089" y="1317327"/>
                      <a:pt x="1833581" y="1325797"/>
                      <a:pt x="1827336" y="1332041"/>
                    </a:cubicBezTo>
                    <a:cubicBezTo>
                      <a:pt x="1821092" y="1338286"/>
                      <a:pt x="1812622" y="1341794"/>
                      <a:pt x="1803791" y="1341794"/>
                    </a:cubicBezTo>
                    <a:lnTo>
                      <a:pt x="33298" y="1341794"/>
                    </a:lnTo>
                    <a:cubicBezTo>
                      <a:pt x="24467" y="1341794"/>
                      <a:pt x="15997" y="1338286"/>
                      <a:pt x="9753" y="1332041"/>
                    </a:cubicBezTo>
                    <a:cubicBezTo>
                      <a:pt x="3508" y="1325797"/>
                      <a:pt x="0" y="1317327"/>
                      <a:pt x="0" y="1308496"/>
                    </a:cubicBezTo>
                    <a:lnTo>
                      <a:pt x="0" y="33298"/>
                    </a:lnTo>
                    <a:cubicBezTo>
                      <a:pt x="0" y="24467"/>
                      <a:pt x="3508" y="15997"/>
                      <a:pt x="9753" y="9753"/>
                    </a:cubicBezTo>
                    <a:cubicBezTo>
                      <a:pt x="15997" y="3508"/>
                      <a:pt x="24467" y="0"/>
                      <a:pt x="33298" y="0"/>
                    </a:cubicBezTo>
                    <a:close/>
                  </a:path>
                </a:pathLst>
              </a:custGeom>
              <a:solidFill>
                <a:srgbClr val="FCFCFC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66675"/>
                <a:ext cx="1837089" cy="127511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494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554078" y="2298650"/>
              <a:ext cx="8369905" cy="3418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18"/>
                </a:lnSpc>
              </a:pPr>
              <a:r>
                <a:rPr lang="en-US" sz="1900">
                  <a:solidFill>
                    <a:srgbClr val="151615"/>
                  </a:solidFill>
                  <a:latin typeface="네모고딕"/>
                  <a:ea typeface="네모고딕"/>
                  <a:cs typeface="네모고딕"/>
                  <a:sym typeface="네모고딕"/>
                </a:rPr>
                <a:t>- 모든 Open 이슈 해결, 전체 기능 안정화</a:t>
              </a:r>
            </a:p>
            <a:p>
              <a:pPr algn="l">
                <a:lnSpc>
                  <a:spcPts val="4218"/>
                </a:lnSpc>
              </a:pPr>
              <a:r>
                <a:rPr lang="en-US" sz="1900">
                  <a:solidFill>
                    <a:srgbClr val="151615"/>
                  </a:solidFill>
                  <a:latin typeface="네모고딕"/>
                  <a:ea typeface="네모고딕"/>
                  <a:cs typeface="네모고딕"/>
                  <a:sym typeface="네모고딕"/>
                </a:rPr>
                <a:t>- 고령자/시각장애인 대상 사용성 평가 결과 확보</a:t>
              </a:r>
            </a:p>
            <a:p>
              <a:pPr algn="l">
                <a:lnSpc>
                  <a:spcPts val="4218"/>
                </a:lnSpc>
              </a:pPr>
              <a:r>
                <a:rPr lang="en-US" sz="1900">
                  <a:solidFill>
                    <a:srgbClr val="151615"/>
                  </a:solidFill>
                  <a:latin typeface="네모고딕"/>
                  <a:ea typeface="네모고딕"/>
                  <a:cs typeface="네모고딕"/>
                  <a:sym typeface="네모고딕"/>
                </a:rPr>
                <a:t>- 음성 인식률, 제스처 인식률, LLM 응답 정확도 정량 측정</a:t>
              </a:r>
            </a:p>
            <a:p>
              <a:pPr algn="l">
                <a:lnSpc>
                  <a:spcPts val="4218"/>
                </a:lnSpc>
              </a:pPr>
              <a:r>
                <a:rPr lang="en-US" sz="1900">
                  <a:solidFill>
                    <a:srgbClr val="151615"/>
                  </a:solidFill>
                  <a:latin typeface="네모고딕"/>
                  <a:ea typeface="네모고딕"/>
                  <a:cs typeface="네모고딕"/>
                  <a:sym typeface="네모고딕"/>
                </a:rPr>
                <a:t>- 실제 키오스크 환경 데모, Cloudflare Tunnel 공개 접근</a:t>
              </a:r>
            </a:p>
            <a:p>
              <a:pPr algn="l">
                <a:lnSpc>
                  <a:spcPts val="4218"/>
                </a:lnSpc>
              </a:pPr>
              <a:r>
                <a:rPr lang="en-US" sz="1900">
                  <a:solidFill>
                    <a:srgbClr val="151615"/>
                  </a:solidFill>
                  <a:latin typeface="네모고딕"/>
                  <a:ea typeface="네모고딕"/>
                  <a:cs typeface="네모고딕"/>
                  <a:sym typeface="네모고딕"/>
                </a:rPr>
                <a:t>- 소스코드 정리, README 완성, 시연 영상, 최종 보고서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1151641" y="962492"/>
              <a:ext cx="6996980" cy="7801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120"/>
                </a:lnSpc>
              </a:pPr>
              <a:r>
                <a:rPr lang="en-US" sz="3200" b="true">
                  <a:solidFill>
                    <a:srgbClr val="151615"/>
                  </a:solidFill>
                  <a:latin typeface="네모고딕 Medium"/>
                  <a:ea typeface="네모고딕 Medium"/>
                  <a:cs typeface="네모고딕 Medium"/>
                  <a:sym typeface="네모고딕 Medium"/>
                </a:rPr>
                <a:t>최종 발표 목표 (예상: 11월)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3938" y="0"/>
            <a:ext cx="20335875" cy="10287000"/>
            <a:chOff x="0" y="0"/>
            <a:chExt cx="271145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600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39850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6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651231" y="612360"/>
            <a:ext cx="271148" cy="286173"/>
          </a:xfrm>
          <a:custGeom>
            <a:avLst/>
            <a:gdLst/>
            <a:ahLst/>
            <a:cxnLst/>
            <a:rect r="r" b="b" t="t" l="l"/>
            <a:pathLst>
              <a:path h="286173" w="271148">
                <a:moveTo>
                  <a:pt x="0" y="0"/>
                </a:moveTo>
                <a:lnTo>
                  <a:pt x="271148" y="0"/>
                </a:lnTo>
                <a:lnTo>
                  <a:pt x="271148" y="286172"/>
                </a:lnTo>
                <a:lnTo>
                  <a:pt x="0" y="286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512338" y="616360"/>
            <a:ext cx="3124432" cy="456813"/>
            <a:chOff x="0" y="0"/>
            <a:chExt cx="822896" cy="1203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2896" cy="120313"/>
            </a:xfrm>
            <a:custGeom>
              <a:avLst/>
              <a:gdLst/>
              <a:ahLst/>
              <a:cxnLst/>
              <a:rect r="r" b="b" t="t" l="l"/>
              <a:pathLst>
                <a:path h="120313" w="822896">
                  <a:moveTo>
                    <a:pt x="60156" y="0"/>
                  </a:moveTo>
                  <a:lnTo>
                    <a:pt x="762739" y="0"/>
                  </a:lnTo>
                  <a:cubicBezTo>
                    <a:pt x="795963" y="0"/>
                    <a:pt x="822896" y="26933"/>
                    <a:pt x="822896" y="60156"/>
                  </a:cubicBezTo>
                  <a:lnTo>
                    <a:pt x="822896" y="60156"/>
                  </a:lnTo>
                  <a:cubicBezTo>
                    <a:pt x="822896" y="93380"/>
                    <a:pt x="795963" y="120313"/>
                    <a:pt x="762739" y="120313"/>
                  </a:cubicBezTo>
                  <a:lnTo>
                    <a:pt x="60156" y="120313"/>
                  </a:lnTo>
                  <a:cubicBezTo>
                    <a:pt x="26933" y="120313"/>
                    <a:pt x="0" y="93380"/>
                    <a:pt x="0" y="60156"/>
                  </a:cubicBezTo>
                  <a:lnTo>
                    <a:pt x="0" y="60156"/>
                  </a:lnTo>
                  <a:cubicBezTo>
                    <a:pt x="0" y="26933"/>
                    <a:pt x="26933" y="0"/>
                    <a:pt x="60156" y="0"/>
                  </a:cubicBezTo>
                  <a:close/>
                </a:path>
              </a:pathLst>
            </a:custGeom>
            <a:solidFill>
              <a:srgbClr val="15161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22896" cy="167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4760046" y="762851"/>
            <a:ext cx="2629015" cy="173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sz="1200">
                <a:solidFill>
                  <a:srgbClr val="F3F4F3"/>
                </a:solidFill>
                <a:latin typeface="Poppins"/>
                <a:ea typeface="Poppins"/>
                <a:cs typeface="Poppins"/>
                <a:sym typeface="Poppins"/>
              </a:rPr>
              <a:t>https://github.com/Capstone-F5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83178" y="2614749"/>
            <a:ext cx="9189304" cy="860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500"/>
              </a:lnSpc>
            </a:pPr>
            <a:r>
              <a:rPr lang="en-US" sz="6500" b="true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논문 제목 및 연구 목적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21278" y="1983570"/>
            <a:ext cx="4491273" cy="303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99"/>
              </a:lnSpc>
            </a:pPr>
            <a:r>
              <a:rPr lang="en-US" b="true" sz="2199" spc="204">
                <a:solidFill>
                  <a:srgbClr val="151615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Title &amp; Purpose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83178" y="4465775"/>
            <a:ext cx="6856182" cy="1893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b="true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사회적 약자의 키오스크 접근성 향상을 위한 LLM 및 컴퓨터 비전 기반</a:t>
            </a:r>
          </a:p>
          <a:p>
            <a:pPr algn="l">
              <a:lnSpc>
                <a:spcPts val="3780"/>
              </a:lnSpc>
            </a:pPr>
            <a:r>
              <a:rPr lang="en-US" sz="2700" b="true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베리어프리 키오스크 개발 과정에 관한 연구</a:t>
            </a:r>
          </a:p>
          <a:p>
            <a:pPr algn="l" marL="0" indent="0" lvl="0">
              <a:lnSpc>
                <a:spcPts val="378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383178" y="6073596"/>
            <a:ext cx="10047956" cy="675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0"/>
              </a:lnSpc>
            </a:pPr>
            <a:r>
              <a:rPr lang="en-US" sz="17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음성 주문, 제스처 조작, 사용자 접근 감지 기능을 통합한 AI 키오스크를 실제로 구현할 수 있는지 검증하고, 해당 기능이 기존 터치 중심 키오스크  의 사용성을 얼마나 개선하는지 평가하고자 함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696005"/>
            <a:ext cx="5329013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1599"/>
              </a:lnSpc>
              <a:buAutoNum type="arabicPeriod" startAt="1"/>
            </a:pPr>
            <a:r>
              <a:rPr lang="en-US" sz="1599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논문 작성 계획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748364" y="621885"/>
            <a:ext cx="2791271" cy="231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b="true" sz="1600" spc="259">
                <a:solidFill>
                  <a:srgbClr val="15161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2026/09/08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3938" y="0"/>
            <a:ext cx="20335875" cy="10287000"/>
            <a:chOff x="0" y="0"/>
            <a:chExt cx="271145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600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39850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6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651231" y="612360"/>
            <a:ext cx="271148" cy="286173"/>
          </a:xfrm>
          <a:custGeom>
            <a:avLst/>
            <a:gdLst/>
            <a:ahLst/>
            <a:cxnLst/>
            <a:rect r="r" b="b" t="t" l="l"/>
            <a:pathLst>
              <a:path h="286173" w="271148">
                <a:moveTo>
                  <a:pt x="0" y="0"/>
                </a:moveTo>
                <a:lnTo>
                  <a:pt x="271148" y="0"/>
                </a:lnTo>
                <a:lnTo>
                  <a:pt x="271148" y="286172"/>
                </a:lnTo>
                <a:lnTo>
                  <a:pt x="0" y="286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512338" y="616360"/>
            <a:ext cx="3124432" cy="456813"/>
            <a:chOff x="0" y="0"/>
            <a:chExt cx="822896" cy="1203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2896" cy="120313"/>
            </a:xfrm>
            <a:custGeom>
              <a:avLst/>
              <a:gdLst/>
              <a:ahLst/>
              <a:cxnLst/>
              <a:rect r="r" b="b" t="t" l="l"/>
              <a:pathLst>
                <a:path h="120313" w="822896">
                  <a:moveTo>
                    <a:pt x="60156" y="0"/>
                  </a:moveTo>
                  <a:lnTo>
                    <a:pt x="762739" y="0"/>
                  </a:lnTo>
                  <a:cubicBezTo>
                    <a:pt x="795963" y="0"/>
                    <a:pt x="822896" y="26933"/>
                    <a:pt x="822896" y="60156"/>
                  </a:cubicBezTo>
                  <a:lnTo>
                    <a:pt x="822896" y="60156"/>
                  </a:lnTo>
                  <a:cubicBezTo>
                    <a:pt x="822896" y="93380"/>
                    <a:pt x="795963" y="120313"/>
                    <a:pt x="762739" y="120313"/>
                  </a:cubicBezTo>
                  <a:lnTo>
                    <a:pt x="60156" y="120313"/>
                  </a:lnTo>
                  <a:cubicBezTo>
                    <a:pt x="26933" y="120313"/>
                    <a:pt x="0" y="93380"/>
                    <a:pt x="0" y="60156"/>
                  </a:cubicBezTo>
                  <a:lnTo>
                    <a:pt x="0" y="60156"/>
                  </a:lnTo>
                  <a:cubicBezTo>
                    <a:pt x="0" y="26933"/>
                    <a:pt x="26933" y="0"/>
                    <a:pt x="60156" y="0"/>
                  </a:cubicBezTo>
                  <a:close/>
                </a:path>
              </a:pathLst>
            </a:custGeom>
            <a:solidFill>
              <a:srgbClr val="15161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22896" cy="167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4760046" y="762851"/>
            <a:ext cx="2629015" cy="173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sz="1200">
                <a:solidFill>
                  <a:srgbClr val="F3F4F3"/>
                </a:solidFill>
                <a:latin typeface="Poppins"/>
                <a:ea typeface="Poppins"/>
                <a:cs typeface="Poppins"/>
                <a:sym typeface="Poppins"/>
              </a:rPr>
              <a:t>https://github.com/Capstone-F5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21278" y="1983570"/>
            <a:ext cx="4491273" cy="303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99"/>
              </a:lnSpc>
            </a:pPr>
            <a:r>
              <a:rPr lang="en-US" b="true" sz="2199" spc="204">
                <a:solidFill>
                  <a:srgbClr val="151615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Research Method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81125" y="2209800"/>
            <a:ext cx="5905500" cy="995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9"/>
              </a:lnSpc>
            </a:pPr>
            <a:r>
              <a:rPr lang="en-US" sz="5799" b="true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연구 방법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381125" y="3790950"/>
            <a:ext cx="7600950" cy="2590800"/>
            <a:chOff x="0" y="0"/>
            <a:chExt cx="10134600" cy="3454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134600" cy="3454400"/>
            </a:xfrm>
            <a:custGeom>
              <a:avLst/>
              <a:gdLst/>
              <a:ahLst/>
              <a:cxnLst/>
              <a:rect r="r" b="b" t="t" l="l"/>
              <a:pathLst>
                <a:path h="3454400" w="10134600">
                  <a:moveTo>
                    <a:pt x="0" y="0"/>
                  </a:moveTo>
                  <a:lnTo>
                    <a:pt x="10134600" y="0"/>
                  </a:lnTo>
                  <a:lnTo>
                    <a:pt x="10134600" y="3454400"/>
                  </a:lnTo>
                  <a:lnTo>
                    <a:pt x="0" y="3454400"/>
                  </a:lnTo>
                  <a:close/>
                </a:path>
              </a:pathLst>
            </a:custGeom>
            <a:solidFill>
              <a:srgbClr val="F3F4F3"/>
            </a:solidFill>
            <a:ln w="9525" cap="sq">
              <a:solidFill>
                <a:srgbClr val="CACACA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134600" cy="3492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305925" y="3790950"/>
            <a:ext cx="7600950" cy="2590800"/>
            <a:chOff x="0" y="0"/>
            <a:chExt cx="10134600" cy="3454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134600" cy="3454400"/>
            </a:xfrm>
            <a:custGeom>
              <a:avLst/>
              <a:gdLst/>
              <a:ahLst/>
              <a:cxnLst/>
              <a:rect r="r" b="b" t="t" l="l"/>
              <a:pathLst>
                <a:path h="3454400" w="10134600">
                  <a:moveTo>
                    <a:pt x="0" y="0"/>
                  </a:moveTo>
                  <a:lnTo>
                    <a:pt x="10134600" y="0"/>
                  </a:lnTo>
                  <a:lnTo>
                    <a:pt x="10134600" y="3454400"/>
                  </a:lnTo>
                  <a:lnTo>
                    <a:pt x="0" y="3454400"/>
                  </a:lnTo>
                  <a:close/>
                </a:path>
              </a:pathLst>
            </a:custGeom>
            <a:solidFill>
              <a:srgbClr val="F3F4F3"/>
            </a:solidFill>
            <a:ln w="9525" cap="sq">
              <a:solidFill>
                <a:srgbClr val="CACACA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0134600" cy="3492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81125" y="6667500"/>
            <a:ext cx="7600950" cy="2590800"/>
            <a:chOff x="0" y="0"/>
            <a:chExt cx="10134600" cy="3454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134600" cy="3454400"/>
            </a:xfrm>
            <a:custGeom>
              <a:avLst/>
              <a:gdLst/>
              <a:ahLst/>
              <a:cxnLst/>
              <a:rect r="r" b="b" t="t" l="l"/>
              <a:pathLst>
                <a:path h="3454400" w="10134600">
                  <a:moveTo>
                    <a:pt x="0" y="0"/>
                  </a:moveTo>
                  <a:lnTo>
                    <a:pt x="10134600" y="0"/>
                  </a:lnTo>
                  <a:lnTo>
                    <a:pt x="10134600" y="3454400"/>
                  </a:lnTo>
                  <a:lnTo>
                    <a:pt x="0" y="3454400"/>
                  </a:lnTo>
                  <a:close/>
                </a:path>
              </a:pathLst>
            </a:custGeom>
            <a:solidFill>
              <a:srgbClr val="F3F4F3"/>
            </a:solidFill>
            <a:ln w="9525" cap="sq">
              <a:solidFill>
                <a:srgbClr val="CACACA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0134600" cy="3492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305925" y="6667500"/>
            <a:ext cx="7600950" cy="2590800"/>
            <a:chOff x="0" y="0"/>
            <a:chExt cx="10134600" cy="3454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134600" cy="3454400"/>
            </a:xfrm>
            <a:custGeom>
              <a:avLst/>
              <a:gdLst/>
              <a:ahLst/>
              <a:cxnLst/>
              <a:rect r="r" b="b" t="t" l="l"/>
              <a:pathLst>
                <a:path h="3454400" w="10134600">
                  <a:moveTo>
                    <a:pt x="0" y="0"/>
                  </a:moveTo>
                  <a:lnTo>
                    <a:pt x="10134600" y="0"/>
                  </a:lnTo>
                  <a:lnTo>
                    <a:pt x="10134600" y="3454400"/>
                  </a:lnTo>
                  <a:lnTo>
                    <a:pt x="0" y="3454400"/>
                  </a:lnTo>
                  <a:close/>
                </a:path>
              </a:pathLst>
            </a:custGeom>
            <a:solidFill>
              <a:srgbClr val="F3F4F3"/>
            </a:solidFill>
            <a:ln w="9525" cap="sq">
              <a:solidFill>
                <a:srgbClr val="CACACA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0134600" cy="3492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609725" y="3895725"/>
            <a:ext cx="7143750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89857F"/>
                </a:solidFill>
                <a:latin typeface="Poppins Bold"/>
                <a:ea typeface="Poppins Bold"/>
                <a:cs typeface="Poppins Bold"/>
                <a:sym typeface="Poppins Bold"/>
              </a:rPr>
              <a:t>①  실험 대상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09725" y="4333875"/>
            <a:ext cx="714375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151615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일반 사용자 20~30명</a:t>
            </a:r>
            <a:r>
              <a:rPr lang="en-US" sz="21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 대상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09725" y="4791075"/>
            <a:ext cx="71437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70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시각 정보 제한 및 신체적 제약 상황을 고려한 주문 실험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609725" y="5600700"/>
            <a:ext cx="7143750" cy="9525"/>
            <a:chOff x="0" y="0"/>
            <a:chExt cx="9525000" cy="127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525000" cy="12700"/>
            </a:xfrm>
            <a:custGeom>
              <a:avLst/>
              <a:gdLst/>
              <a:ahLst/>
              <a:cxnLst/>
              <a:rect r="r" b="b" t="t" l="l"/>
              <a:pathLst>
                <a:path h="12700" w="9525000">
                  <a:moveTo>
                    <a:pt x="0" y="0"/>
                  </a:moveTo>
                  <a:lnTo>
                    <a:pt x="9525000" y="0"/>
                  </a:lnTo>
                  <a:lnTo>
                    <a:pt x="9525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ACACA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9525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609725" y="5743575"/>
            <a:ext cx="71437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89857F"/>
                </a:solidFill>
                <a:latin typeface="네모고딕"/>
                <a:ea typeface="네모고딕"/>
                <a:cs typeface="네모고딕"/>
                <a:sym typeface="네모고딕"/>
              </a:rPr>
              <a:t>접근성 상황별 주문 경험 비교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534525" y="3895725"/>
            <a:ext cx="7143750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89857F"/>
                </a:solidFill>
                <a:latin typeface="Poppins Bold"/>
                <a:ea typeface="Poppins Bold"/>
                <a:cs typeface="Poppins Bold"/>
                <a:sym typeface="Poppins Bold"/>
              </a:rPr>
              <a:t>②  실험 환경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534525" y="4362450"/>
            <a:ext cx="2305050" cy="1770247"/>
            <a:chOff x="0" y="0"/>
            <a:chExt cx="3073400" cy="236033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073400" cy="2360330"/>
            </a:xfrm>
            <a:custGeom>
              <a:avLst/>
              <a:gdLst/>
              <a:ahLst/>
              <a:cxnLst/>
              <a:rect r="r" b="b" t="t" l="l"/>
              <a:pathLst>
                <a:path h="2360330" w="3073400">
                  <a:moveTo>
                    <a:pt x="0" y="0"/>
                  </a:moveTo>
                  <a:lnTo>
                    <a:pt x="3073400" y="0"/>
                  </a:lnTo>
                  <a:lnTo>
                    <a:pt x="3073400" y="2360330"/>
                  </a:lnTo>
                  <a:lnTo>
                    <a:pt x="0" y="236033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ACACA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3073400" cy="2398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9648825" y="4419600"/>
            <a:ext cx="2076450" cy="309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true">
                <a:solidFill>
                  <a:srgbClr val="89857F"/>
                </a:solidFill>
                <a:latin typeface="Poppins Bold"/>
                <a:ea typeface="Poppins Bold"/>
                <a:cs typeface="Poppins Bold"/>
                <a:sym typeface="Poppins Bold"/>
              </a:rPr>
              <a:t>A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648825" y="4705350"/>
            <a:ext cx="2076450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151615"/>
                </a:solidFill>
                <a:latin typeface="Poppins Bold"/>
                <a:ea typeface="Poppins Bold"/>
                <a:cs typeface="Poppins Bold"/>
                <a:sym typeface="Poppins Bold"/>
              </a:rPr>
              <a:t>기본 터치 주문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648825" y="5095875"/>
            <a:ext cx="2076450" cy="21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50">
                <a:solidFill>
                  <a:srgbClr val="89857F"/>
                </a:solidFill>
                <a:latin typeface="네모고딕"/>
                <a:ea typeface="네모고딕"/>
                <a:cs typeface="네모고딕"/>
                <a:sym typeface="네모고딕"/>
              </a:rPr>
              <a:t>일반적인 키오스크 환경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648825" y="5580697"/>
            <a:ext cx="2076450" cy="420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5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주문 완료까지의 기준 시간</a:t>
            </a:r>
          </a:p>
          <a:p>
            <a:pPr algn="l">
              <a:lnSpc>
                <a:spcPts val="1687"/>
              </a:lnSpc>
            </a:pPr>
            <a:r>
              <a:rPr lang="en-US" sz="135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및 오류 측정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1953875" y="4362450"/>
            <a:ext cx="2305050" cy="1770247"/>
            <a:chOff x="0" y="0"/>
            <a:chExt cx="3073400" cy="236033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073400" cy="2360330"/>
            </a:xfrm>
            <a:custGeom>
              <a:avLst/>
              <a:gdLst/>
              <a:ahLst/>
              <a:cxnLst/>
              <a:rect r="r" b="b" t="t" l="l"/>
              <a:pathLst>
                <a:path h="2360330" w="3073400">
                  <a:moveTo>
                    <a:pt x="0" y="0"/>
                  </a:moveTo>
                  <a:lnTo>
                    <a:pt x="3073400" y="0"/>
                  </a:lnTo>
                  <a:lnTo>
                    <a:pt x="3073400" y="2360330"/>
                  </a:lnTo>
                  <a:lnTo>
                    <a:pt x="0" y="236033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ACACA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3073400" cy="2398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2068175" y="4419600"/>
            <a:ext cx="2076450" cy="309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true">
                <a:solidFill>
                  <a:srgbClr val="89857F"/>
                </a:solidFill>
                <a:latin typeface="Poppins Bold"/>
                <a:ea typeface="Poppins Bold"/>
                <a:cs typeface="Poppins Bold"/>
                <a:sym typeface="Poppins Bold"/>
              </a:rPr>
              <a:t>B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068175" y="4705350"/>
            <a:ext cx="2076450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151615"/>
                </a:solidFill>
                <a:latin typeface="Poppins Bold"/>
                <a:ea typeface="Poppins Bold"/>
                <a:cs typeface="Poppins Bold"/>
                <a:sym typeface="Poppins Bold"/>
              </a:rPr>
              <a:t>음성 주문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068175" y="5095875"/>
            <a:ext cx="2076450" cy="420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50">
                <a:solidFill>
                  <a:srgbClr val="89857F"/>
                </a:solidFill>
                <a:latin typeface="네모고딕"/>
                <a:ea typeface="네모고딕"/>
                <a:cs typeface="네모고딕"/>
                <a:sym typeface="네모고딕"/>
              </a:rPr>
              <a:t>시각장애인 · 고령자 ·</a:t>
            </a:r>
          </a:p>
          <a:p>
            <a:pPr algn="l">
              <a:lnSpc>
                <a:spcPts val="1687"/>
              </a:lnSpc>
            </a:pPr>
            <a:r>
              <a:rPr lang="en-US" sz="1350">
                <a:solidFill>
                  <a:srgbClr val="89857F"/>
                </a:solidFill>
                <a:latin typeface="네모고딕"/>
                <a:ea typeface="네모고딕"/>
                <a:cs typeface="네모고딕"/>
                <a:sym typeface="네모고딕"/>
              </a:rPr>
              <a:t>휠체어 사용자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068175" y="5600700"/>
            <a:ext cx="2076450" cy="420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5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음성으로 메뉴 · 옵션 ·</a:t>
            </a:r>
          </a:p>
          <a:p>
            <a:pPr algn="l">
              <a:lnSpc>
                <a:spcPts val="1687"/>
              </a:lnSpc>
            </a:pPr>
            <a:r>
              <a:rPr lang="en-US" sz="135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수량 입력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4373225" y="4362450"/>
            <a:ext cx="2305050" cy="1770247"/>
            <a:chOff x="0" y="0"/>
            <a:chExt cx="3073400" cy="236033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073400" cy="2360330"/>
            </a:xfrm>
            <a:custGeom>
              <a:avLst/>
              <a:gdLst/>
              <a:ahLst/>
              <a:cxnLst/>
              <a:rect r="r" b="b" t="t" l="l"/>
              <a:pathLst>
                <a:path h="2360330" w="3073400">
                  <a:moveTo>
                    <a:pt x="0" y="0"/>
                  </a:moveTo>
                  <a:lnTo>
                    <a:pt x="3073400" y="0"/>
                  </a:lnTo>
                  <a:lnTo>
                    <a:pt x="3073400" y="2360330"/>
                  </a:lnTo>
                  <a:lnTo>
                    <a:pt x="0" y="236033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ACACA"/>
              </a:solidFill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3073400" cy="2398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14487525" y="4419600"/>
            <a:ext cx="2076450" cy="309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true">
                <a:solidFill>
                  <a:srgbClr val="89857F"/>
                </a:solidFill>
                <a:latin typeface="Poppins Bold"/>
                <a:ea typeface="Poppins Bold"/>
                <a:cs typeface="Poppins Bold"/>
                <a:sym typeface="Poppins Bold"/>
              </a:rPr>
              <a:t>C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4487525" y="4705350"/>
            <a:ext cx="2076450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151615"/>
                </a:solidFill>
                <a:latin typeface="Poppins Bold"/>
                <a:ea typeface="Poppins Bold"/>
                <a:cs typeface="Poppins Bold"/>
                <a:sym typeface="Poppins Bold"/>
              </a:rPr>
              <a:t>제스처 · 핀치 주문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4487525" y="5095875"/>
            <a:ext cx="2076450" cy="21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50">
                <a:solidFill>
                  <a:srgbClr val="89857F"/>
                </a:solidFill>
                <a:latin typeface="네모고딕"/>
                <a:ea typeface="네모고딕"/>
                <a:cs typeface="네모고딕"/>
                <a:sym typeface="네모고딕"/>
              </a:rPr>
              <a:t>휠체어 사용자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4487525" y="5600700"/>
            <a:ext cx="2076450" cy="420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5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제스처 · 핀치로 메뉴</a:t>
            </a:r>
          </a:p>
          <a:p>
            <a:pPr algn="l">
              <a:lnSpc>
                <a:spcPts val="1687"/>
              </a:lnSpc>
            </a:pPr>
            <a:r>
              <a:rPr lang="en-US" sz="1350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선택 및 조작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609725" y="6772275"/>
            <a:ext cx="7143750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89857F"/>
                </a:solidFill>
                <a:latin typeface="Poppins Bold"/>
                <a:ea typeface="Poppins Bold"/>
                <a:cs typeface="Poppins Bold"/>
                <a:sym typeface="Poppins Bold"/>
              </a:rPr>
              <a:t>③  평가 지표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609725" y="7274719"/>
            <a:ext cx="1952625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89857F"/>
                </a:solidFill>
                <a:latin typeface="Poppins Bold"/>
                <a:ea typeface="Poppins Bold"/>
                <a:cs typeface="Poppins Bold"/>
                <a:sym typeface="Poppins Bold"/>
              </a:rPr>
              <a:t>AI 모델 성능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3714750" y="7303294"/>
            <a:ext cx="4810125" cy="467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449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음성  WER/CER · 의도·메뉴 인식 정확도</a:t>
            </a:r>
          </a:p>
          <a:p>
            <a:pPr algn="l">
              <a:lnSpc>
                <a:spcPts val="1812"/>
              </a:lnSpc>
            </a:pPr>
            <a:r>
              <a:rPr lang="en-US" sz="1449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제스처  Accuracy · Precision · Recall · F1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609725" y="7846219"/>
            <a:ext cx="1952625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89857F"/>
                </a:solidFill>
                <a:latin typeface="Poppins Bold"/>
                <a:ea typeface="Poppins Bold"/>
                <a:cs typeface="Poppins Bold"/>
                <a:sym typeface="Poppins Bold"/>
              </a:rPr>
              <a:t>주문 수행 성능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3714750" y="7874794"/>
            <a:ext cx="4810125" cy="467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449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주문 완료 시간 · 과업 완료율</a:t>
            </a:r>
          </a:p>
          <a:p>
            <a:pPr algn="l">
              <a:lnSpc>
                <a:spcPts val="1812"/>
              </a:lnSpc>
            </a:pPr>
            <a:r>
              <a:rPr lang="en-US" sz="1449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오류 · 재시도 횟수 · 시스템 응답 시간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609725" y="8417719"/>
            <a:ext cx="1952625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89857F"/>
                </a:solidFill>
                <a:latin typeface="Poppins Bold"/>
                <a:ea typeface="Poppins Bold"/>
                <a:cs typeface="Poppins Bold"/>
                <a:sym typeface="Poppins Bold"/>
              </a:rPr>
              <a:t>사용자 평가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3714750" y="8446294"/>
            <a:ext cx="4810125" cy="467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449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편의성 · 직관성 · 유용성 · 접근성 개선 인식</a:t>
            </a:r>
          </a:p>
          <a:p>
            <a:pPr algn="l">
              <a:lnSpc>
                <a:spcPts val="1812"/>
              </a:lnSpc>
            </a:pPr>
            <a:r>
              <a:rPr lang="en-US" sz="1449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만족도 · 사용 의향 · SUS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9534525" y="6772275"/>
            <a:ext cx="7143750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89857F"/>
                </a:solidFill>
                <a:latin typeface="Poppins Bold"/>
                <a:ea typeface="Poppins Bold"/>
                <a:cs typeface="Poppins Bold"/>
                <a:sym typeface="Poppins Bold"/>
              </a:rPr>
              <a:t>④  연구 목적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9534525" y="7239000"/>
            <a:ext cx="7143750" cy="1786326"/>
            <a:chOff x="0" y="0"/>
            <a:chExt cx="9525000" cy="238176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525000" cy="2381768"/>
            </a:xfrm>
            <a:custGeom>
              <a:avLst/>
              <a:gdLst/>
              <a:ahLst/>
              <a:cxnLst/>
              <a:rect r="r" b="b" t="t" l="l"/>
              <a:pathLst>
                <a:path h="2381768" w="9525000">
                  <a:moveTo>
                    <a:pt x="25400" y="0"/>
                  </a:moveTo>
                  <a:lnTo>
                    <a:pt x="9499600" y="0"/>
                  </a:lnTo>
                  <a:cubicBezTo>
                    <a:pt x="9513628" y="0"/>
                    <a:pt x="9525000" y="13498"/>
                    <a:pt x="9525000" y="30149"/>
                  </a:cubicBezTo>
                  <a:lnTo>
                    <a:pt x="9525000" y="2351619"/>
                  </a:lnTo>
                  <a:cubicBezTo>
                    <a:pt x="9525000" y="2368270"/>
                    <a:pt x="9513628" y="2381768"/>
                    <a:pt x="9499600" y="2381768"/>
                  </a:cubicBezTo>
                  <a:lnTo>
                    <a:pt x="25400" y="2381768"/>
                  </a:lnTo>
                  <a:cubicBezTo>
                    <a:pt x="11372" y="2381768"/>
                    <a:pt x="0" y="2368270"/>
                    <a:pt x="0" y="2351619"/>
                  </a:cubicBezTo>
                  <a:lnTo>
                    <a:pt x="0" y="30149"/>
                  </a:lnTo>
                  <a:cubicBezTo>
                    <a:pt x="0" y="13498"/>
                    <a:pt x="11372" y="0"/>
                    <a:pt x="25400" y="0"/>
                  </a:cubicBezTo>
                  <a:close/>
                </a:path>
              </a:pathLst>
            </a:custGeom>
            <a:solidFill>
              <a:srgbClr val="151615"/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9525000" cy="24198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4" id="64"/>
          <p:cNvSpPr txBox="true"/>
          <p:nvPr/>
        </p:nvSpPr>
        <p:spPr>
          <a:xfrm rot="0">
            <a:off x="9763125" y="7410450"/>
            <a:ext cx="6686550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true">
                <a:solidFill>
                  <a:srgbClr val="C9C6C0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기본 터치 방식 대비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9763125" y="7743825"/>
            <a:ext cx="6686550" cy="700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1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음성·제스처 기반 접근성 기능의</a:t>
            </a:r>
          </a:p>
          <a:p>
            <a:pPr algn="l">
              <a:lnSpc>
                <a:spcPts val="2749"/>
              </a:lnSpc>
            </a:pPr>
            <a:r>
              <a:rPr lang="en-US" sz="21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주문 효율성 및 사용성 개선 효과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9763125" y="8424069"/>
            <a:ext cx="668655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C9C6C0"/>
                </a:solidFill>
                <a:latin typeface="Poppins Bold"/>
                <a:ea typeface="Poppins Bold"/>
                <a:cs typeface="Poppins Bold"/>
                <a:sym typeface="Poppins Bold"/>
              </a:rPr>
              <a:t>정량·정성적으로 검증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028700" y="696005"/>
            <a:ext cx="5329013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1599"/>
              </a:lnSpc>
              <a:buAutoNum type="arabicPeriod" startAt="1"/>
            </a:pPr>
            <a:r>
              <a:rPr lang="en-US" sz="1599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논문 작성 계획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7748364" y="621885"/>
            <a:ext cx="2791271" cy="231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b="true" sz="1600" spc="259">
                <a:solidFill>
                  <a:srgbClr val="15161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2026/09/08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47700" y="428625"/>
            <a:ext cx="447675" cy="647700"/>
          </a:xfrm>
          <a:custGeom>
            <a:avLst/>
            <a:gdLst/>
            <a:ahLst/>
            <a:cxnLst/>
            <a:rect r="r" b="b" t="t" l="l"/>
            <a:pathLst>
              <a:path h="647700" w="447675">
                <a:moveTo>
                  <a:pt x="0" y="0"/>
                </a:moveTo>
                <a:lnTo>
                  <a:pt x="447675" y="0"/>
                </a:lnTo>
                <a:lnTo>
                  <a:pt x="4476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363700" y="428625"/>
            <a:ext cx="3495675" cy="857250"/>
          </a:xfrm>
          <a:custGeom>
            <a:avLst/>
            <a:gdLst/>
            <a:ahLst/>
            <a:cxnLst/>
            <a:rect r="r" b="b" t="t" l="l"/>
            <a:pathLst>
              <a:path h="857250" w="3495675">
                <a:moveTo>
                  <a:pt x="0" y="0"/>
                </a:moveTo>
                <a:lnTo>
                  <a:pt x="3495675" y="0"/>
                </a:lnTo>
                <a:lnTo>
                  <a:pt x="34956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011680" y="1948053"/>
            <a:ext cx="4285047" cy="352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spc="255" b="true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Timeline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11680" y="2368296"/>
            <a:ext cx="5285232" cy="876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9"/>
              </a:lnSpc>
            </a:pPr>
            <a:r>
              <a:rPr lang="en-US" sz="5799" spc="-173" b="true">
                <a:solidFill>
                  <a:srgbClr val="222222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논문 작성 일정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325850" y="1924050"/>
            <a:ext cx="876300" cy="866775"/>
          </a:xfrm>
          <a:custGeom>
            <a:avLst/>
            <a:gdLst/>
            <a:ahLst/>
            <a:cxnLst/>
            <a:rect r="r" b="b" t="t" l="l"/>
            <a:pathLst>
              <a:path h="866775" w="876300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325850" y="9001125"/>
            <a:ext cx="1095375" cy="857250"/>
          </a:xfrm>
          <a:custGeom>
            <a:avLst/>
            <a:gdLst/>
            <a:ahLst/>
            <a:cxnLst/>
            <a:rect r="r" b="b" t="t" l="l"/>
            <a:pathLst>
              <a:path h="857250" w="1095375">
                <a:moveTo>
                  <a:pt x="0" y="0"/>
                </a:moveTo>
                <a:lnTo>
                  <a:pt x="1095375" y="0"/>
                </a:lnTo>
                <a:lnTo>
                  <a:pt x="1095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>
            <a:off x="2176462" y="5786438"/>
            <a:ext cx="13825538" cy="0"/>
          </a:xfrm>
          <a:prstGeom prst="line">
            <a:avLst/>
          </a:prstGeom>
          <a:ln cap="flat" w="28575">
            <a:solidFill>
              <a:srgbClr val="F2AD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733550" y="6000750"/>
            <a:ext cx="228600" cy="647700"/>
          </a:xfrm>
          <a:custGeom>
            <a:avLst/>
            <a:gdLst/>
            <a:ahLst/>
            <a:cxnLst/>
            <a:rect r="r" b="b" t="t" l="l"/>
            <a:pathLst>
              <a:path h="647700" w="228600">
                <a:moveTo>
                  <a:pt x="0" y="0"/>
                </a:moveTo>
                <a:lnTo>
                  <a:pt x="228600" y="0"/>
                </a:lnTo>
                <a:lnTo>
                  <a:pt x="228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695700" y="6000750"/>
            <a:ext cx="228600" cy="647700"/>
          </a:xfrm>
          <a:custGeom>
            <a:avLst/>
            <a:gdLst/>
            <a:ahLst/>
            <a:cxnLst/>
            <a:rect r="r" b="b" t="t" l="l"/>
            <a:pathLst>
              <a:path h="647700" w="228600">
                <a:moveTo>
                  <a:pt x="0" y="0"/>
                </a:moveTo>
                <a:lnTo>
                  <a:pt x="228600" y="0"/>
                </a:lnTo>
                <a:lnTo>
                  <a:pt x="228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876925" y="6000750"/>
            <a:ext cx="219075" cy="647700"/>
          </a:xfrm>
          <a:custGeom>
            <a:avLst/>
            <a:gdLst/>
            <a:ahLst/>
            <a:cxnLst/>
            <a:rect r="r" b="b" t="t" l="l"/>
            <a:pathLst>
              <a:path h="647700" w="219075">
                <a:moveTo>
                  <a:pt x="0" y="0"/>
                </a:moveTo>
                <a:lnTo>
                  <a:pt x="219075" y="0"/>
                </a:lnTo>
                <a:lnTo>
                  <a:pt x="2190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829550" y="6000750"/>
            <a:ext cx="228600" cy="647700"/>
          </a:xfrm>
          <a:custGeom>
            <a:avLst/>
            <a:gdLst/>
            <a:ahLst/>
            <a:cxnLst/>
            <a:rect r="r" b="b" t="t" l="l"/>
            <a:pathLst>
              <a:path h="647700" w="228600">
                <a:moveTo>
                  <a:pt x="0" y="0"/>
                </a:moveTo>
                <a:lnTo>
                  <a:pt x="228600" y="0"/>
                </a:lnTo>
                <a:lnTo>
                  <a:pt x="228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791700" y="6000750"/>
            <a:ext cx="228600" cy="647700"/>
          </a:xfrm>
          <a:custGeom>
            <a:avLst/>
            <a:gdLst/>
            <a:ahLst/>
            <a:cxnLst/>
            <a:rect r="r" b="b" t="t" l="l"/>
            <a:pathLst>
              <a:path h="647700" w="228600">
                <a:moveTo>
                  <a:pt x="0" y="0"/>
                </a:moveTo>
                <a:lnTo>
                  <a:pt x="228600" y="0"/>
                </a:lnTo>
                <a:lnTo>
                  <a:pt x="228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753850" y="6000750"/>
            <a:ext cx="438150" cy="647700"/>
          </a:xfrm>
          <a:custGeom>
            <a:avLst/>
            <a:gdLst/>
            <a:ahLst/>
            <a:cxnLst/>
            <a:rect r="r" b="b" t="t" l="l"/>
            <a:pathLst>
              <a:path h="647700" w="43815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925550" y="6000750"/>
            <a:ext cx="228600" cy="647700"/>
          </a:xfrm>
          <a:custGeom>
            <a:avLst/>
            <a:gdLst/>
            <a:ahLst/>
            <a:cxnLst/>
            <a:rect r="r" b="b" t="t" l="l"/>
            <a:pathLst>
              <a:path h="647700" w="228600">
                <a:moveTo>
                  <a:pt x="0" y="0"/>
                </a:moveTo>
                <a:lnTo>
                  <a:pt x="228600" y="0"/>
                </a:lnTo>
                <a:lnTo>
                  <a:pt x="228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5887700" y="6000750"/>
            <a:ext cx="228600" cy="647700"/>
          </a:xfrm>
          <a:custGeom>
            <a:avLst/>
            <a:gdLst/>
            <a:ahLst/>
            <a:cxnLst/>
            <a:rect r="r" b="b" t="t" l="l"/>
            <a:pathLst>
              <a:path h="647700" w="228600">
                <a:moveTo>
                  <a:pt x="0" y="0"/>
                </a:moveTo>
                <a:lnTo>
                  <a:pt x="228600" y="0"/>
                </a:lnTo>
                <a:lnTo>
                  <a:pt x="228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24000" y="5353050"/>
            <a:ext cx="657225" cy="866775"/>
          </a:xfrm>
          <a:custGeom>
            <a:avLst/>
            <a:gdLst/>
            <a:ahLst/>
            <a:cxnLst/>
            <a:rect r="r" b="b" t="t" l="l"/>
            <a:pathLst>
              <a:path h="866775" w="657225">
                <a:moveTo>
                  <a:pt x="0" y="0"/>
                </a:moveTo>
                <a:lnTo>
                  <a:pt x="657225" y="0"/>
                </a:lnTo>
                <a:lnTo>
                  <a:pt x="6572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914518" y="6656070"/>
            <a:ext cx="1810276" cy="266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222222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09.07 ~ 09.13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70432" y="7047338"/>
            <a:ext cx="1261872" cy="488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22222"/>
                </a:solidFill>
                <a:latin typeface="네모고딕"/>
                <a:ea typeface="네모고딕"/>
                <a:cs typeface="네모고딕"/>
                <a:sym typeface="네모고딕"/>
              </a:rPr>
              <a:t>업무 분배</a:t>
            </a:r>
          </a:p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22222"/>
                </a:solidFill>
                <a:latin typeface="네모고딕"/>
                <a:ea typeface="네모고딕"/>
                <a:cs typeface="네모고딕"/>
                <a:sym typeface="네모고딕"/>
              </a:rPr>
              <a:t>연구 방향 확정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3476625" y="5353050"/>
            <a:ext cx="885825" cy="866775"/>
          </a:xfrm>
          <a:custGeom>
            <a:avLst/>
            <a:gdLst/>
            <a:ahLst/>
            <a:cxnLst/>
            <a:rect r="r" b="b" t="t" l="l"/>
            <a:pathLst>
              <a:path h="866775" w="885825">
                <a:moveTo>
                  <a:pt x="0" y="0"/>
                </a:moveTo>
                <a:lnTo>
                  <a:pt x="885825" y="0"/>
                </a:lnTo>
                <a:lnTo>
                  <a:pt x="8858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972444" y="6656070"/>
            <a:ext cx="1754360" cy="266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222222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09.14 ~ 09.27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852928" y="7038713"/>
            <a:ext cx="1920240" cy="488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22222"/>
                </a:solidFill>
                <a:latin typeface="네모고딕"/>
                <a:ea typeface="네모고딕"/>
                <a:cs typeface="네모고딕"/>
                <a:sym typeface="네모고딕"/>
              </a:rPr>
              <a:t>선행연구 및</a:t>
            </a:r>
          </a:p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22222"/>
                </a:solidFill>
                <a:latin typeface="네모고딕"/>
                <a:ea typeface="네모고딕"/>
                <a:cs typeface="네모고딕"/>
                <a:sym typeface="네모고딕"/>
              </a:rPr>
              <a:t>자료 조사 • 실험 설계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5438775" y="5353050"/>
            <a:ext cx="876300" cy="866775"/>
          </a:xfrm>
          <a:custGeom>
            <a:avLst/>
            <a:gdLst/>
            <a:ahLst/>
            <a:cxnLst/>
            <a:rect r="r" b="b" t="t" l="l"/>
            <a:pathLst>
              <a:path h="866775" w="876300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4974454" y="6656070"/>
            <a:ext cx="1883428" cy="266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222222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09.28 ~ 10.04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303520" y="7030088"/>
            <a:ext cx="1261872" cy="488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22222"/>
                </a:solidFill>
                <a:latin typeface="네모고딕"/>
                <a:ea typeface="네모고딕"/>
                <a:cs typeface="네모고딕"/>
                <a:sym typeface="네모고딕"/>
              </a:rPr>
              <a:t>시스템 점검 •</a:t>
            </a:r>
          </a:p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22222"/>
                </a:solidFill>
                <a:latin typeface="네모고딕"/>
                <a:ea typeface="네모고딕"/>
                <a:cs typeface="네모고딕"/>
                <a:sym typeface="네모고딕"/>
              </a:rPr>
              <a:t>실험 준비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7620000" y="5353050"/>
            <a:ext cx="657225" cy="866775"/>
          </a:xfrm>
          <a:custGeom>
            <a:avLst/>
            <a:gdLst/>
            <a:ahLst/>
            <a:cxnLst/>
            <a:rect r="r" b="b" t="t" l="l"/>
            <a:pathLst>
              <a:path h="866775" w="657225">
                <a:moveTo>
                  <a:pt x="0" y="0"/>
                </a:moveTo>
                <a:lnTo>
                  <a:pt x="657225" y="0"/>
                </a:lnTo>
                <a:lnTo>
                  <a:pt x="6572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7022710" y="6660832"/>
            <a:ext cx="1791988" cy="266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222222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10.05 ~ 10.18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333488" y="7030088"/>
            <a:ext cx="1261872" cy="488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22222"/>
                </a:solidFill>
                <a:latin typeface="네모고딕"/>
                <a:ea typeface="네모고딕"/>
                <a:cs typeface="네모고딕"/>
                <a:sym typeface="네모고딕"/>
              </a:rPr>
              <a:t>사용자 실험 •</a:t>
            </a:r>
          </a:p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22222"/>
                </a:solidFill>
                <a:latin typeface="네모고딕"/>
                <a:ea typeface="네모고딕"/>
                <a:cs typeface="네모고딕"/>
                <a:sym typeface="네모고딕"/>
              </a:rPr>
              <a:t>데이터 수집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9572625" y="5353050"/>
            <a:ext cx="885825" cy="866775"/>
          </a:xfrm>
          <a:custGeom>
            <a:avLst/>
            <a:gdLst/>
            <a:ahLst/>
            <a:cxnLst/>
            <a:rect r="r" b="b" t="t" l="l"/>
            <a:pathLst>
              <a:path h="866775" w="885825">
                <a:moveTo>
                  <a:pt x="0" y="0"/>
                </a:moveTo>
                <a:lnTo>
                  <a:pt x="885825" y="0"/>
                </a:lnTo>
                <a:lnTo>
                  <a:pt x="8858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9059797" y="6660832"/>
            <a:ext cx="1814327" cy="266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222222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10.19 ~ 10.25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381744" y="7047338"/>
            <a:ext cx="1261872" cy="488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22222"/>
                </a:solidFill>
                <a:latin typeface="네모고딕"/>
                <a:ea typeface="네모고딕"/>
                <a:cs typeface="네모고딕"/>
                <a:sym typeface="네모고딕"/>
              </a:rPr>
              <a:t>결과 분석 •</a:t>
            </a:r>
          </a:p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22222"/>
                </a:solidFill>
                <a:latin typeface="네모고딕"/>
                <a:ea typeface="네모고딕"/>
                <a:cs typeface="네모고딕"/>
                <a:sym typeface="네모고딕"/>
              </a:rPr>
              <a:t>통계 및 시각화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1534775" y="5353050"/>
            <a:ext cx="876300" cy="866775"/>
          </a:xfrm>
          <a:custGeom>
            <a:avLst/>
            <a:gdLst/>
            <a:ahLst/>
            <a:cxnLst/>
            <a:rect r="r" b="b" t="t" l="l"/>
            <a:pathLst>
              <a:path h="866775" w="876300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1228832" y="7056412"/>
            <a:ext cx="1481328" cy="488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22222"/>
                </a:solidFill>
                <a:latin typeface="네모고딕"/>
                <a:ea typeface="네모고딕"/>
                <a:cs typeface="네모고딕"/>
                <a:sym typeface="네모고딕"/>
              </a:rPr>
              <a:t>논문 초안 작성 •</a:t>
            </a:r>
          </a:p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22222"/>
                </a:solidFill>
                <a:latin typeface="네모고딕"/>
                <a:ea typeface="네모고딕"/>
                <a:cs typeface="네모고딕"/>
                <a:sym typeface="네모고딕"/>
              </a:rPr>
              <a:t>결과 및 논의 작성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13496925" y="5353050"/>
            <a:ext cx="876300" cy="866775"/>
          </a:xfrm>
          <a:custGeom>
            <a:avLst/>
            <a:gdLst/>
            <a:ahLst/>
            <a:cxnLst/>
            <a:rect r="r" b="b" t="t" l="l"/>
            <a:pathLst>
              <a:path h="866775" w="876300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3331952" y="6660832"/>
            <a:ext cx="1389888" cy="266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222222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11.09 ~ 11.22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441680" y="7047338"/>
            <a:ext cx="1261872" cy="488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22222"/>
                </a:solidFill>
                <a:latin typeface="네모고딕"/>
                <a:ea typeface="네모고딕"/>
                <a:cs typeface="네모고딕"/>
                <a:sym typeface="네모고딕"/>
              </a:rPr>
              <a:t>논문 통합 •</a:t>
            </a:r>
          </a:p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22222"/>
                </a:solidFill>
                <a:latin typeface="네모고딕"/>
                <a:ea typeface="네모고딕"/>
                <a:cs typeface="네모고딕"/>
                <a:sym typeface="네모고딕"/>
              </a:rPr>
              <a:t>피드백 및 수정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15668625" y="5353050"/>
            <a:ext cx="666750" cy="866775"/>
          </a:xfrm>
          <a:custGeom>
            <a:avLst/>
            <a:gdLst/>
            <a:ahLst/>
            <a:cxnLst/>
            <a:rect r="r" b="b" t="t" l="l"/>
            <a:pathLst>
              <a:path h="866775" w="666750">
                <a:moveTo>
                  <a:pt x="0" y="0"/>
                </a:moveTo>
                <a:lnTo>
                  <a:pt x="666750" y="0"/>
                </a:lnTo>
                <a:lnTo>
                  <a:pt x="6667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11301984" y="6656070"/>
            <a:ext cx="1481328" cy="266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222222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10.26 ~ 11.08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5361920" y="6660832"/>
            <a:ext cx="1389888" cy="266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222222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11.23 ~ 11.30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5563088" y="7047338"/>
            <a:ext cx="950976" cy="488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22222"/>
                </a:solidFill>
                <a:latin typeface="네모고딕"/>
                <a:ea typeface="네모고딕"/>
                <a:cs typeface="네모고딕"/>
                <a:sym typeface="네모고딕"/>
              </a:rPr>
              <a:t>최종 검토 •</a:t>
            </a:r>
          </a:p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22222"/>
                </a:solidFill>
                <a:latin typeface="네모고딕"/>
                <a:ea typeface="네모고딕"/>
                <a:cs typeface="네모고딕"/>
                <a:sym typeface="네모고딕"/>
              </a:rPr>
              <a:t>보완 • 제출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91640" y="5657850"/>
            <a:ext cx="256032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1"/>
              </a:lnSpc>
            </a:pPr>
            <a:r>
              <a:rPr lang="en-US" sz="1592" b="true">
                <a:solidFill>
                  <a:srgbClr val="222222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01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3721608" y="5657850"/>
            <a:ext cx="256032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1"/>
              </a:lnSpc>
            </a:pPr>
            <a:r>
              <a:rPr lang="en-US" sz="1592" b="true">
                <a:solidFill>
                  <a:srgbClr val="222222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02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792343" y="5657850"/>
            <a:ext cx="256032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1"/>
              </a:lnSpc>
            </a:pPr>
            <a:r>
              <a:rPr lang="en-US" sz="1592" b="true">
                <a:solidFill>
                  <a:srgbClr val="222222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03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610475" y="5657850"/>
            <a:ext cx="657225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1"/>
              </a:lnSpc>
            </a:pPr>
            <a:r>
              <a:rPr lang="en-US" sz="1592" b="true">
                <a:solidFill>
                  <a:srgbClr val="222222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04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838944" y="5657850"/>
            <a:ext cx="256032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1"/>
              </a:lnSpc>
            </a:pPr>
            <a:r>
              <a:rPr lang="en-US" sz="1592" b="true">
                <a:solidFill>
                  <a:srgbClr val="222222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05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753850" y="5657850"/>
            <a:ext cx="613454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1"/>
              </a:lnSpc>
            </a:pPr>
            <a:r>
              <a:rPr lang="en-US" sz="1592" b="true">
                <a:solidFill>
                  <a:srgbClr val="222222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06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3877925" y="5657850"/>
            <a:ext cx="256032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1"/>
              </a:lnSpc>
            </a:pPr>
            <a:r>
              <a:rPr lang="en-US" sz="1592" b="true">
                <a:solidFill>
                  <a:srgbClr val="222222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07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5787878" y="5657850"/>
            <a:ext cx="537972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1"/>
              </a:lnSpc>
            </a:pPr>
            <a:r>
              <a:rPr lang="en-US" sz="1592" b="true">
                <a:solidFill>
                  <a:srgbClr val="222222"/>
                </a:solidFill>
                <a:latin typeface="네모고딕 Medium"/>
                <a:ea typeface="네모고딕 Medium"/>
                <a:cs typeface="네모고딕 Medium"/>
                <a:sym typeface="네모고딕 Medium"/>
              </a:rPr>
              <a:t>08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4801793" y="762000"/>
            <a:ext cx="2629015" cy="173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sz="1200">
                <a:solidFill>
                  <a:srgbClr val="F3F4F3"/>
                </a:solidFill>
                <a:latin typeface="Poppins"/>
                <a:ea typeface="Poppins"/>
                <a:cs typeface="Poppins"/>
                <a:sym typeface="Poppins"/>
              </a:rPr>
              <a:t>https://github.com/Capstone-F5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28700" y="696005"/>
            <a:ext cx="5329013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1599"/>
              </a:lnSpc>
              <a:buAutoNum type="arabicPeriod" startAt="1"/>
            </a:pPr>
            <a:r>
              <a:rPr lang="en-US" sz="1599">
                <a:solidFill>
                  <a:srgbClr val="151615"/>
                </a:solidFill>
                <a:latin typeface="네모고딕"/>
                <a:ea typeface="네모고딕"/>
                <a:cs typeface="네모고딕"/>
                <a:sym typeface="네모고딕"/>
              </a:rPr>
              <a:t>논문 작성 계획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748364" y="621885"/>
            <a:ext cx="2791271" cy="231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b="true" sz="1600" spc="259">
                <a:solidFill>
                  <a:srgbClr val="15161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2026/09/08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DAHT9IJGaAU</dc:identifier>
  <dcterms:modified xsi:type="dcterms:W3CDTF">2011-08-01T06:04:30Z</dcterms:modified>
  <cp:revision>1</cp:revision>
  <dc:title>팀프로젝트현황보고</dc:title>
</cp:coreProperties>
</file>