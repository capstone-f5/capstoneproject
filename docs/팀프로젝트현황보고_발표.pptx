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965960"/>
            <a:ext cx="11777472" cy="640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4DE"/>
                </a:solidFill>
              </a:rPr>
              <a:t>팀프로젝트 현황보고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디지털 약자를 위한
음성 및 제스처 중심의 배리어프리 키오스크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C4DE"/>
                </a:solidFill>
              </a:rPr>
              <a:t>물리적 접근성 극복을 위한 지능형 서비스 디자인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●  팀명:  F5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●  소속:  동양미래대학교 인공지능소프트웨어학과 3-QA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●  개발 기간:  2026.03.03 ~ 2026.09.xx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●  보고 기준일:  2026.09.01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ABC"/>
                </a:solidFill>
              </a:rPr>
              <a:t>GitHub: github.com/Capstone-F5  |  PR 15개 전체 MERGED  |  총 이슈 30개+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75488" cy="47548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904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프로젝트 개요 및 목표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03120"/>
            <a:ext cx="475488" cy="47548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1762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1945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1학기 결과 &amp; 변경사항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88920"/>
            <a:ext cx="475488" cy="47548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620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880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방학 중 개발 수행 현황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74720"/>
            <a:ext cx="475488" cy="47548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5478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기능별 구현 현황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417320"/>
            <a:ext cx="475488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904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5087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AI 모델 및 데이터 현황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103120"/>
            <a:ext cx="475488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1762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1945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시스템 통합 및 실행 결과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788920"/>
            <a:ext cx="475488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620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28803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진행률 종합 평가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74720"/>
            <a:ext cx="475488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5478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5661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2학기 개발 계획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160520"/>
            <a:ext cx="475488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23367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2519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4A"/>
                </a:solidFill>
              </a:rPr>
              <a:t> 논문 작성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1. 프로젝트 배경 및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왜 배리어프리 키오스크인가?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548640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기존 키오스크의 문제점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54406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783080"/>
            <a:ext cx="54864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196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터치 전용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09397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손 떨림·상지 장애가 있는 사용자는 정확한 터치 자체가 불가능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606040"/>
            <a:ext cx="54406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606040"/>
            <a:ext cx="54864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4261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복잡한 메뉴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1693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고령자 기준 평균 7단계 이상의 화면 전환 → 이용 포기율 급증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29000"/>
            <a:ext cx="54406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429000"/>
            <a:ext cx="54864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6557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시각 정보 의존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3989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시각장애인은 화면 위치조차 파악하지 못해 완전히 배제됨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251960"/>
            <a:ext cx="54406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251960"/>
            <a:ext cx="54864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885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한국어 단일 언어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628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57A"/>
                </a:solidFill>
              </a:rPr>
              <a:t>외국인 관광객·이민자 등 비한국어 사용자 이용 불가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325880"/>
            <a:ext cx="5577840" cy="38404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3533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우리의 해법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783080"/>
            <a:ext cx="55778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1783080"/>
            <a:ext cx="54864" cy="68580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181965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음성 대화 주문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0756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Whisper STT → GPT-4o-mini LangChain 에이전트 → TTS
"더블치즈버거 하나 세트로" 한 마디로 주문 완료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606040"/>
            <a:ext cx="55778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2606040"/>
            <a:ext cx="54864" cy="68580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26426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비접촉 제스처 제어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898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MediaPipe Hands 21포인트 → MLP 실시간 분류
화면 터치 없이 스와이프·OK 제스처로 메뉴 탐색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3429000"/>
            <a:ext cx="55778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3429000"/>
            <a:ext cx="54864" cy="68580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4655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시각장애인 자동 안내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3721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YOLOv8 INT8 TFLite로 흰 지팡이 감지
접근 즉시 "키오스크입니다" 음성 자동 재생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251960"/>
            <a:ext cx="55778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72200" y="4251960"/>
            <a:ext cx="54864" cy="68580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2885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다국어 실시간 전환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544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한·영·중·일 4개 언어 즉시 전환
발화 언어 자동 감지 후 동일 언어로 응답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120640"/>
            <a:ext cx="11338560" cy="5669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212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→  LLM + 컴퓨터 비전 결합으로 터치 없이도 완전한 주문 경험을 제공하는 배리어프리 키오스크 개발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1. 팀 구성 및 역할 분담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Team F5  —  6명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267712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이름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371600"/>
            <a:ext cx="2267712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4173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학번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6904" y="1371600"/>
            <a:ext cx="2267712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4173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역할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4616" y="1371600"/>
            <a:ext cx="2267712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14173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담당 개발 영역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2328" y="1371600"/>
            <a:ext cx="2267712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8904" y="141732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방학 주요 기여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92024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19568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조예성 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9192" y="192024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19568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20241519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46904" y="192024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19568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팀장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14616" y="192024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1192" y="19568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웹 프론트엔드·기능명세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82328" y="192024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18904" y="19568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Phase 2 재연동, 관리자 UI, 할인 화면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46888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" y="250545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김명서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9192" y="246888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15768" y="250545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20242513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46904" y="246888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250545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팀원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14616" y="246888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51192" y="250545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UI/UX 디자인·기획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82328" y="246888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8904" y="250545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관리자 UI 디자인 명세 작성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01752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" y="305409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진수민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9192" y="301752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15768" y="305409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20241479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46904" y="301752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305409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팀원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14616" y="301752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51192" y="305409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UI/UX 디자인·기획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82328" y="301752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8904" y="305409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화면 플로우 UX 설계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56616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" y="360273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김성원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9192" y="356616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15768" y="360273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20241491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46904" y="356616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83480" y="360273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팀원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14616" y="356616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51192" y="360273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백엔드·LLM·CV 모델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82328" y="356616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18904" y="360273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LLM 툴 DB 연동, 흰 지팡이 TFLite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11480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" y="415137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임지연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79192" y="411480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15768" y="415137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20242514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46904" y="411480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83480" y="415137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팀원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14616" y="411480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51192" y="415137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백엔드·비동기 파이프라인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82328" y="4114800"/>
            <a:ext cx="2267712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18904" y="415137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FastAPI Phase 2, STT 품질 개선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466344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6" y="47000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서유민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79192" y="466344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15768" y="47000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20242517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46904" y="466344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83480" y="47000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팀원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14616" y="466344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51192" y="47000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DB 설계·구축·제안서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82328" y="4663440"/>
            <a:ext cx="22677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18904" y="4700016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MySQL 스키마, 알레르기·할인 DAO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5486400"/>
            <a:ext cx="27432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1208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총 PR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08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15개 (전체 MERGED, 미머지 0개)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46120" y="5486400"/>
            <a:ext cx="27432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55848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총 이슈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55848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30개+  ·  CLOSED 18  /  OPEN 12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86400"/>
            <a:ext cx="27432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90488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브랜치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0488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로컬 8개  +  리모트 12개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15400" y="5486400"/>
            <a:ext cx="274320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5128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총 커밋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25128" y="5806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50개+ (2026.04 ~ 2026.08)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1. 핵심 기능 및 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최종 산출물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931920" cy="192024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① 음성 대화 주문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F"/>
                </a:solidFill>
              </a:rPr>
              <a:t>Whisper STT  →  GPT-4o-mini  →  TTS
4개 언어 자동 감지, 환각 방지 가드, SSE 스트리밍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371600"/>
            <a:ext cx="3931920" cy="192024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481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제스처 제어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96596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F"/>
                </a:solidFill>
              </a:rPr>
              <a:t>MediaPipe Hands  →  MLP 분류기  →  WebSocket
정적(ok/none) + 동적(swipe) 실시간 분류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371600"/>
            <a:ext cx="3931920" cy="1920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481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③ 시각장애인 지원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96596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F"/>
                </a:solidFill>
              </a:rPr>
              <a:t>YOLOv8 INT8 TFLite  →  흰 지팡이 감지
접근 시 자동 VOICE_MODE 전환, TTS 3회 안내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3931920" cy="192024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67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④ 다국어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F"/>
                </a:solidFill>
              </a:rPr>
              <a:t>한·영·중·일 실시간 전환
발화 언어 자동 감지, 메뉴명 해당 언어로 번역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3657600"/>
            <a:ext cx="3931920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7673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⑤ 관리자 시스템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25196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E8FF"/>
                </a:solidFill>
              </a:rPr>
              <a:t>JWT 인증 기반 별도 관리자 화면
메뉴·주문·쿠폰·할인·통계·회원·결제 관리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3657600"/>
            <a:ext cx="2926080" cy="1920240"/>
          </a:xfrm>
          <a:prstGeom prst="rect">
            <a:avLst/>
          </a:prstGeom>
          <a:solidFill>
            <a:srgbClr val="F4F6FA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3703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기술 스택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4069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Frontend:  React 18.3 + Vite 5.4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297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Backend:   FastAPI + 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26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LLM:        GPT-4o-mini + LangChain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754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CV:         MediaPipe + TFLite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4983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RAG:        FAISS + text-embedding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인증:        JWT (관리자)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2. 1학기 주요 설계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1학기 구현 완료 항목 (2026.04~05)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77952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완료 시점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1000" y="1371600"/>
            <a:ext cx="377952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7576" y="1417320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구현 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0520" y="1371600"/>
            <a:ext cx="377952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7096" y="1417320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기술적 세부사항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195681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2026-04-20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0" y="192024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7576" y="195681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Whisper STT 모듈 구현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0520" y="192024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7096" y="195681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OpenAI Whisper API 연동 + 테스트 모듈 작성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46888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250545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2026-05-17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1000" y="246888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7576" y="250545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UI 프로토타입 1차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0520" y="246888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7096" y="250545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React 기반 키오스크 화면 플로우 설계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01752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" y="305409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2026-05-19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1000" y="301752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7576" y="305409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STT 백엔드 서버 연동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0520" y="301752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7096" y="305409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음성 파일 수신 → 텍스트 변환 API 구현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56616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" y="360273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2026-05-30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1000" y="356616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7576" y="360273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GPT 대화 에이전트 연동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0520" y="356616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7096" y="360273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LangChain 에이전트 초기 구성, 기본 주문 대화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11480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" y="415137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2026-05-30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1000" y="411480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7576" y="415137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손 제스처 인식 UI 통합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70520" y="4114800"/>
            <a:ext cx="3779520" cy="54864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7096" y="415137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브라우저 내 손 인식 + 실시간 화면 이벤트 연결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66344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" y="470001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2026-05-31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91000" y="466344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7576" y="470001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음성 주문 전체 통합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70520" y="4663440"/>
            <a:ext cx="3779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7096" y="4700016"/>
            <a:ext cx="37063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STT→LLM→TTS 파이프라인 통합, 다국어 기초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5394960"/>
            <a:ext cx="11338560" cy="50292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46811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1학기 완료 기준: 음성으로 메뉴를 말하면 LLM이 이해하고 TTS로 응답하는 기본 파이프라인 동작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2. 초기 계획 대비 변경사항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무엇이, 왜 바뀌었나?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변경된 항목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2834640" cy="487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1764792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719072"/>
            <a:ext cx="2834640" cy="487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2696" y="1764792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초기 계획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719072"/>
            <a:ext cx="2834640" cy="487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1764792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변경 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1719072"/>
            <a:ext cx="2834640" cy="487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1764792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변경 사유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20675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224332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20675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2696" y="224332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SQLite (로컬 파일)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20675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17336" y="224332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MySQL + aiomysql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220675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51976" y="224332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다중 접속, 운영 환경 안정성, 트랜잭션 지원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694432"/>
            <a:ext cx="283464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" y="273100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STT 모델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694432"/>
            <a:ext cx="283464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2696" y="273100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whisper-1 (구 API)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0760" y="2694432"/>
            <a:ext cx="283464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17336" y="273100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gpt-4o-mini-transcribe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2694432"/>
            <a:ext cx="283464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1976" y="273100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비용 40% 절감, 메뉴 어휘 힌트 프롬프트 지원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18211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" y="321868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배포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318211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82696" y="321868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로컬 전용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318211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17336" y="321868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Cloudflare Tunnel HTTPS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318211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51976" y="321868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외부 데모, 카메라 API는 HTTPS 필수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669792"/>
            <a:ext cx="283464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" y="370636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LLM 툴 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46120" y="3669792"/>
            <a:ext cx="283464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82696" y="370636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기본 대화 수준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3669792"/>
            <a:ext cx="283464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17336" y="370636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11개 AgentExecutor 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15400" y="3669792"/>
            <a:ext cx="2834640" cy="48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51976" y="370636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세트/단품 선택, 포인트 조회 등 복잡 시나리오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415747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" y="419404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제스처 전달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6120" y="415747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82696" y="419404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HTTP 폴링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60" y="415747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17336" y="419404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WebSocket 실시간 스트리밍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15400" y="4157472"/>
            <a:ext cx="2834640" cy="48768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51976" y="4194048"/>
            <a:ext cx="2761488" cy="432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폴링 지연 100ms+ → WebSocket 10ms 이하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475488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신규 추가 기능 (초기 미계획)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50749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6EC8"/>
                </a:solidFill>
              </a:rPr>
              <a:t>✚  흰 지팡이 접근 자동 감지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5330952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     YOLOv8 INT8 TFLite + WebSocket — 시각장애인 접근성 강화 요구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546811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6EC8"/>
                </a:solidFill>
              </a:rPr>
              <a:t>✚  관리자 통합 시스템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5724144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     Module A~H — 실제 키오스크 운영을 위한 관리 기능 필수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5861304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6EC8"/>
                </a:solidFill>
              </a:rPr>
              <a:t>✚  LLM 시나리오 자동화 테스트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1733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     7개 JSONL — 환각·언어 순도·결제 우회 등 품질 검증 체계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625449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6EC8"/>
                </a:solidFill>
              </a:rPr>
              <a:t>✚  알레르기 정보 DB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6510528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     메뉴별 알레르기 유발물질 테이블 — 식품 안전 정보 의무 제공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2. 현재 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방학 개발 이후 현재 전체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98448"/>
            <a:ext cx="3383280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371600"/>
            <a:ext cx="3200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사용자 / 관리자
(웹 브라우저)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057400"/>
            <a:ext cx="7040880" cy="77724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2130552"/>
            <a:ext cx="6858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React 프론트엔드  (Vite 5.4)
키오스크 UI 12화면 + 관리자 대시보드 + 다국어 i18n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2999232"/>
            <a:ext cx="704088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3072384"/>
            <a:ext cx="68580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FastAPI 백엔드  (Uvicorn, port 8000)
REST API  /  SSE 스트리밍  /  WebSocket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86200"/>
            <a:ext cx="2286000" cy="868680"/>
          </a:xfrm>
          <a:prstGeom prst="rect">
            <a:avLst/>
          </a:prstGeom>
          <a:solidFill>
            <a:srgbClr val="34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393192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STT
gpt-4o-mini
-transcribe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886200"/>
            <a:ext cx="2286000" cy="868680"/>
          </a:xfrm>
          <a:prstGeom prst="rect">
            <a:avLst/>
          </a:prstGeom>
          <a:solidFill>
            <a:srgbClr val="34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393192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LLM
GPT-4o-mini
+LangChain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3886200"/>
            <a:ext cx="2286000" cy="868680"/>
          </a:xfrm>
          <a:prstGeom prst="rect">
            <a:avLst/>
          </a:prstGeom>
          <a:solidFill>
            <a:srgbClr val="34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393192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TTS
OpenAI
tts-1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886200"/>
            <a:ext cx="2286000" cy="868680"/>
          </a:xfrm>
          <a:prstGeom prst="rect">
            <a:avLst/>
          </a:prstGeom>
          <a:solidFill>
            <a:srgbClr val="34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2" y="393192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제스처 MLP
MediaPipe
+joblib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7000" y="3886200"/>
            <a:ext cx="2286000" cy="868680"/>
          </a:xfrm>
          <a:prstGeom prst="rect">
            <a:avLst/>
          </a:prstGeom>
          <a:solidFill>
            <a:srgbClr val="347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0152" y="3931920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흰 지팡이
YOLOv8
TFLite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56048"/>
            <a:ext cx="1133856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017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MySQL  (kiosk_db)  —  SQLAlchemy ORM + DAO 레이어
메뉴·카테고리·장바구니·주문·결제·쿠폰·할인·회원·알레르기·통계 10개 테이블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187451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8346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↓  REST / SSE / WebSocket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7307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↓  API 호출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8006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↓  ORM 쿼리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3. 방학 중 개발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2026.07 ~ 2026.08  (약 7주)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65176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백엔드 DB 연동 완성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1371600"/>
            <a:ext cx="8595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4264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1학기에 만든 LLM 에이전트를 실제 데이터베이스와 연결
메뉴·주문·결제 등 모든 데이터를 실제 DB에서 읽고 저장하도록 API 완성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286000"/>
            <a:ext cx="265176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관리자 운영 시스템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2286000"/>
            <a:ext cx="8595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73552" y="2340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실제 키오스크를 운영하는 데 필요한 관리 기능 전부 구현
메뉴 등록·주문 확인·쿠폰 발급·할인 설정·매출 통계·회원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00400"/>
            <a:ext cx="265176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화면-서버 전체 재연동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3200400"/>
            <a:ext cx="8595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32552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백엔드 API가 새로 만들어지면서 키오스크 화면을 전부 다시 연결
메뉴 조회·장바구니·결제 등 모든 화면이 실제 데이터 기반으로 동작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114800"/>
            <a:ext cx="265176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976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시각장애인 접근성 기능 추가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4114800"/>
            <a:ext cx="8595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41696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초기 계획에 없었지만 방학 중 새로 개발한 핵심 기능
흰 지팡이를 감지하면 자동으로 음성 안내를 시작하는 기능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29200"/>
            <a:ext cx="265176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⑤ 외부 접근 배포 환경 구축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5029200"/>
            <a:ext cx="8595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50840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카메라를 쓰려면 HTTPS가 반드시 필요 → Cloudflare Tunnel로 해결
실제 외부에서 접속해서 데모할 수 있는 환경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3. 방학 개발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날짜 순 주요 완료 내역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90472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10512" y="1417320"/>
            <a:ext cx="146304" cy="146304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325880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2026.06.28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325880"/>
            <a:ext cx="137160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29968" y="1389888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36245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DB 기반 메뉴·주문·결제 서버 API + AI 음성 주문을 DB에 연결하는 기능 완성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007107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10512" y="1933955"/>
            <a:ext cx="146304" cy="146304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842515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2026.07.13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1842515"/>
            <a:ext cx="1371600" cy="347472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29968" y="1906523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1879091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여러 사람이 동시에 주문할 때 음성 응답이 섞이는 심각한 버그 수정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523743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10512" y="2450591"/>
            <a:ext cx="146304" cy="146304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359151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2026.07.19~25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2359151"/>
            <a:ext cx="137160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9968" y="2423159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2395727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관리자 로그인·메뉴 등록·회원 조회 기능 서버 구현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040379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10512" y="2967227"/>
            <a:ext cx="146304" cy="146304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2875787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2026.07.24~31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875787"/>
            <a:ext cx="137160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29968" y="2939795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2912363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키오스크 화면 전체를 새 서버 API 기준으로 재연동 + 회원가입·결제 화면 추가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557015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10512" y="3483863"/>
            <a:ext cx="146304" cy="146304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392423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2026.07.28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3392423"/>
            <a:ext cx="1371600" cy="347472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9968" y="3456431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3008" y="3428999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외부에서 접속 가능한 배포 환경 구축 (HTTPS 적용으로 카메라 사용 가능)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073651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10512" y="4000499"/>
            <a:ext cx="146304" cy="14630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909059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2026.07.31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0" y="3909059"/>
            <a:ext cx="137160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29968" y="3973067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집중 개발 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93008" y="3945635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관리자 화면 전체 완성 (쿠폰·할인·메뉴·주문 관리 모든 화면)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590287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10512" y="4517135"/>
            <a:ext cx="146304" cy="146304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425695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2026.08.05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0" y="4425695"/>
            <a:ext cx="137160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9968" y="4489703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4462271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관리자 기능 고도화 + 키오스크에서 할인·쿠폰 적용 가능하도록 연결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5106923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10512" y="5033771"/>
            <a:ext cx="146304" cy="146304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4942331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2026.08.15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0" y="4942331"/>
            <a:ext cx="137160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9968" y="5006339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93008" y="4978907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모든 화면에 할인 금액 실시간 표시 + 주문 관리 경과 시간 기능 추가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5623559"/>
            <a:ext cx="11338560" cy="274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810512" y="5550407"/>
            <a:ext cx="146304" cy="14630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458967"/>
            <a:ext cx="1353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</a:rPr>
              <a:t>2026.08.28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0" y="5458967"/>
            <a:ext cx="137160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29968" y="5522975"/>
            <a:ext cx="13350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93008" y="5495543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흰 지팡이 감지 기능 + 자동 음성 안내 전체 구현 완료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3. 팀원별 개발 기여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방학 중 담당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834640" cy="56170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팀원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834640" cy="56170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1417320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담당 분야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371600"/>
            <a:ext cx="2834640" cy="56170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417320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방학 중 주요 기여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371600"/>
            <a:ext cx="2834640" cy="56170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1976" y="1417320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구체적 내용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933302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1969878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조예성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933302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2696" y="1969878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프론트엔드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933302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7336" y="1969878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키오스크 화면 재연동 + 관리자 화면 구현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1933302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1969878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서버 API 변경에 맞춰 모든 화면 재연결, 할인 금액 실시간 표시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495005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2531581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김성원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495005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82696" y="2531581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AI/백엔드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495005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7336" y="2531581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음성 주문 에이전트 + 흰 지팡이 감지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495005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1976" y="2531581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AI 주문 처리 도구 11개 구현, 흰 지팡이 감지 모델 적용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056708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" y="3093284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임지연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3056708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82696" y="3093284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백엔드 서버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3056708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17336" y="3093284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API 서버 구축 + 음성 인식 품질 개선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3056708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3093284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비동기 서버 파이프라인, 오인식 자동 수정, 언어 자동 감지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18411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3654987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서유민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3618411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654987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데이터베이스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618411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17336" y="3654987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DB 설계 확장 + 데이터 접근 레이어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3618411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51976" y="3654987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알레르기·할인·쿠폰 테이블 추가, 데이터 조회/저장 로직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180114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" y="4216690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김명서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4180114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82696" y="4216690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UI 디자인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4180114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17336" y="4216690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관리자 화면 디자인 설계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4180114"/>
            <a:ext cx="2834640" cy="56170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51976" y="4216690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관리자 각 기능별 화면 디자인 명세 작성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741817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6" y="4778393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진수민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4741817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82696" y="4778393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UX 기획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80760" y="4741817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17336" y="4778393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키오스크 사용 흐름 설계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15400" y="4741817"/>
            <a:ext cx="2834640" cy="56170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51976" y="4778393"/>
            <a:ext cx="2761488" cy="50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화면 전환 흐름, 사용자 시나리오 설계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5486400"/>
            <a:ext cx="11338560" cy="621792"/>
          </a:xfrm>
          <a:prstGeom prst="rect">
            <a:avLst/>
          </a:prstGeom>
          <a:solidFill>
            <a:srgbClr val="F4F6FA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532120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협업 방식:  GitHub 이슈 단위 업무 할당  →  feature 브랜치 개발  →  PR 코드 리뷰  →  main 머지
대화 로그는 backend/logs/ 에 JSONL로 자동 기록, 디버깅 및 분석에 활용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4. 전체 기능 구현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전체 진행률 약 85%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1874519" cy="3974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기능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5999" y="1371600"/>
            <a:ext cx="1874519" cy="3974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5" y="1417320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19" y="1371600"/>
            <a:ext cx="1874519" cy="3974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7095" y="1417320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테스트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39" y="1371600"/>
            <a:ext cx="1874519" cy="3974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5" y="1417320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비고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769012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1805588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음성 대화 주문 (STT+LLM+TTS)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5999" y="1769012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22575" y="1805588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19" y="1769012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7095" y="1805588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39" y="1769012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71615" y="1805588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LLM 시나리오 7개 자동화 통과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66424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2203000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비접촉 제스처 인식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5999" y="2166424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22575" y="2203000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19" y="2166424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97095" y="2203000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39" y="2166424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71615" y="2203000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정적·동적 MLP 분류, WebSocket 실시간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563836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" y="2600412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흰 지팡이 접근 자동 감지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5999" y="2563836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2575" y="2600412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0519" y="2563836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97095" y="2600412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부분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39" y="2563836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71615" y="2600412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실환경 역광·저조도 테스트 미완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961249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2997825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다국어 지원 (한/영/중/일)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5999" y="2961249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22575" y="2997825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19" y="2961249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97095" y="2997825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39" y="2961249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71615" y="2997825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발화 언어 자동 감지, 메뉴명 번역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358661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" y="3395237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12화면 키오스크 플로우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5999" y="3358661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22575" y="3395237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60519" y="3358661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97095" y="3395237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39" y="3358661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71615" y="3395237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시작→메뉴→장바구니→결제→완료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3756073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6" y="3792649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관리자 메뉴·주문·통계 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5999" y="3756073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22575" y="3792649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19" y="3756073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97095" y="3792649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부분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39" y="3756073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71615" y="3792649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기능 완성, UI 디자인 4건 미완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153486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056" y="4190062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할인·쿠폰 시스템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5999" y="4153486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22575" y="4190062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60519" y="4153486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97095" y="4190062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39" y="4153486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71615" y="4190062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DB 기반, 키오스크 화면 실시간 반영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550898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8056" y="4587474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QR·바코드 스캔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5999" y="4550898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22575" y="4587474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60519" y="4550898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97095" y="4587474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35039" y="4550898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71615" y="4587474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ZXing 라이브러리, 쿠폰 코드 인식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" y="4948310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8056" y="4984886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RAG 메뉴 검색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5999" y="4948310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22575" y="4984886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60519" y="4948310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97095" y="4984886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35039" y="4948310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071615" y="4984886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FAISS 인메모리, 메뉴 변경 시 캐시 무효화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5345723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8056" y="5382299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알레르기 선택 관리자 UI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5999" y="5345723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22575" y="5382299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60519" y="5345723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197095" y="5382299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35039" y="5345723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71615" y="5382299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이슈 #63, 9월 중 구현 예정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1480" y="5743135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8056" y="5779711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손가락 번호 UI 연동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85999" y="5743135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322575" y="5779711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❌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60519" y="5743135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197095" y="5779711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035039" y="5743135"/>
            <a:ext cx="1874519" cy="39741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071615" y="5779711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이슈 #64, 9월 중 구현 예정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" y="6140547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8056" y="6177123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할인 중복 적용 관리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285999" y="6140547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322575" y="6177123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160519" y="6140547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197095" y="6177123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❌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39" y="6140547"/>
            <a:ext cx="1874519" cy="3974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071615" y="6177123"/>
            <a:ext cx="1801367" cy="342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이슈 #62, 9월 말 구현 예정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818120" y="14447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전체 프로젝트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835640" y="1527048"/>
            <a:ext cx="10972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835640" y="1527048"/>
            <a:ext cx="932688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823192" y="14996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85%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818120" y="22677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기능 구현률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835640" y="2350008"/>
            <a:ext cx="10972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835640" y="2350008"/>
            <a:ext cx="877824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768328" y="232257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80%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818120" y="30906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AI 모델 완성도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835640" y="3172968"/>
            <a:ext cx="10972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835640" y="3172968"/>
            <a:ext cx="987552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878056" y="314553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90%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818120" y="39136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시스템 통합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835640" y="3995928"/>
            <a:ext cx="10972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835640" y="3995928"/>
            <a:ext cx="987552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878056" y="396849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90%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18120" y="47365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관리자 시스템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835640" y="4818888"/>
            <a:ext cx="10972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835640" y="4818888"/>
            <a:ext cx="932688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823192" y="47914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85%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4. 핵심 기능 ①  음성 대화 주문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STT → LLM → TTS 통합 파이프라인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53312"/>
            <a:ext cx="237744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508760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마이크 입력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353312"/>
            <a:ext cx="274320" cy="6400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2" y="15361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353312"/>
            <a:ext cx="8503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399032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음성 감지 라이브러리가 말하는 구간을 자동으로 잘라냄
배경 소음에서 의도치 않은 전송 방지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103120"/>
            <a:ext cx="237744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258568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음성 → 텍스트 변환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07792" y="2103120"/>
            <a:ext cx="274320" cy="6400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07792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2103120"/>
            <a:ext cx="8503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148840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OpenAI Whisper 음성 인식 API — 메뉴 이름 어휘 힌트 제공으로 정확도 향상
'간편결재' → '간편결제' 오인식 자동 수정 / 언어 자동 감지 (한·영·중·일)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852928"/>
            <a:ext cx="237744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008376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주문 처리 에이전트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07792" y="2852928"/>
            <a:ext cx="274320" cy="6400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7792" y="30358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852928"/>
            <a:ext cx="8503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289864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GPT-4o-mini 기반 에이전트가 발화 내용을 이해하고 적절한 행동 결정
이전 대화 내용을 기억해 자연스러운 대화 흐름 유지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602736"/>
            <a:ext cx="237744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758184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11가지 주문 도구 실행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07792" y="3602736"/>
            <a:ext cx="274320" cy="6400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2" y="37856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602736"/>
            <a:ext cx="8503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648456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장바구니 담기·삭제·수정, 메뉴 검색, 화면 이동, 포인트 조회 등
도구 실행과 동시에 화면이 먼저 반응 — 응답 텍스트보다 UI가 더 빠름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352544"/>
            <a:ext cx="237744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507992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응답 텍스트 실시간 전달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07792" y="4352544"/>
            <a:ext cx="274320" cy="6400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7792" y="45354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4352544"/>
            <a:ext cx="8503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4398264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서버에서 응답을 한 글자씩 스트리밍 방식으로 전송
사용자는 완성되기 전에 이미 내용을 볼 수 있어 자연스러운 대화감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102351"/>
            <a:ext cx="237744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257799"/>
            <a:ext cx="2267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음성 안내 재생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07792" y="5102351"/>
            <a:ext cx="274320" cy="6400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07792" y="528523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5102351"/>
            <a:ext cx="85039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5148071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OpenAI TTS로 응답 텍스트를 음성으로 변환 후 즉시 재생
흰 지팡이 안내음은 최초 1회 생성 후 캐시해 반복 재생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4. 핵심 기능 ②  비접촉 제스처 인식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MediaPipe Hands + scikit-learn 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동작 파이프라인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2560320" cy="73152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901952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웹캠 영상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1719072"/>
            <a:ext cx="256032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192024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719072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773936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@mediapipe/hands 브라우저 내 추론 (WASM)
손 관절 21개 포인트 (x,y,z 좌표) 추출 — GPU 가속 없이도 실시간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78608"/>
            <a:ext cx="2560320" cy="73152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761488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WebSocket /ws/gesture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578608"/>
            <a:ext cx="256032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277977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2578608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633472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JPEG 프레임 바이너리를 서버로 전송
서버 측에서 mediapipe 재추론 후 MLP에 입력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438144"/>
            <a:ext cx="2560320" cy="73152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362102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정적 MLP 분류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438144"/>
            <a:ext cx="256032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35808" y="36393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3438144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3493008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static_mlp.pkl  —  128→64→32 (ReLU, Adam)
StandardScaler 포함 Pipeline / 클래스: ok, none, pointing 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297680"/>
            <a:ext cx="2560320" cy="73152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480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동적 MLP 분류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4297680"/>
            <a:ext cx="256032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35808" y="44988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4297680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29000" y="4352544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dynamic_mlp.pkl  —  86차원 특징벡터
SEQ_LEN=20 프레임 / 손목 xy 궤적 + 속도(19x2) + 통계 8개
클래스: swipe_left, swipe_right, 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157216"/>
            <a:ext cx="2560320" cy="73152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5340096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화면 이벤트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5157216"/>
            <a:ext cx="256032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35808" y="535838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5157216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52120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분류 결과 → useGesture.js 훅 → React 이벤트 발송
스크롤·메뉴 선택·수량 조절 등 UI 제어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6035040"/>
            <a:ext cx="113385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1081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A4A"/>
                </a:solidFill>
              </a:rPr>
              <a:t>데이터 증강: 좌우 반전 / z축 회전 ±12° / y축 회전 ±8° / 가우시안 노이즈 σ=0.015  →  ok/none 클래스 x10배, 기본 x6배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4. 핵심 기능 ③  흰 지팡이 접근 자동 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YOLOv8 INT8 TFLite + WebSocket 상태 머신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15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상태 머신 흐름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2057400" cy="128016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64792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IDLE
(대기)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063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카메라 프레임
모니터링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7C0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719072"/>
            <a:ext cx="2057400" cy="12801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1764792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감지
(신뢰도≥0.5)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063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WHITE_CANE_CLASS_ID=1
conf ≥ 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7C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1719072"/>
            <a:ext cx="2057400" cy="128016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764792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VOICE_MODE
(활성)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3063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IDLE→전환
음성 안내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7C0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39" y="1719072"/>
            <a:ext cx="2057400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39" y="1764792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TTS 안내
(10초 간격)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39" y="3063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최대 3회
MP3 캐시 재생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39" y="21488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7C0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38360" y="1719072"/>
            <a:ext cx="2057400" cy="1280160"/>
          </a:xfrm>
          <a:prstGeom prst="rect">
            <a:avLst/>
          </a:prstGeom>
          <a:solidFill>
            <a:srgbClr val="556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1764792"/>
            <a:ext cx="2057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IDLE 복귀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06324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사용자 터치
또는 3회 완료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749039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7490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구현 상세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069080"/>
            <a:ext cx="21945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" y="4160520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모델 파일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4069080"/>
            <a:ext cx="9144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80" y="416052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best_int8.tflite  —  YOLOv8 INT8 양자화 (엣지 환경 최적화, 빠른 추론 속도)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471416"/>
            <a:ext cx="21945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4562856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비동기 처리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4471416"/>
            <a:ext cx="9144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4562856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asyncio.Lock으로 동시 추론 직렬화  /  asyncio.to_thread로 동기 추론 논블로킹 처리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873752"/>
            <a:ext cx="21945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" y="4965192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TTS 캐시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4873752"/>
            <a:ext cx="9144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97480" y="4965192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'햄버거 주문을 위한 키오스크 입니다.' — 첫 1회만 OpenAI TTS 생성 후 메모리 캐시 재사용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276088"/>
            <a:ext cx="21945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" y="5367528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WebSocket 메시지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06040" y="5276088"/>
            <a:ext cx="9144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5367528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서버→클라이언트: {white_cane_detected, confidence, voice_mode_on, play_tts, mode_ended}
클라이언트→서버: binary(JPEG) 또는 {type:'user_input'} (터치 신호)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5678424"/>
            <a:ext cx="21945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5769864"/>
            <a:ext cx="20848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ANNOUNCEMENT_INTERVAL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5678424"/>
            <a:ext cx="91440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97480" y="5769864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10.0초  /  MAX_ANNOUNCEMENTS: 3회  →  3회 후 자동 IDLE 복귀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5. AI 모델 구현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7종 모두 통합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188976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1240" y="1371600"/>
            <a:ext cx="188976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7816" y="1417320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모델·서비스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1000" y="1371600"/>
            <a:ext cx="188976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7576" y="1417320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종류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371600"/>
            <a:ext cx="188976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1417320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입력 → 출력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0520" y="1371600"/>
            <a:ext cx="188976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7096" y="1417320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파일/엔드포인트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60280" y="1371600"/>
            <a:ext cx="188976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6856" y="1417320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1943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1979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01240" y="1943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7816" y="1979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gpt-4o-mini-transcribe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91000" y="1943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7576" y="1979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STT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943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17336" y="1979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WebM 오디오 → 텍스트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70520" y="1943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7096" y="1979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POST /ai_modules/stt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60280" y="1943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96856" y="1979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514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" y="2551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01240" y="2514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37816" y="2551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GPT-4o-mini + LangChain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91000" y="2514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7576" y="2551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LLM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514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17336" y="2551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텍스트 → 툴 체인 → 텍스트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70520" y="2514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7096" y="2551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POST /llm/stream (SSE)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60280" y="2514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96856" y="2551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3086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" y="3122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01240" y="3086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37816" y="3122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OpenAI TTS (tts-1, alloy)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91000" y="3086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7576" y="3122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TTS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80760" y="3086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17336" y="3122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텍스트 → MP3 바이너리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70520" y="3086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7096" y="3122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POST /ai_modules/tts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60280" y="3086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96856" y="3122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3657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6" y="3694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01240" y="3657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37816" y="3694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FAISS + text-embedding-3-small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91000" y="3657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27576" y="3694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RAG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80760" y="3657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17336" y="3694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텍스트 → 유사 메뉴 Document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70520" y="3657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7096" y="3694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인메모리 인덱스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60280" y="3657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96856" y="3694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4229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6" y="4265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01240" y="4229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37816" y="4265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scikit-learn MLP (128→64→32)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91000" y="4229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27576" y="4265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정적 제스처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80760" y="4229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117336" y="4265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63차원 포인트 → 클래스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70520" y="4229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07096" y="4265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static_mlp.pkl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60280" y="4229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96856" y="4265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1480" y="4800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8056" y="4837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301240" y="4800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37816" y="4837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scikit-learn MLP (86차원)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91000" y="4800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27576" y="4837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동적 제스처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80760" y="4800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17336" y="4837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20프레임 시퀀스 → 클래스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970520" y="4800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07096" y="4837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dynamic_mlp.pkl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860280" y="4800600"/>
            <a:ext cx="188976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896856" y="48371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11480" y="5372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056" y="5408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301240" y="5372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337816" y="5408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YOLOv8 INT8 TFLite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91000" y="5372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27576" y="5408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객체 감지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80760" y="5372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17336" y="5408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JPEG 프레임 → bbox+conf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70520" y="5372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007096" y="5408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best_int8.tflite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60280" y="5372100"/>
            <a:ext cx="1889760" cy="57150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96856" y="5408676"/>
            <a:ext cx="1816608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1480" y="6080760"/>
            <a:ext cx="11338560" cy="457200"/>
          </a:xfrm>
          <a:prstGeom prst="rect">
            <a:avLst/>
          </a:prstGeom>
          <a:solidFill>
            <a:srgbClr val="F4F6FA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48640" y="615391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7A"/>
                </a:solidFill>
              </a:rPr>
              <a:t>선택 기준:  GPT-4o-mini → 비용·성능 균형 / MLP → 경량·실시간 / INT8 TFLite → 엣지 환경 추론 속도 / FAISS → 인메모리 고속 검색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5. LLM 에이전트 상세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11개 Tool + RAG + 메모리 + 다국어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17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에이전트 설정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228600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LLM 모델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719072"/>
            <a:ext cx="9052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1810512"/>
            <a:ext cx="8915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GPT-4o-mini  (temperature=0.2  /  환경변수 OPENAI_LLM_MODEL로 변경 가능)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194560"/>
            <a:ext cx="228600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286000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에이전트 타입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2194560"/>
            <a:ext cx="9052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286000"/>
            <a:ext cx="8915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create_tool_calling_agent + AgentExecutor  (max_iterations=8)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670048"/>
            <a:ext cx="228600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76148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대화 메모리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670048"/>
            <a:ext cx="9052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2761488"/>
            <a:ext cx="8915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ConversationSummaryBufferMemory  (max_token_limit=800, 세션별 인메모리 딕셔너리)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145536"/>
            <a:ext cx="228600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236976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RAG 구성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145536"/>
            <a:ext cx="9052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236976"/>
            <a:ext cx="8915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FAISS.from_documents() — 메뉴+옵션+알레르기+활성할인 자동 Document 생성
메뉴 변경 시 invalidate_cache() → 인덱스 재빌드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621024"/>
            <a:ext cx="2286000" cy="43891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712464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다국어 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3621024"/>
            <a:ext cx="90525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88920" y="3712464"/>
            <a:ext cx="8915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발화 언어 자동 감지(ko/ja/zh/en) → 언어별 SystemMessage 주입
일본어: 메뉴명을 강제 가타카나 번역 규칙 포함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5196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등록된 Tool 11개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617720"/>
            <a:ext cx="3200400" cy="25603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654296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list_menu / list_popular_menu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4654296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전체 메뉴 목록 조회 / 인기·추천 메뉴만 필터링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910328"/>
            <a:ext cx="3200400" cy="25603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946904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search_menu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946904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FAISS 벡터 유사도 검색 — '매운 것' 입력 시 관련 메뉴 반환 (RAG)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5202936"/>
            <a:ext cx="3200400" cy="25603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5239512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add_item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5239512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장바구니 추가 — 세트/단품 선택, 제외 재료, 특이사항 파라미터 포함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495544"/>
            <a:ext cx="3200400" cy="25603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5532120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remove_item / update_item_options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3320" y="5532120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장바구니 삭제 / 수량·옵션 수정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5788152"/>
            <a:ext cx="3200400" cy="25603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5824728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get_cart_status / clear_cart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5824728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현재 장바구니 조회 / 전체 비우기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6080760"/>
            <a:ext cx="3200400" cy="25603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6117336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check_user_points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03320" y="6117336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전화번호로 회원 포인트 조회 — 결제 전 포인트 사용 여부 확인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6373368"/>
            <a:ext cx="3200400" cy="25603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6409944"/>
            <a:ext cx="3090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navigate / ui_action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6409944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화면 이동 / UI 조작 (주문유형·결제수단·포인트 등 12가지 액션)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5. LLM 시나리오 자동화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7개 JSONL — 전체 통과 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267712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1371600"/>
            <a:ext cx="2267712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417320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시나리오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46904" y="1371600"/>
            <a:ext cx="2267712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417320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검증 항목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4616" y="1371600"/>
            <a:ext cx="2267712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1417320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통과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2328" y="1371600"/>
            <a:ext cx="2267712" cy="51435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18904" y="1417320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결과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18859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19225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9192" y="18859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19225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japanese_first_utterance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46904" y="18859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19225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일본어 첫 발화 시 일본어 응답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14616" y="18859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51192" y="19225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action_types 검사 + 출력 언어 순도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82328" y="18859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18904" y="19225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4003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" y="24368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02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9192" y="24003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15768" y="24368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order_type_guard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46904" y="24003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24368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매장/포장 유형 강제 질문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14616" y="24003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51192" y="24368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ui_action 포함 여부, 건너뜀 감지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82328" y="24003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18904" y="24368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29146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" y="29512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9192" y="29146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15768" y="29512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payment_method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46904" y="29146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29512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결제 수단 선택 로직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14616" y="29146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51192" y="29512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결제 방법 올바른 navigate 액션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82328" y="29146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8904" y="29512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4290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" y="34655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04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9192" y="34290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15768" y="34655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burger_set_or_single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46904" y="34290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83480" y="34655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세트/단품 선택 유도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214616" y="34290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51192" y="34655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단품 직접 담기 금지, 질문 포함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82328" y="34290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18904" y="34655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39433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" y="39799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05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79192" y="39433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15768" y="39799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set_fresh_options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46904" y="39433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83480" y="39799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세트 구성 옵션 새로 묻기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214616" y="39433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51192" y="39799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이전 세트 옵션 재사용 방지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82328" y="39433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18904" y="39799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44577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6" y="44942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06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79192" y="44577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15768" y="44942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japanese_language_purity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46904" y="44577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83480" y="44942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일본어 응답 내 한글 혼입 없음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14616" y="44577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51192" y="44942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한글 문자 비율 0% 검증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82328" y="4457700"/>
            <a:ext cx="2267712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18904" y="449427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49720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8056" y="50086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07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79192" y="49720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15768" y="50086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hallucination_cart_integrity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46904" y="49720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83480" y="50086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환각 방지 + 장바구니 무결성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214616" y="49720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51192" y="50086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없는 메뉴 담기 시도 차단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482328" y="4972050"/>
            <a:ext cx="2267712" cy="51435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18904" y="5008626"/>
            <a:ext cx="219456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5650992"/>
            <a:ext cx="11338560" cy="53035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5705856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시나리오 실행 방법: backend/tools/scenario_runner.py  —  JSONL 턴별 발화 자동 재생 후 action_types·언어·길이 검증
2학기 목표: 시나리오 7개 → 15개  (실사용 케이스 기반 추가)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5. AI 데이터 확보 및 전처리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제스처 데이터 직접 수집 + 증강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데이터 수집 방법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719072"/>
            <a:ext cx="210312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1810512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정적 제스처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1719072"/>
            <a:ext cx="9235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810512"/>
            <a:ext cx="9098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collect_static.py — MediaPipe로 손 관절 21포인트 직접 캡처
클래스별 폴더(data_static/)에 .npy 저장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231136"/>
            <a:ext cx="210312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2322576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동적 제스처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231136"/>
            <a:ext cx="9235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2322576"/>
            <a:ext cx="9098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collect_dynamic.py — SEQ_LEN=20 프레임 시퀀스 단위 캡처
data_dynamic/none, swipe_left, swipe_right 등 클래스 폴더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743200"/>
            <a:ext cx="210312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834640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흰 지팡이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743200"/>
            <a:ext cx="9235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834640"/>
            <a:ext cx="9098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공개 데이터셋 기반 YOLOv8 파인튜닝 후 INT8 양자화
best_int8.tflite 형태로 프로젝트에 포함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255264"/>
            <a:ext cx="2103120" cy="475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346704"/>
            <a:ext cx="19933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메뉴 RAG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3255264"/>
            <a:ext cx="9235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3346704"/>
            <a:ext cx="9098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DB 메뉴+옵션+알레르기 → LangChain Document 자동 생성
서버 시작 시 Lazy 빌드, 메뉴 변경 시 자동 재빌드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88620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886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데이터 증강 전략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206240"/>
            <a:ext cx="2377440" cy="5120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4297680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정적 제스처 증강
(train_static.py)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206240"/>
            <a:ext cx="8961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297680"/>
            <a:ext cx="8823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원본 80/20 분할 후 학습셋만 증강 (기본 x6배, ok/none x10배)
좌우 반전(Mirror) + z축 회전 ±12° + y축 회전 ±8° + 가우시안 노이즈 σ=0.015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4754880"/>
            <a:ext cx="2377440" cy="5120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" y="4846320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동적 제스처 증강
(train_dynamic.py)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4754880"/>
            <a:ext cx="8961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4846320"/>
            <a:ext cx="8823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x축 미러 (swipe_left ↔ swipe_right 레이블 교환)
가우시안 노이즈 + 시간 스트레칭 ×0.8 / ×1.2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303520"/>
            <a:ext cx="2377440" cy="51206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5394960"/>
            <a:ext cx="22677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증강 효과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88920" y="5303520"/>
            <a:ext cx="896112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5394960"/>
            <a:ext cx="8823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클래스 불균형 완화, 다양한 손 크기·각도에 대한 일반화
실제 사용 시 조명·배경 변화에 강인한 모델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6. 시스템 통합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프론트-백엔드-AI 전체 연동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834640" cy="47026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연동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834640" cy="47026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1417320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엔드포인트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371600"/>
            <a:ext cx="2834640" cy="47026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417320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용도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371600"/>
            <a:ext cx="2834640" cy="47026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1976" y="1417320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연동 상태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41862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1878438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REST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841862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2696" y="1878438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GET/POST /menu /cart /order /payment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841862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7336" y="1878438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메뉴·장바구니·주문·결제 CRUD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1841862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1878438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 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312125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2348701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REST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312125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82696" y="2348701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CRUD /admin/*  (JWT 필수)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312125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7336" y="2348701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관리자 메뉴·주문·쿠폰·할인·통계·회원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312125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1976" y="2348701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 완료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782388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" y="2818964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782388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82696" y="2818964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POST /ai_modules/llm/stream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2782388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17336" y="2818964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LLM 토큰 스트리밍 + 액션 이벤트 동시 전달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2782388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2818964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 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252651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3289227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WebSocket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3252651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289227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WS /ws/gesture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252651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17336" y="3289227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제스처 인식 실시간 스트리밍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3252651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51976" y="3289227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 완료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722914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" y="3759490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WebSocket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3722914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82696" y="3759490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WS /ws/approach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3722914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17336" y="3759490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흰 지팡이 감지 JPEG 스트리밍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3722914"/>
            <a:ext cx="2834640" cy="470262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51976" y="3759490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 완료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193177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6" y="4229753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REST API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4193177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82696" y="4229753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POST /ai_modules/stt /tts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80760" y="4193177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17336" y="4229753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STT 전사·TTS MP3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15400" y="4193177"/>
            <a:ext cx="2834640" cy="470262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51976" y="4229753"/>
            <a:ext cx="2761488" cy="415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 완료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773168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47731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음성 주문 전체 흐름 예시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5074920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→  "더블치즈버거 하나 세트로 주세요"  →  VAD 자동 감지  →  WebM Blob 생성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542239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→  STT 전사: "더블치즈버거 하나 세트로 주세요" (gpt-4o-mini-transcribe, 한국어 감지)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5769864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→  LangChain Agent  →  search_menu("더블치즈버거")  →  FAISS 유사도 검색 → 메뉴 확인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117336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→  add_item(menu_id, type="set") 툴 호출  →  DB 장바구니 추가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646480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→  SSE: "더블치즈버거 세트를 담았습니다. 사이드와 음료를 선택해주세요."  →  TTS 재생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7. 프로젝트 진행률 종합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계획 대비 현재 수준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21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4173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전체 프로젝트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99616"/>
            <a:ext cx="47548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99616"/>
            <a:ext cx="4041648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147218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핵심 기능 완성, 세부 기능 보완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0756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기능 구현률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157984"/>
            <a:ext cx="47548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2157984"/>
            <a:ext cx="3803904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8" y="21305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1214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18개 기능 중 14개 완료 (Open 이슈 12개)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7340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AI 모델 완성도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2816352"/>
            <a:ext cx="47548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29000" y="2816352"/>
            <a:ext cx="4279392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63256" y="278892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7797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7종 모두 통합, 성능 정량 측정 미완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39242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시스템 통합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3474720"/>
            <a:ext cx="47548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474720"/>
            <a:ext cx="4279392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63256" y="344728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43814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주요 연동 완료, API 불일치 일부 잔존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0507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3A4A"/>
                </a:solidFill>
              </a:rPr>
              <a:t>관리자 시스템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4133088"/>
            <a:ext cx="4754880" cy="20116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9000" y="4133088"/>
            <a:ext cx="4041648" cy="2011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25512" y="410565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C8"/>
                </a:solidFill>
              </a:rPr>
              <a:t>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0965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기능 완성, UI 디자인 4건 미완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754880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앞선 부분 vs 지연된 부분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074920"/>
            <a:ext cx="54864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1023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계획보다 앞선 부분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5074920"/>
            <a:ext cx="5577840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51023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계획보다 지연된 부분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4864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✅  흰 지팡이 감지 기능 신규 추가 (초기 미계획)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8247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✅  LLM 시나리오 자동화 테스트 7개 체계 구축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1630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✅  Cloudflare Tunnel 외부 데모 환경 구축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4864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⚠  관리자 UI 디자인 4건 (백엔드 완성 후 착수 지연)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8247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⚠  회원 바코드·멤버십 기능 미구현 (우선순위 조정)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616305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⚠  AI 모델 정량 성능 수치 미측정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7. 잔여 이슈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Open Issues 12개  —  우선순위별 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22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3779520" cy="52303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우선순위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1000" y="1371600"/>
            <a:ext cx="3779520" cy="52303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7576" y="141732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미완성 기능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0520" y="1371600"/>
            <a:ext cx="3779520" cy="52303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7096" y="141732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현재 상태 / 해결 방향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894636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1931212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🔴 높음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0" y="1894636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7576" y="1931212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알레르기 선택 관리자 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0520" y="1894636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7096" y="1931212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알레르기 DB는 완성, 관리자 화면 컴포넌트 미구현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417673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2454249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🔴 높음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1000" y="2417673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7576" y="2454249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손가락 번호 UI 연동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0520" y="2417673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7096" y="2454249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제스처 분류기 완성, 화면에 숫자 표시하는 이벤트 미연동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940710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" y="2977286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🔴 높음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1000" y="2940710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7576" y="2977286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관리자 UI 디자인 4건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0520" y="2940710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07096" y="2977286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백엔드 API 완성, 디자인 명세 작성 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463747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" y="3500323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🟡 중간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91000" y="3463747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7576" y="3500323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할인 중복 적용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0520" y="3463747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7096" y="3500323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할인 개별 기능 완성, 중복 규칙 로직 미구현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986784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" y="402336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🟡 중간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91000" y="3986784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27576" y="402336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회원가입 페이지 별도 경로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70520" y="3986784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7096" y="402336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기초 구현 완료, 완전 분리 미완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509820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8056" y="4546396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🟡 중간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91000" y="4509820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7576" y="4546396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회원 멤버십 바코드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70520" y="4509820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7096" y="4546396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바코드 컬럼 DB 추가 및 화면 연동 필요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5032857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" y="5069433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🟢 낮음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91000" y="5032857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7576" y="5069433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화면 설명 기능 (AI)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70520" y="5032857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07096" y="5069433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음성 안내 툴 확장으로 구현 가능, 우선순위 후순위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5555894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6" y="559247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🟢 낮음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91000" y="5555894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7576" y="559247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음성 인식 첫 응답 개선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70520" y="5555894"/>
            <a:ext cx="3779520" cy="523036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07096" y="5592470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첫 발화 지연 원인 분석 중 (서버 예열 방식 검토)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6078931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" y="6115507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🟢 낮음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91000" y="6078931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27576" y="6115507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식사 유형 자동 선택 버그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70520" y="6078931"/>
            <a:ext cx="3779520" cy="523036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7096" y="6115507"/>
            <a:ext cx="3706368" cy="468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간헐적 발생, 재현 조건 불명확 — 로그 분석 필요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8. 2학기 개발 및 완성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월별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23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834640" cy="50292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9월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3852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938528"/>
            <a:ext cx="54864" cy="62179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알레르기 선택 관리자 UI 구현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5176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651760"/>
            <a:ext cx="54864" cy="62179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7706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손가락 번호 제스처 화면 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36499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364992"/>
            <a:ext cx="54864" cy="62179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4838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관리자 UI 디자인 미완 4건 완성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78224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078224"/>
            <a:ext cx="54864" cy="62179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419709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프론트-백엔드 API 불일치 전수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1371600"/>
            <a:ext cx="283464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55848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10월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55848" y="193852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5848" y="1938528"/>
            <a:ext cx="54864" cy="6217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65576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할인 중복 적용 규칙 구현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265176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5848" y="2651760"/>
            <a:ext cx="54864" cy="6217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65576" y="27706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회원가입 페이지·멤버십 바코드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55848" y="336499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55848" y="3364992"/>
            <a:ext cx="54864" cy="6217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65576" y="34838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실사용자 사용성 테스트 1회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5848" y="4078224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55848" y="4078224"/>
            <a:ext cx="54864" cy="6217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65576" y="419709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AI 주문 시나리오 7→15개 확대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0216" y="1371600"/>
            <a:ext cx="283464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216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11월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216" y="193852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0216" y="1938528"/>
            <a:ext cx="54864" cy="6217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9944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사용자 테스트 결과 분석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0216" y="265176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0216" y="2651760"/>
            <a:ext cx="54864" cy="6217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9944" y="27706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AI 모델 정량 성능 측정 파이프라인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0216" y="336499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0216" y="3364992"/>
            <a:ext cx="54864" cy="6217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9944" y="34838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STT WER / 제스처 F1-score 측정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0216" y="4078224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0216" y="4078224"/>
            <a:ext cx="54864" cy="62179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419709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전체 시스템 E2E 안정화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44584" y="1371600"/>
            <a:ext cx="283464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44584" y="1417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12월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44584" y="1938528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44584" y="1938528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54312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최종 발표 준비 / 시연 영상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44584" y="2651760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44584" y="2651760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54312" y="277063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Cloudflare Tunnel 공개 데모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44584" y="3364992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44584" y="3364992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54312" y="34838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최종 보고서 완성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44584" y="4078224"/>
            <a:ext cx="2834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44584" y="4078224"/>
            <a:ext cx="54864" cy="6217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54312" y="419709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논문 초안 → 수정 → 제출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4956048"/>
            <a:ext cx="11338560" cy="566928"/>
          </a:xfrm>
          <a:prstGeom prst="rect">
            <a:avLst/>
          </a:prstGeom>
          <a:solidFill>
            <a:srgbClr val="F4F6FA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02920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D3A4A"/>
                </a:solidFill>
              </a:rPr>
              <a:t>AI 개선:  LLM 시나리오 확대 / STT 소음 환경 전처리 / 제스처 추가 데이터 재학습 / 흰 지팡이 역광·저조도 성능 검증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8. 중간발표 / 최종발표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마일스톤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623560" cy="502920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중간발표 목표  (2026.10 예정)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965960"/>
            <a:ext cx="914400" cy="6583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305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구현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965960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" y="2057400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알레르기 UI·관리자 디자인 등 우선순위 높은 미완 기능 완료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15768"/>
            <a:ext cx="914400" cy="6583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880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성능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2715768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35608" y="2807208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제스처 F1-score 90%+, AI 주문 시나리오 15개 통과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65576"/>
            <a:ext cx="914400" cy="6583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6301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테스트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3465576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35608" y="3557016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실사용자(고령자·시각장애인) 사용성 테스트 1회 수행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215384"/>
            <a:ext cx="914400" cy="658368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3799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산출물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4215384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35608" y="4306824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관리자 UI 디자인 완성, 사용자 테스트 결과 보고서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371600"/>
            <a:ext cx="56235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41732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최종발표 목표  (2026.12 예정)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965960"/>
            <a:ext cx="91440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1305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구현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80" y="1965960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2057400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모든 Open 이슈 해결 + 전체 기능 안정화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715768"/>
            <a:ext cx="91440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8803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평가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2715768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33488" y="2807208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고령자·시각장애인 SUS 사용성 평가 점수 확보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465576"/>
            <a:ext cx="91440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6301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성능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3465576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3557016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STT WER / 제스처 F1 / LLM 시나리오 통과율 정량 측정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215384"/>
            <a:ext cx="91440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37997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시연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4215384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33488" y="4306824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Cloudflare Tunnel 공개 데모 + 시연 영상 제작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965192"/>
            <a:ext cx="914400" cy="65836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12978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논문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4965192"/>
            <a:ext cx="46634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33488" y="5056632"/>
            <a:ext cx="4498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논문 초안 작성 완료 및 수정 제출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9. 논문 작성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연구 주제·방법·평가 지표·일정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25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11338560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081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논문 가제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66420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FFFFF"/>
                </a:solidFill>
              </a:rPr>
              <a:t>"LLM 기반 음성·제스처 인식을 활용한 디지털 약자 지원 배리어프리 키오스크 시스템 설계 및 구현"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67712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267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핵심 연구문제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06040"/>
            <a:ext cx="594360" cy="420624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69748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679192"/>
            <a:ext cx="10652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LLM 에이전트(GPT-4o-mini+LangChain)는 복잡한 주문 시나리오에서 어느 수준의 정확도를 달성하는가?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108960"/>
            <a:ext cx="594360" cy="420624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20040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182112"/>
            <a:ext cx="10652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MediaPipe+MLP 제스처 인식은 실시간 키오스크 UI 제어에 실용적으로 적용 가능한가?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611880"/>
            <a:ext cx="594360" cy="420624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685032"/>
            <a:ext cx="10652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4A"/>
                </a:solidFill>
              </a:rPr>
              <a:t>YOLOv8 TFLite 흰 지팡이 감지+음성 안내가 시각장애인 키오스크 접근성을 실제로 향상시키는가?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950208"/>
            <a:ext cx="91440" cy="365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950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</a:rPr>
              <a:t>평가 지표 &amp; 논문 일정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97680"/>
            <a:ext cx="178308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3251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663440"/>
            <a:ext cx="1783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908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WER (Word Error Rate)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4297680"/>
            <a:ext cx="178308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43251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제스처 MLP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4663440"/>
            <a:ext cx="1783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6908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F1-score / Confusion Matrix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4297680"/>
            <a:ext cx="178308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60" y="43251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흰 지팡이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4663440"/>
            <a:ext cx="1783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6908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Precision·Recall @ IoU 0.5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4297680"/>
            <a:ext cx="178308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43251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4663440"/>
            <a:ext cx="1783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6908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시나리오 통과율 (%)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4297680"/>
            <a:ext cx="178308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43251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사용성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4663440"/>
            <a:ext cx="1783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46908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SUS 점수 0~100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4297680"/>
            <a:ext cx="1783080" cy="347472"/>
          </a:xfrm>
          <a:prstGeom prst="rect">
            <a:avLst/>
          </a:prstGeom>
          <a:solidFill>
            <a:srgbClr val="27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2680" y="432511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응답 속도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4663440"/>
            <a:ext cx="178308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58400" y="46908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STT+LLM+TTS 전체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5212080"/>
            <a:ext cx="26517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" y="5239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9~10월  관련 연구 조사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5212080"/>
            <a:ext cx="26517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19272" y="5239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10~11월  실험 수행·결과 분석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5212080"/>
            <a:ext cx="26517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53912" y="5239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11월  논문 초안 작성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5212080"/>
            <a:ext cx="265176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88552" y="5239512"/>
            <a:ext cx="2514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12월  수정 및 최종 제출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2920" y="0"/>
            <a:ext cx="256032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(참고) 관리자 시스템 기능 상세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</a:rPr>
              <a:t>JWT 인증 기반 통합 운영 대시보드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836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팀 F5  |  동양미래대학교 인공지능소프트웨어학과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836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2834640" cy="57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1417320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기능 영역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71600"/>
            <a:ext cx="2834640" cy="57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2696" y="1417320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주요 기능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371600"/>
            <a:ext cx="2834640" cy="57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417320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담당 API 경로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371600"/>
            <a:ext cx="2834640" cy="579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1976" y="1417320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구현 상태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95072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198729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인증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95072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2696" y="198729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관리자 로그인·JWT 토큰 발급·갱신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95072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17336" y="198729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POST /admin/auth/login  /refresh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195072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1976" y="198729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52984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256641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메뉴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52984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82696" y="256641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메뉴·카테고리·옵션 추가·수정·삭제
이미지 업로드, 품절/숨김 토글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252984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7336" y="256641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CRUD /admin/menu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52984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51976" y="256641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0896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" y="314553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주문 관리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310896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82696" y="314553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주문 목록·상태 변경·경과 시간
매장/포장 필터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310896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17336" y="314553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GET/PATCH /admin/orders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310896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1976" y="314553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368808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372465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회원 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46120" y="368808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72465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회원 목록·포인트·가입일 조회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68808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17336" y="372465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GET /admin/users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15400" y="368808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51976" y="372465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426720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" y="430377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쿠폰 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6120" y="426720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82696" y="430377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쿠폰 발급·조건 설정·소진 자동 비활성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426720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17336" y="430377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CRUD /admin/coupons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15400" y="426720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51976" y="430377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484632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6" y="488289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할인 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484632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82696" y="488289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메뉴/카테고리 대상 할인 설정
할인 중복 적용 규칙 (개발 중)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80760" y="484632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17336" y="488289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CRUD /admin/discounts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15400" y="484632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51976" y="488289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부분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542544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056" y="546201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결제 내역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46120" y="542544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82696" y="546201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결제 내역 조회·환불 처리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42544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17336" y="546201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GET /admin/payments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15400" y="5425440"/>
            <a:ext cx="2834640" cy="579120"/>
          </a:xfrm>
          <a:prstGeom prst="rect">
            <a:avLst/>
          </a:prstGeom>
          <a:solidFill>
            <a:srgbClr val="E8EFF8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51976" y="546201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600456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8056" y="604113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통계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46120" y="600456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82696" y="604113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매출 대시보드·인기 메뉴·일별 통계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80760" y="600456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17336" y="604113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GET /admin/stats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15400" y="6004560"/>
            <a:ext cx="2834640" cy="57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51976" y="6041136"/>
            <a:ext cx="2761488" cy="52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4A"/>
                </a:solidFill>
              </a:rPr>
              <a:t>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788920"/>
            <a:ext cx="11777472" cy="640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077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4DE"/>
                </a:solidFill>
              </a:rPr>
              <a:t>"터치를 넘어, 음성과 제스처로 누구나 쉽게 주문할 수 있는 키오스크"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703320"/>
            <a:ext cx="2057400" cy="164592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FD0"/>
                </a:solidFill>
              </a:rPr>
              <a:t>전체 진행률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2452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약 85%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088" y="3703320"/>
            <a:ext cx="2057400" cy="164592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37947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FD0"/>
                </a:solidFill>
              </a:rPr>
              <a:t>완료 핵심 기능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422452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음성·제스처·흰 지팡이·다국어·관리자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02936" y="3703320"/>
            <a:ext cx="2057400" cy="164592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4376" y="37947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FD0"/>
                </a:solidFill>
              </a:rPr>
              <a:t>방학 성과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422452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 15개 MERGED / 관리자 시스템 0→완성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15784" y="3703320"/>
            <a:ext cx="2057400" cy="164592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37947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FD0"/>
                </a:solidFill>
              </a:rPr>
              <a:t>잔여 과제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422452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Open 이슈 12개 / 사용자 테스트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8632" y="3703320"/>
            <a:ext cx="2057400" cy="1645920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379476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FD0"/>
                </a:solidFill>
              </a:rPr>
              <a:t>2학기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4224528"/>
            <a:ext cx="187451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안정화·논문·최종 발표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ABC"/>
                </a:solidFill>
              </a:rPr>
              <a:t>GitHub: github.com/Capstone-F5  |  Team F5  |  동양미래대학교 인공지능소프트웨어학과  |  2026.09.01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